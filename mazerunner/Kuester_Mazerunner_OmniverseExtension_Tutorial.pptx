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7"/>
  </p:notesMasterIdLst>
  <p:sldIdLst>
    <p:sldId id="257" r:id="rId5"/>
    <p:sldId id="256" r:id="rId6"/>
    <p:sldId id="414" r:id="rId7"/>
    <p:sldId id="363" r:id="rId8"/>
    <p:sldId id="365" r:id="rId9"/>
    <p:sldId id="367" r:id="rId10"/>
    <p:sldId id="366" r:id="rId11"/>
    <p:sldId id="337" r:id="rId12"/>
    <p:sldId id="338" r:id="rId13"/>
    <p:sldId id="440" r:id="rId14"/>
    <p:sldId id="352" r:id="rId15"/>
    <p:sldId id="340" r:id="rId16"/>
    <p:sldId id="339" r:id="rId17"/>
    <p:sldId id="344" r:id="rId18"/>
    <p:sldId id="343" r:id="rId19"/>
    <p:sldId id="346" r:id="rId20"/>
    <p:sldId id="345" r:id="rId21"/>
    <p:sldId id="347" r:id="rId22"/>
    <p:sldId id="348" r:id="rId23"/>
    <p:sldId id="408" r:id="rId24"/>
    <p:sldId id="409" r:id="rId25"/>
    <p:sldId id="410" r:id="rId26"/>
    <p:sldId id="418" r:id="rId27"/>
    <p:sldId id="422" r:id="rId28"/>
    <p:sldId id="423" r:id="rId29"/>
    <p:sldId id="424" r:id="rId30"/>
    <p:sldId id="425" r:id="rId31"/>
    <p:sldId id="426" r:id="rId32"/>
    <p:sldId id="427" r:id="rId33"/>
    <p:sldId id="428" r:id="rId34"/>
    <p:sldId id="429" r:id="rId35"/>
    <p:sldId id="430" r:id="rId36"/>
    <p:sldId id="431" r:id="rId37"/>
    <p:sldId id="356" r:id="rId38"/>
    <p:sldId id="419" r:id="rId39"/>
    <p:sldId id="442" r:id="rId40"/>
    <p:sldId id="415" r:id="rId41"/>
    <p:sldId id="416" r:id="rId42"/>
    <p:sldId id="443" r:id="rId43"/>
    <p:sldId id="411" r:id="rId44"/>
    <p:sldId id="358" r:id="rId45"/>
    <p:sldId id="359" r:id="rId46"/>
    <p:sldId id="361" r:id="rId47"/>
    <p:sldId id="360" r:id="rId48"/>
    <p:sldId id="354" r:id="rId49"/>
    <p:sldId id="349" r:id="rId50"/>
    <p:sldId id="350" r:id="rId51"/>
    <p:sldId id="351" r:id="rId52"/>
    <p:sldId id="421" r:id="rId53"/>
    <p:sldId id="353" r:id="rId54"/>
    <p:sldId id="326" r:id="rId55"/>
    <p:sldId id="332" r:id="rId56"/>
  </p:sldIdLst>
  <p:sldSz cx="10693400" cy="7562850"/>
  <p:notesSz cx="9144000" cy="6858000"/>
  <p:custDataLst>
    <p:tags r:id="rId58"/>
  </p:custDataLst>
  <p:defaultTextStyle>
    <a:defPPr>
      <a:defRPr lang="de-DE"/>
    </a:defPPr>
    <a:lvl1pPr algn="ctr" rtl="0" fontAlgn="base">
      <a:spcBef>
        <a:spcPct val="0"/>
      </a:spcBef>
      <a:spcAft>
        <a:spcPct val="0"/>
      </a:spcAft>
      <a:defRPr sz="1400" kern="1200">
        <a:solidFill>
          <a:schemeClr val="bg1"/>
        </a:solidFill>
        <a:latin typeface="Arial" charset="0"/>
        <a:ea typeface="+mn-ea"/>
        <a:cs typeface="+mn-cs"/>
      </a:defRPr>
    </a:lvl1pPr>
    <a:lvl2pPr marL="457200" algn="ctr" rtl="0" fontAlgn="base">
      <a:spcBef>
        <a:spcPct val="0"/>
      </a:spcBef>
      <a:spcAft>
        <a:spcPct val="0"/>
      </a:spcAft>
      <a:defRPr sz="1400" kern="1200">
        <a:solidFill>
          <a:schemeClr val="bg1"/>
        </a:solidFill>
        <a:latin typeface="Arial" charset="0"/>
        <a:ea typeface="+mn-ea"/>
        <a:cs typeface="+mn-cs"/>
      </a:defRPr>
    </a:lvl2pPr>
    <a:lvl3pPr marL="914400" algn="ctr" rtl="0" fontAlgn="base">
      <a:spcBef>
        <a:spcPct val="0"/>
      </a:spcBef>
      <a:spcAft>
        <a:spcPct val="0"/>
      </a:spcAft>
      <a:defRPr sz="1400" kern="1200">
        <a:solidFill>
          <a:schemeClr val="bg1"/>
        </a:solidFill>
        <a:latin typeface="Arial" charset="0"/>
        <a:ea typeface="+mn-ea"/>
        <a:cs typeface="+mn-cs"/>
      </a:defRPr>
    </a:lvl3pPr>
    <a:lvl4pPr marL="1371600" algn="ctr" rtl="0" fontAlgn="base">
      <a:spcBef>
        <a:spcPct val="0"/>
      </a:spcBef>
      <a:spcAft>
        <a:spcPct val="0"/>
      </a:spcAft>
      <a:defRPr sz="1400" kern="1200">
        <a:solidFill>
          <a:schemeClr val="bg1"/>
        </a:solidFill>
        <a:latin typeface="Arial" charset="0"/>
        <a:ea typeface="+mn-ea"/>
        <a:cs typeface="+mn-cs"/>
      </a:defRPr>
    </a:lvl4pPr>
    <a:lvl5pPr marL="1828800" algn="ctr" rtl="0" fontAlgn="base">
      <a:spcBef>
        <a:spcPct val="0"/>
      </a:spcBef>
      <a:spcAft>
        <a:spcPct val="0"/>
      </a:spcAft>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extLst>
    <p:ext uri="{521415D9-36F7-43E2-AB2F-B90AF26B5E84}">
      <p14:sectionLst xmlns:p14="http://schemas.microsoft.com/office/powerpoint/2010/main">
        <p14:section name="Einleitung" id="{37E490E1-BA03-4000-957B-0C5A5C5CF0F5}">
          <p14:sldIdLst>
            <p14:sldId id="257"/>
            <p14:sldId id="256"/>
            <p14:sldId id="414"/>
          </p14:sldIdLst>
        </p14:section>
        <p14:section name="Anwendungsfälle und Strukturdiagramme" id="{4F7E0030-424F-4474-B123-3E25DB659C70}">
          <p14:sldIdLst>
            <p14:sldId id="363"/>
            <p14:sldId id="365"/>
            <p14:sldId id="367"/>
            <p14:sldId id="366"/>
          </p14:sldIdLst>
        </p14:section>
        <p14:section name="Installation" id="{098C91A0-3C25-46CD-B922-8E85417AC834}">
          <p14:sldIdLst>
            <p14:sldId id="337"/>
            <p14:sldId id="338"/>
            <p14:sldId id="440"/>
            <p14:sldId id="352"/>
          </p14:sldIdLst>
        </p14:section>
        <p14:section name="Erste Schritte in Isaac Sim" id="{DE5A5314-93E1-4847-9C23-7B6A03900228}">
          <p14:sldIdLst>
            <p14:sldId id="340"/>
            <p14:sldId id="339"/>
            <p14:sldId id="344"/>
            <p14:sldId id="343"/>
            <p14:sldId id="346"/>
            <p14:sldId id="345"/>
          </p14:sldIdLst>
        </p14:section>
        <p14:section name="Gelenke" id="{9E487201-62A9-4E03-86CE-7657CE7D8081}">
          <p14:sldIdLst>
            <p14:sldId id="347"/>
            <p14:sldId id="348"/>
            <p14:sldId id="408"/>
            <p14:sldId id="409"/>
            <p14:sldId id="410"/>
          </p14:sldIdLst>
        </p14:section>
        <p14:section name="Isaac Sim Extension" id="{38FF8E09-FE2F-464D-8601-34ECC5BE9AF9}">
          <p14:sldIdLst>
            <p14:sldId id="418"/>
            <p14:sldId id="422"/>
            <p14:sldId id="423"/>
            <p14:sldId id="424"/>
            <p14:sldId id="425"/>
            <p14:sldId id="426"/>
            <p14:sldId id="427"/>
            <p14:sldId id="428"/>
            <p14:sldId id="429"/>
            <p14:sldId id="430"/>
            <p14:sldId id="431"/>
            <p14:sldId id="356"/>
            <p14:sldId id="419"/>
          </p14:sldIdLst>
        </p14:section>
        <p14:section name="NVIDIA Isaac Sim Extension" id="{25A8A729-C6C2-4C5E-8B4E-650744B22DA0}">
          <p14:sldIdLst>
            <p14:sldId id="442"/>
            <p14:sldId id="415"/>
            <p14:sldId id="416"/>
            <p14:sldId id="443"/>
            <p14:sldId id="411"/>
          </p14:sldIdLst>
        </p14:section>
        <p14:section name="Mock Server für SPS Simulation" id="{002910FF-230F-4B2F-BDFF-97A958272387}">
          <p14:sldIdLst>
            <p14:sldId id="358"/>
            <p14:sldId id="359"/>
            <p14:sldId id="361"/>
            <p14:sldId id="360"/>
          </p14:sldIdLst>
        </p14:section>
        <p14:section name="TIA Portal" id="{3A75DD48-8D3F-4E92-9DC1-63CC2ED385FA}">
          <p14:sldIdLst>
            <p14:sldId id="354"/>
            <p14:sldId id="349"/>
            <p14:sldId id="350"/>
            <p14:sldId id="351"/>
            <p14:sldId id="421"/>
            <p14:sldId id="353"/>
          </p14:sldIdLst>
        </p14:section>
        <p14:section name="Schluss" id="{1BA8F8C8-DD6F-4934-85E6-6AF6280372E0}">
          <p14:sldIdLst>
            <p14:sldId id="326"/>
            <p14:sldId id="332"/>
          </p14:sldIdLst>
        </p14:section>
      </p14:sectionLst>
    </p:ext>
    <p:ext uri="{EFAFB233-063F-42B5-8137-9DF3F51BA10A}">
      <p15:sldGuideLst xmlns:p15="http://schemas.microsoft.com/office/powerpoint/2012/main">
        <p15:guide id="1" orient="horz" pos="2382">
          <p15:clr>
            <a:srgbClr val="A4A3A4"/>
          </p15:clr>
        </p15:guide>
        <p15:guide id="2" orient="horz" pos="4423">
          <p15:clr>
            <a:srgbClr val="A4A3A4"/>
          </p15:clr>
        </p15:guide>
        <p15:guide id="3" orient="horz" pos="3380">
          <p15:clr>
            <a:srgbClr val="A4A3A4"/>
          </p15:clr>
        </p15:guide>
        <p15:guide id="4" orient="horz" pos="1339">
          <p15:clr>
            <a:srgbClr val="A4A3A4"/>
          </p15:clr>
        </p15:guide>
        <p15:guide id="5" orient="horz" pos="432">
          <p15:clr>
            <a:srgbClr val="A4A3A4"/>
          </p15:clr>
        </p15:guide>
        <p15:guide id="6" orient="horz" pos="4196">
          <p15:clr>
            <a:srgbClr val="A4A3A4"/>
          </p15:clr>
        </p15:guide>
        <p15:guide id="7" pos="3368">
          <p15:clr>
            <a:srgbClr val="A4A3A4"/>
          </p15:clr>
        </p15:guide>
        <p15:guide id="8" pos="1236">
          <p15:clr>
            <a:srgbClr val="A4A3A4"/>
          </p15:clr>
        </p15:guide>
        <p15:guide id="9" pos="329">
          <p15:clr>
            <a:srgbClr val="A4A3A4"/>
          </p15:clr>
        </p15:guide>
        <p15:guide id="10" pos="4865">
          <p15:clr>
            <a:srgbClr val="A4A3A4"/>
          </p15:clr>
        </p15:guide>
        <p15:guide id="11" pos="6407">
          <p15:clr>
            <a:srgbClr val="A4A3A4"/>
          </p15:clr>
        </p15:guide>
        <p15:guide id="12" pos="7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3C05"/>
    <a:srgbClr val="D23C96"/>
    <a:srgbClr val="96BE00"/>
    <a:srgbClr val="46B48C"/>
    <a:srgbClr val="1EBEEB"/>
    <a:srgbClr val="FFD200"/>
    <a:srgbClr val="FFA500"/>
    <a:srgbClr val="FFC864"/>
    <a:srgbClr val="FFDC96"/>
    <a:srgbClr val="FFF0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070" autoAdjust="0"/>
    <p:restoredTop sz="94660"/>
  </p:normalViewPr>
  <p:slideViewPr>
    <p:cSldViewPr snapToGrid="0">
      <p:cViewPr varScale="1">
        <p:scale>
          <a:sx n="75" d="100"/>
          <a:sy n="75" d="100"/>
        </p:scale>
        <p:origin x="634" y="53"/>
      </p:cViewPr>
      <p:guideLst>
        <p:guide orient="horz" pos="2382"/>
        <p:guide orient="horz" pos="4423"/>
        <p:guide orient="horz" pos="3380"/>
        <p:guide orient="horz" pos="1339"/>
        <p:guide orient="horz" pos="432"/>
        <p:guide orient="horz" pos="4196"/>
        <p:guide pos="3368"/>
        <p:guide pos="1236"/>
        <p:guide pos="329"/>
        <p:guide pos="4865"/>
        <p:guide pos="6407"/>
        <p:guide pos="73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gs" Target="tags/tag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de-DE"/>
          </a:p>
        </p:txBody>
      </p:sp>
      <p:sp>
        <p:nvSpPr>
          <p:cNvPr id="35843" name="Rectangle 3"/>
          <p:cNvSpPr>
            <a:spLocks noGrp="1" noChangeArrowheads="1"/>
          </p:cNvSpPr>
          <p:nvPr>
            <p:ph type="dt" idx="1"/>
          </p:nvPr>
        </p:nvSpPr>
        <p:spPr bwMode="auto">
          <a:xfrm>
            <a:off x="5181600" y="0"/>
            <a:ext cx="3962400" cy="342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de-DE"/>
          </a:p>
        </p:txBody>
      </p:sp>
      <p:sp>
        <p:nvSpPr>
          <p:cNvPr id="35844" name="Rectangle 4"/>
          <p:cNvSpPr>
            <a:spLocks noGrp="1" noRot="1" noChangeAspect="1" noChangeArrowheads="1" noTextEdit="1"/>
          </p:cNvSpPr>
          <p:nvPr>
            <p:ph type="sldImg" idx="2"/>
          </p:nvPr>
        </p:nvSpPr>
        <p:spPr bwMode="auto">
          <a:xfrm>
            <a:off x="2754313" y="514350"/>
            <a:ext cx="3635375" cy="2571750"/>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txBody>
          <a:bodyPr/>
          <a:lstStyle/>
          <a:p>
            <a:endParaRPr lang="de-DE"/>
          </a:p>
        </p:txBody>
      </p:sp>
      <p:sp>
        <p:nvSpPr>
          <p:cNvPr id="35845" name="Rectangle 5"/>
          <p:cNvSpPr>
            <a:spLocks noGrp="1" noChangeArrowheads="1"/>
          </p:cNvSpPr>
          <p:nvPr>
            <p:ph type="body" sz="quarter" idx="3"/>
          </p:nvPr>
        </p:nvSpPr>
        <p:spPr bwMode="auto">
          <a:xfrm>
            <a:off x="1219200" y="3257550"/>
            <a:ext cx="6705600" cy="3086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a:t>Klicken Sie, um die Formate des Vorlagentextes zu bearbeiten</a:t>
            </a:r>
          </a:p>
          <a:p>
            <a:pPr lvl="1"/>
            <a:r>
              <a:rPr lang="de-DE"/>
              <a:t>Zweite Ebene</a:t>
            </a:r>
          </a:p>
          <a:p>
            <a:pPr lvl="2"/>
            <a:r>
              <a:rPr lang="de-DE"/>
              <a:t>Dritte Ebene</a:t>
            </a:r>
          </a:p>
          <a:p>
            <a:pPr lvl="3"/>
            <a:r>
              <a:rPr lang="de-DE"/>
              <a:t>Vierte Ebene</a:t>
            </a:r>
          </a:p>
          <a:p>
            <a:pPr lvl="4"/>
            <a:r>
              <a:rPr lang="de-DE"/>
              <a:t>Fünfte Ebene</a:t>
            </a:r>
          </a:p>
        </p:txBody>
      </p:sp>
      <p:sp>
        <p:nvSpPr>
          <p:cNvPr id="35846" name="Rectangle 6"/>
          <p:cNvSpPr>
            <a:spLocks noGrp="1" noChangeArrowheads="1"/>
          </p:cNvSpPr>
          <p:nvPr>
            <p:ph type="ftr" sz="quarter" idx="4"/>
          </p:nvPr>
        </p:nvSpPr>
        <p:spPr bwMode="auto">
          <a:xfrm>
            <a:off x="0" y="6515100"/>
            <a:ext cx="3962400" cy="342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de-DE"/>
          </a:p>
        </p:txBody>
      </p:sp>
      <p:sp>
        <p:nvSpPr>
          <p:cNvPr id="35847" name="Rectangle 7"/>
          <p:cNvSpPr>
            <a:spLocks noGrp="1" noChangeArrowheads="1"/>
          </p:cNvSpPr>
          <p:nvPr>
            <p:ph type="sldNum" sz="quarter" idx="5"/>
          </p:nvPr>
        </p:nvSpPr>
        <p:spPr bwMode="auto">
          <a:xfrm>
            <a:off x="5181600" y="6515100"/>
            <a:ext cx="3962400" cy="342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932B0C62-07EA-4146-9798-A0A17F7FEF9F}" type="slidenum">
              <a:rPr lang="de-DE"/>
              <a:pPr/>
              <a:t>‹Nr.›</a:t>
            </a:fld>
            <a:endParaRPr lang="de-DE"/>
          </a:p>
        </p:txBody>
      </p:sp>
    </p:spTree>
    <p:extLst>
      <p:ext uri="{BB962C8B-B14F-4D97-AF65-F5344CB8AC3E}">
        <p14:creationId xmlns:p14="http://schemas.microsoft.com/office/powerpoint/2010/main" val="17701530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en-US" err="1">
                <a:latin typeface="Calibri"/>
                <a:ea typeface="Calibri"/>
                <a:cs typeface="Calibri"/>
              </a:rPr>
              <a:t>Begrüßung</a:t>
            </a:r>
            <a:r>
              <a:rPr lang="en-US">
                <a:latin typeface="Calibri"/>
                <a:ea typeface="Calibri"/>
                <a:cs typeface="Calibri"/>
              </a:rPr>
              <a:t> </a:t>
            </a:r>
            <a:r>
              <a:rPr lang="en-US" err="1">
                <a:latin typeface="Calibri"/>
                <a:ea typeface="Calibri"/>
                <a:cs typeface="Calibri"/>
              </a:rPr>
              <a:t>zu</a:t>
            </a:r>
            <a:r>
              <a:rPr lang="en-US">
                <a:latin typeface="Calibri"/>
                <a:ea typeface="Calibri"/>
                <a:cs typeface="Calibri"/>
              </a:rPr>
              <a:t> </a:t>
            </a:r>
            <a:r>
              <a:rPr lang="en-US" err="1">
                <a:latin typeface="Calibri"/>
                <a:ea typeface="Calibri"/>
                <a:cs typeface="Calibri"/>
              </a:rPr>
              <a:t>Präsentation</a:t>
            </a:r>
            <a:r>
              <a:rPr lang="en-US">
                <a:latin typeface="Calibri"/>
                <a:ea typeface="Calibri"/>
                <a:cs typeface="Calibri"/>
              </a:rPr>
              <a:t> 2. </a:t>
            </a:r>
          </a:p>
        </p:txBody>
      </p:sp>
      <p:sp>
        <p:nvSpPr>
          <p:cNvPr id="4" name="Foliennummernplatzhalter 3"/>
          <p:cNvSpPr>
            <a:spLocks noGrp="1"/>
          </p:cNvSpPr>
          <p:nvPr>
            <p:ph type="sldNum" sz="quarter" idx="5"/>
          </p:nvPr>
        </p:nvSpPr>
        <p:spPr/>
        <p:txBody>
          <a:bodyPr/>
          <a:lstStyle/>
          <a:p>
            <a:fld id="{932B0C62-07EA-4146-9798-A0A17F7FEF9F}" type="slidenum">
              <a:rPr lang="de-DE"/>
              <a:pPr/>
              <a:t>1</a:t>
            </a:fld>
            <a:endParaRPr lang="de-DE"/>
          </a:p>
        </p:txBody>
      </p:sp>
    </p:spTree>
    <p:extLst>
      <p:ext uri="{BB962C8B-B14F-4D97-AF65-F5344CB8AC3E}">
        <p14:creationId xmlns:p14="http://schemas.microsoft.com/office/powerpoint/2010/main" val="1238661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dirty="0"/>
              <a:t>Kurzes </a:t>
            </a:r>
            <a:r>
              <a:rPr lang="de-DE" dirty="0" err="1"/>
              <a:t>Warpup</a:t>
            </a:r>
            <a:r>
              <a:rPr lang="de-DE" dirty="0"/>
              <a:t> in Kapitel 1 </a:t>
            </a:r>
          </a:p>
          <a:p>
            <a:r>
              <a:rPr lang="de-DE" dirty="0"/>
              <a:t>In Kapitel 2 wird geklärt: </a:t>
            </a:r>
            <a:r>
              <a:rPr lang="de-DE" sz="1200" b="0" i="0" kern="1200" dirty="0">
                <a:solidFill>
                  <a:schemeClr val="tx1"/>
                </a:solidFill>
                <a:effectLst/>
                <a:latin typeface="Arial" charset="0"/>
                <a:ea typeface="+mn-ea"/>
                <a:cs typeface="+mn-cs"/>
              </a:rPr>
              <a:t>Aus welchen Komponenten (Stationen (AS, ES, OS), Kommunikation, Bildschirme (PC-Monitore, Touch-Panels),...) besteht das Prozessleitsystem?</a:t>
            </a:r>
          </a:p>
          <a:p>
            <a:r>
              <a:rPr lang="de-DE" sz="1200" b="0" i="0" kern="1200" dirty="0">
                <a:solidFill>
                  <a:schemeClr val="tx1"/>
                </a:solidFill>
                <a:effectLst/>
                <a:latin typeface="Arial" charset="0"/>
                <a:ea typeface="+mn-ea"/>
                <a:cs typeface="+mn-cs"/>
              </a:rPr>
              <a:t>Wie werden diese Komponenten untereinander verbunden (Punkt-zu-Punkt, seriell, Bussysteme (z.B. </a:t>
            </a:r>
            <a:r>
              <a:rPr lang="de-DE" sz="1200" b="0" i="0" kern="1200" dirty="0" err="1">
                <a:solidFill>
                  <a:schemeClr val="tx1"/>
                </a:solidFill>
                <a:effectLst/>
                <a:latin typeface="Arial" charset="0"/>
                <a:ea typeface="+mn-ea"/>
                <a:cs typeface="+mn-cs"/>
              </a:rPr>
              <a:t>Profibus</a:t>
            </a:r>
            <a:r>
              <a:rPr lang="de-DE" sz="1200" b="0" i="0" kern="1200" dirty="0">
                <a:solidFill>
                  <a:schemeClr val="tx1"/>
                </a:solidFill>
                <a:effectLst/>
                <a:latin typeface="Arial" charset="0"/>
                <a:ea typeface="+mn-ea"/>
                <a:cs typeface="+mn-cs"/>
              </a:rPr>
              <a:t>, </a:t>
            </a:r>
            <a:r>
              <a:rPr lang="de-DE" sz="1200" b="0" i="0" kern="1200" dirty="0" err="1">
                <a:solidFill>
                  <a:schemeClr val="tx1"/>
                </a:solidFill>
                <a:effectLst/>
                <a:latin typeface="Arial" charset="0"/>
                <a:ea typeface="+mn-ea"/>
                <a:cs typeface="+mn-cs"/>
              </a:rPr>
              <a:t>Profinet</a:t>
            </a:r>
            <a:r>
              <a:rPr lang="de-DE" sz="1200" b="0" i="0" kern="1200" dirty="0">
                <a:solidFill>
                  <a:schemeClr val="tx1"/>
                </a:solidFill>
                <a:effectLst/>
                <a:latin typeface="Arial" charset="0"/>
                <a:ea typeface="+mn-ea"/>
                <a:cs typeface="+mn-cs"/>
              </a:rPr>
              <a:t>) etc.)?</a:t>
            </a:r>
          </a:p>
          <a:p>
            <a:endParaRPr lang="de-DE" dirty="0"/>
          </a:p>
          <a:p>
            <a:endParaRPr lang="de-DE" dirty="0">
              <a:solidFill>
                <a:srgbClr val="444444"/>
              </a:solidFill>
            </a:endParaRPr>
          </a:p>
          <a:p>
            <a:r>
              <a:rPr lang="de-DE" dirty="0">
                <a:latin typeface="Arial"/>
                <a:cs typeface="Arial"/>
              </a:rPr>
              <a:t>Kapitel 3 noch paar Worte zur S7 und WinCC</a:t>
            </a:r>
          </a:p>
          <a:p>
            <a:endParaRPr lang="de-DE" dirty="0">
              <a:latin typeface="Arial"/>
              <a:cs typeface="Arial"/>
            </a:endParaRPr>
          </a:p>
          <a:p>
            <a:r>
              <a:rPr lang="de-DE" dirty="0">
                <a:latin typeface="Arial"/>
                <a:cs typeface="Arial"/>
              </a:rPr>
              <a:t>In Kapitel 4: </a:t>
            </a:r>
          </a:p>
          <a:p>
            <a:r>
              <a:rPr lang="de-DE" sz="1200" b="0" i="0" kern="1200" dirty="0">
                <a:solidFill>
                  <a:schemeClr val="tx1"/>
                </a:solidFill>
                <a:effectLst/>
                <a:latin typeface="Arial" charset="0"/>
                <a:ea typeface="+mn-ea"/>
                <a:cs typeface="+mn-cs"/>
              </a:rPr>
              <a:t>Wie wird die HW des Prozessleitsystems softwareseitig konfiguriert? (Prozess-I/Os -&gt;Mengengerüst/Variablen, Stationen, Kommunikation, Bedienplätze,...)</a:t>
            </a:r>
          </a:p>
          <a:p>
            <a:r>
              <a:rPr lang="de-DE" sz="1200" b="0" i="0" kern="1200" dirty="0">
                <a:solidFill>
                  <a:schemeClr val="tx1"/>
                </a:solidFill>
                <a:effectLst/>
                <a:latin typeface="Arial" charset="0"/>
                <a:ea typeface="+mn-ea"/>
                <a:cs typeface="+mn-cs"/>
              </a:rPr>
              <a:t>Wie werden die Stationen programmiert? (Sprachen, Programmierumgebung, Prozess-I/Os, Steuerung, Regelung,..)</a:t>
            </a:r>
          </a:p>
          <a:p>
            <a:r>
              <a:rPr lang="de-DE" sz="1200" b="0" i="0" kern="1200" dirty="0">
                <a:solidFill>
                  <a:schemeClr val="tx1"/>
                </a:solidFill>
                <a:effectLst/>
                <a:latin typeface="Arial" charset="0"/>
                <a:ea typeface="+mn-ea"/>
                <a:cs typeface="+mn-cs"/>
              </a:rPr>
              <a:t>Wie wird die Kommunikation zwischen den Automatisierungskomponenten konfiguriert/programmiert?</a:t>
            </a:r>
          </a:p>
          <a:p>
            <a:r>
              <a:rPr lang="de-DE" sz="1200" b="0" i="0" kern="1200" dirty="0">
                <a:solidFill>
                  <a:schemeClr val="tx1"/>
                </a:solidFill>
                <a:effectLst/>
                <a:latin typeface="Arial" charset="0"/>
                <a:ea typeface="+mn-ea"/>
                <a:cs typeface="+mn-cs"/>
              </a:rPr>
              <a:t>Welche Bedienbilder gibt es und wie werden die Bedienbilder erzeugt (Grafikeditoren, Bibliotheken, </a:t>
            </a:r>
            <a:r>
              <a:rPr lang="de-DE" sz="1200" b="0" i="0" kern="1200" dirty="0" err="1">
                <a:solidFill>
                  <a:schemeClr val="tx1"/>
                </a:solidFill>
                <a:effectLst/>
                <a:latin typeface="Arial" charset="0"/>
                <a:ea typeface="+mn-ea"/>
                <a:cs typeface="+mn-cs"/>
              </a:rPr>
              <a:t>Faceplates</a:t>
            </a:r>
            <a:r>
              <a:rPr lang="de-DE" sz="1200" b="0" i="0" kern="1200" dirty="0">
                <a:solidFill>
                  <a:schemeClr val="tx1"/>
                </a:solidFill>
                <a:effectLst/>
                <a:latin typeface="Arial" charset="0"/>
                <a:ea typeface="+mn-ea"/>
                <a:cs typeface="+mn-cs"/>
              </a:rPr>
              <a:t>...)?</a:t>
            </a:r>
          </a:p>
          <a:p>
            <a:endParaRPr lang="de-DE" dirty="0"/>
          </a:p>
        </p:txBody>
      </p:sp>
      <p:sp>
        <p:nvSpPr>
          <p:cNvPr id="4" name="Foliennummernplatzhalter 3"/>
          <p:cNvSpPr>
            <a:spLocks noGrp="1"/>
          </p:cNvSpPr>
          <p:nvPr>
            <p:ph type="sldNum" sz="quarter" idx="5"/>
          </p:nvPr>
        </p:nvSpPr>
        <p:spPr/>
        <p:txBody>
          <a:bodyPr/>
          <a:lstStyle/>
          <a:p>
            <a:fld id="{932B0C62-07EA-4146-9798-A0A17F7FEF9F}" type="slidenum">
              <a:rPr lang="de-DE" smtClean="0"/>
              <a:pPr/>
              <a:t>2</a:t>
            </a:fld>
            <a:endParaRPr lang="de-DE"/>
          </a:p>
        </p:txBody>
      </p:sp>
    </p:spTree>
    <p:extLst>
      <p:ext uri="{BB962C8B-B14F-4D97-AF65-F5344CB8AC3E}">
        <p14:creationId xmlns:p14="http://schemas.microsoft.com/office/powerpoint/2010/main" val="18602588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3" name="Bild 2" descr="Wortmarke_MB_schwarz.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030" y="684995"/>
            <a:ext cx="1444315" cy="1872260"/>
          </a:xfrm>
          <a:prstGeom prst="rect">
            <a:avLst/>
          </a:prstGeom>
        </p:spPr>
      </p:pic>
      <p:pic>
        <p:nvPicPr>
          <p:cNvPr id="2" name="Bild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23030" y="2125195"/>
            <a:ext cx="2451411" cy="4896680"/>
          </a:xfrm>
          <a:prstGeom prst="rect">
            <a:avLst/>
          </a:prstGeom>
        </p:spPr>
      </p:pic>
      <p:sp>
        <p:nvSpPr>
          <p:cNvPr id="3074" name="Rectangle 2"/>
          <p:cNvSpPr>
            <a:spLocks noGrp="1" noChangeArrowheads="1"/>
          </p:cNvSpPr>
          <p:nvPr>
            <p:ph type="ctrTitle"/>
          </p:nvPr>
        </p:nvSpPr>
        <p:spPr>
          <a:xfrm>
            <a:off x="522288" y="4718050"/>
            <a:ext cx="6985000" cy="719138"/>
          </a:xfrm>
        </p:spPr>
        <p:txBody>
          <a:bodyPr/>
          <a:lstStyle>
            <a:lvl1pPr>
              <a:defRPr sz="4000"/>
            </a:lvl1pPr>
          </a:lstStyle>
          <a:p>
            <a:pPr lvl="0"/>
            <a:r>
              <a:rPr lang="de-DE" noProof="0"/>
              <a:t>Titelmasterformat durch Klicken bearbeiten</a:t>
            </a:r>
          </a:p>
        </p:txBody>
      </p:sp>
      <p:sp>
        <p:nvSpPr>
          <p:cNvPr id="3075" name="Rectangle 3"/>
          <p:cNvSpPr>
            <a:spLocks noGrp="1" noChangeArrowheads="1"/>
          </p:cNvSpPr>
          <p:nvPr>
            <p:ph type="subTitle" idx="1"/>
          </p:nvPr>
        </p:nvSpPr>
        <p:spPr>
          <a:xfrm>
            <a:off x="522288" y="5294313"/>
            <a:ext cx="6985000" cy="1008062"/>
          </a:xfrm>
        </p:spPr>
        <p:txBody>
          <a:bodyPr/>
          <a:lstStyle>
            <a:lvl1pPr>
              <a:spcAft>
                <a:spcPct val="0"/>
              </a:spcAft>
              <a:defRPr sz="2400" i="1"/>
            </a:lvl1pPr>
          </a:lstStyle>
          <a:p>
            <a:pPr lvl="0"/>
            <a:r>
              <a:rPr lang="de-DE" noProof="0"/>
              <a:t>Formatvorlage des Untertitelmasters durch Klicken bearbeiten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Inhaltsplatzhalt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Foliennummernplatzhalter 3"/>
          <p:cNvSpPr>
            <a:spLocks noGrp="1"/>
          </p:cNvSpPr>
          <p:nvPr>
            <p:ph type="sldNum" sz="quarter" idx="10"/>
          </p:nvPr>
        </p:nvSpPr>
        <p:spPr/>
        <p:txBody>
          <a:bodyPr/>
          <a:lstStyle>
            <a:lvl1pPr>
              <a:defRPr/>
            </a:lvl1pPr>
          </a:lstStyle>
          <a:p>
            <a:r>
              <a:rPr lang="de-DE"/>
              <a:t>Seite </a:t>
            </a:r>
            <a:fld id="{1B189BCE-72B6-4347-8C11-17284F861EDC}" type="slidenum">
              <a:rPr lang="de-DE"/>
              <a:pPr/>
              <a:t>‹Nr.›</a:t>
            </a:fld>
            <a:endParaRPr lang="de-DE"/>
          </a:p>
        </p:txBody>
      </p:sp>
    </p:spTree>
    <p:extLst>
      <p:ext uri="{BB962C8B-B14F-4D97-AF65-F5344CB8AC3E}">
        <p14:creationId xmlns:p14="http://schemas.microsoft.com/office/powerpoint/2010/main" val="2512058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Inhaltsplatzhalter 2"/>
          <p:cNvSpPr>
            <a:spLocks noGrp="1"/>
          </p:cNvSpPr>
          <p:nvPr>
            <p:ph sz="half" idx="1"/>
          </p:nvPr>
        </p:nvSpPr>
        <p:spPr>
          <a:xfrm>
            <a:off x="522288" y="2138363"/>
            <a:ext cx="4135437" cy="4522787"/>
          </a:xfrm>
        </p:spPr>
        <p:txBody>
          <a:bodyPr/>
          <a:lstStyle>
            <a:lvl1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1pPr>
            <a:lvl2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2pPr>
            <a:lvl3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3pPr>
            <a:lvl4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4pPr>
            <a:lvl5pPr algn="l" defTabSz="1054100" rtl="0" fontAlgn="base">
              <a:lnSpc>
                <a:spcPct val="110000"/>
              </a:lnSpc>
              <a:spcBef>
                <a:spcPct val="0"/>
              </a:spcBef>
              <a:spcAft>
                <a:spcPct val="40000"/>
              </a:spcAft>
              <a:defRPr lang="en-US" sz="1700" dirty="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p:cNvSpPr>
            <a:spLocks noGrp="1"/>
          </p:cNvSpPr>
          <p:nvPr>
            <p:ph sz="half" idx="2"/>
          </p:nvPr>
        </p:nvSpPr>
        <p:spPr>
          <a:xfrm>
            <a:off x="4810125" y="2138363"/>
            <a:ext cx="4137025" cy="4522787"/>
          </a:xfrm>
        </p:spPr>
        <p:txBody>
          <a:bodyPr/>
          <a:lstStyle>
            <a:lvl1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1pPr>
            <a:lvl2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2pPr>
            <a:lvl3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3pPr>
            <a:lvl4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4pPr>
            <a:lvl5pPr algn="l" defTabSz="1054100" rtl="0" fontAlgn="base">
              <a:lnSpc>
                <a:spcPct val="110000"/>
              </a:lnSpc>
              <a:spcBef>
                <a:spcPct val="0"/>
              </a:spcBef>
              <a:spcAft>
                <a:spcPct val="40000"/>
              </a:spcAft>
              <a:defRPr lang="en-US" sz="1700" dirty="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Foliennummernplatzhalter 4"/>
          <p:cNvSpPr>
            <a:spLocks noGrp="1"/>
          </p:cNvSpPr>
          <p:nvPr>
            <p:ph type="sldNum" sz="quarter" idx="10"/>
          </p:nvPr>
        </p:nvSpPr>
        <p:spPr/>
        <p:txBody>
          <a:bodyPr/>
          <a:lstStyle>
            <a:lvl1pPr>
              <a:defRPr/>
            </a:lvl1pPr>
          </a:lstStyle>
          <a:p>
            <a:r>
              <a:rPr lang="de-DE"/>
              <a:t>Seite </a:t>
            </a:r>
            <a:fld id="{C9DF4026-A29C-4B40-902F-41C57635FD76}" type="slidenum">
              <a:rPr lang="de-DE"/>
              <a:pPr/>
              <a:t>‹Nr.›</a:t>
            </a:fld>
            <a:endParaRPr lang="de-DE"/>
          </a:p>
        </p:txBody>
      </p:sp>
    </p:spTree>
    <p:extLst>
      <p:ext uri="{BB962C8B-B14F-4D97-AF65-F5344CB8AC3E}">
        <p14:creationId xmlns:p14="http://schemas.microsoft.com/office/powerpoint/2010/main" val="2756420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Foliennummernplatzhalter 2"/>
          <p:cNvSpPr>
            <a:spLocks noGrp="1"/>
          </p:cNvSpPr>
          <p:nvPr>
            <p:ph type="sldNum" sz="quarter" idx="10"/>
          </p:nvPr>
        </p:nvSpPr>
        <p:spPr/>
        <p:txBody>
          <a:bodyPr/>
          <a:lstStyle>
            <a:lvl1pPr>
              <a:defRPr/>
            </a:lvl1pPr>
          </a:lstStyle>
          <a:p>
            <a:r>
              <a:rPr lang="de-DE"/>
              <a:t>Seite </a:t>
            </a:r>
            <a:fld id="{9A62AABA-5C59-49CF-A516-801C5D3DCF65}" type="slidenum">
              <a:rPr lang="de-DE"/>
              <a:pPr/>
              <a:t>‹Nr.›</a:t>
            </a:fld>
            <a:endParaRPr lang="de-DE"/>
          </a:p>
        </p:txBody>
      </p:sp>
    </p:spTree>
    <p:extLst>
      <p:ext uri="{BB962C8B-B14F-4D97-AF65-F5344CB8AC3E}">
        <p14:creationId xmlns:p14="http://schemas.microsoft.com/office/powerpoint/2010/main" val="1063405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Foliennummernplatzhalter 1"/>
          <p:cNvSpPr>
            <a:spLocks noGrp="1"/>
          </p:cNvSpPr>
          <p:nvPr>
            <p:ph type="sldNum" sz="quarter" idx="10"/>
          </p:nvPr>
        </p:nvSpPr>
        <p:spPr/>
        <p:txBody>
          <a:bodyPr/>
          <a:lstStyle>
            <a:lvl1pPr>
              <a:defRPr/>
            </a:lvl1pPr>
          </a:lstStyle>
          <a:p>
            <a:r>
              <a:rPr lang="de-DE"/>
              <a:t>Seite </a:t>
            </a:r>
            <a:fld id="{7991D8C6-CAB4-44CE-8EA5-8D04D05EBC07}" type="slidenum">
              <a:rPr lang="de-DE"/>
              <a:pPr/>
              <a:t>‹Nr.›</a:t>
            </a:fld>
            <a:endParaRPr lang="de-DE"/>
          </a:p>
        </p:txBody>
      </p:sp>
    </p:spTree>
    <p:extLst>
      <p:ext uri="{BB962C8B-B14F-4D97-AF65-F5344CB8AC3E}">
        <p14:creationId xmlns:p14="http://schemas.microsoft.com/office/powerpoint/2010/main" val="297058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Foliennummernplatzhalter 3"/>
          <p:cNvSpPr>
            <a:spLocks noGrp="1"/>
          </p:cNvSpPr>
          <p:nvPr>
            <p:ph type="sldNum" sz="quarter" idx="10"/>
          </p:nvPr>
        </p:nvSpPr>
        <p:spPr/>
        <p:txBody>
          <a:bodyPr/>
          <a:lstStyle>
            <a:lvl1pPr>
              <a:defRPr/>
            </a:lvl1pPr>
          </a:lstStyle>
          <a:p>
            <a:r>
              <a:rPr lang="de-DE"/>
              <a:t>Seite </a:t>
            </a:r>
            <a:fld id="{55D2BB0D-2C4F-41CB-81FD-E9CE2EF002ED}" type="slidenum">
              <a:rPr lang="de-DE"/>
              <a:pPr/>
              <a:t>‹Nr.›</a:t>
            </a:fld>
            <a:endParaRPr lang="de-DE"/>
          </a:p>
        </p:txBody>
      </p:sp>
    </p:spTree>
    <p:extLst>
      <p:ext uri="{BB962C8B-B14F-4D97-AF65-F5344CB8AC3E}">
        <p14:creationId xmlns:p14="http://schemas.microsoft.com/office/powerpoint/2010/main" val="2851175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759700" y="671513"/>
            <a:ext cx="2411413" cy="5989637"/>
          </a:xfrm>
        </p:spPr>
        <p:txBody>
          <a:bodyPr vert="eaVert"/>
          <a:lstStyle/>
          <a:p>
            <a:r>
              <a:rPr lang="de-DE"/>
              <a:t>Titelmasterformat durch Klicken bearbeiten</a:t>
            </a:r>
            <a:endParaRPr lang="en-US"/>
          </a:p>
        </p:txBody>
      </p:sp>
      <p:sp>
        <p:nvSpPr>
          <p:cNvPr id="3" name="Vertikaler Textplatzhalter 2"/>
          <p:cNvSpPr>
            <a:spLocks noGrp="1"/>
          </p:cNvSpPr>
          <p:nvPr>
            <p:ph type="body" orient="vert" idx="1"/>
          </p:nvPr>
        </p:nvSpPr>
        <p:spPr>
          <a:xfrm>
            <a:off x="522288" y="671513"/>
            <a:ext cx="7085012" cy="5989637"/>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Foliennummernplatzhalter 3"/>
          <p:cNvSpPr>
            <a:spLocks noGrp="1"/>
          </p:cNvSpPr>
          <p:nvPr>
            <p:ph type="sldNum" sz="quarter" idx="10"/>
          </p:nvPr>
        </p:nvSpPr>
        <p:spPr/>
        <p:txBody>
          <a:bodyPr/>
          <a:lstStyle>
            <a:lvl1pPr>
              <a:defRPr/>
            </a:lvl1pPr>
          </a:lstStyle>
          <a:p>
            <a:r>
              <a:rPr lang="de-DE"/>
              <a:t>Seite </a:t>
            </a:r>
            <a:fld id="{8C495611-ACA6-4783-9F35-F2E84BDDE611}" type="slidenum">
              <a:rPr lang="de-DE"/>
              <a:pPr/>
              <a:t>‹Nr.›</a:t>
            </a:fld>
            <a:endParaRPr lang="de-DE"/>
          </a:p>
        </p:txBody>
      </p:sp>
    </p:spTree>
    <p:extLst>
      <p:ext uri="{BB962C8B-B14F-4D97-AF65-F5344CB8AC3E}">
        <p14:creationId xmlns:p14="http://schemas.microsoft.com/office/powerpoint/2010/main" val="3795543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522288" y="671513"/>
            <a:ext cx="9648825" cy="949325"/>
          </a:xfrm>
        </p:spPr>
        <p:txBody>
          <a:bodyPr/>
          <a:lstStyle/>
          <a:p>
            <a:r>
              <a:rPr lang="de-DE"/>
              <a:t>Titelmasterformat durch Klicken bearbeiten</a:t>
            </a:r>
            <a:endParaRPr lang="en-US"/>
          </a:p>
        </p:txBody>
      </p:sp>
      <p:sp>
        <p:nvSpPr>
          <p:cNvPr id="4" name="Foliennummernplatzhalter 3"/>
          <p:cNvSpPr>
            <a:spLocks noGrp="1"/>
          </p:cNvSpPr>
          <p:nvPr>
            <p:ph type="sldNum" sz="quarter" idx="10"/>
          </p:nvPr>
        </p:nvSpPr>
        <p:spPr>
          <a:xfrm>
            <a:off x="8947150" y="7165975"/>
            <a:ext cx="1223963" cy="228600"/>
          </a:xfrm>
        </p:spPr>
        <p:txBody>
          <a:bodyPr/>
          <a:lstStyle>
            <a:lvl1pPr>
              <a:defRPr/>
            </a:lvl1pPr>
          </a:lstStyle>
          <a:p>
            <a:r>
              <a:rPr lang="de-DE"/>
              <a:t>Seite </a:t>
            </a:r>
            <a:fld id="{40192516-3A96-4AF1-ACCE-4FA25417AC18}" type="slidenum">
              <a:rPr lang="de-DE"/>
              <a:pPr/>
              <a:t>‹Nr.›</a:t>
            </a:fld>
            <a:endParaRPr lang="de-DE"/>
          </a:p>
        </p:txBody>
      </p:sp>
      <p:sp>
        <p:nvSpPr>
          <p:cNvPr id="8" name="Textplatzhalter 7">
            <a:extLst>
              <a:ext uri="{FF2B5EF4-FFF2-40B4-BE49-F238E27FC236}">
                <a16:creationId xmlns:a16="http://schemas.microsoft.com/office/drawing/2014/main" id="{CD6D347A-61E0-E42B-68C5-0F61062FCE55}"/>
              </a:ext>
            </a:extLst>
          </p:cNvPr>
          <p:cNvSpPr>
            <a:spLocks noGrp="1"/>
          </p:cNvSpPr>
          <p:nvPr>
            <p:ph type="body" sz="quarter" idx="11"/>
          </p:nvPr>
        </p:nvSpPr>
        <p:spPr>
          <a:xfrm>
            <a:off x="522288" y="2109788"/>
            <a:ext cx="8424862" cy="45593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648432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ClipArt" preserve="1">
  <p:cSld name="Titel, Text und ClipArt">
    <p:spTree>
      <p:nvGrpSpPr>
        <p:cNvPr id="1" name=""/>
        <p:cNvGrpSpPr/>
        <p:nvPr/>
      </p:nvGrpSpPr>
      <p:grpSpPr>
        <a:xfrm>
          <a:off x="0" y="0"/>
          <a:ext cx="0" cy="0"/>
          <a:chOff x="0" y="0"/>
          <a:chExt cx="0" cy="0"/>
        </a:xfrm>
      </p:grpSpPr>
      <p:sp>
        <p:nvSpPr>
          <p:cNvPr id="2" name="Titel 1"/>
          <p:cNvSpPr>
            <a:spLocks noGrp="1"/>
          </p:cNvSpPr>
          <p:nvPr>
            <p:ph type="title"/>
          </p:nvPr>
        </p:nvSpPr>
        <p:spPr>
          <a:xfrm>
            <a:off x="522288" y="671513"/>
            <a:ext cx="9648825" cy="949325"/>
          </a:xfrm>
        </p:spPr>
        <p:txBody>
          <a:bodyPr/>
          <a:lstStyle/>
          <a:p>
            <a:r>
              <a:rPr lang="de-DE"/>
              <a:t>Titelmasterformat durch Klicken bearbeiten</a:t>
            </a:r>
            <a:endParaRPr lang="en-US"/>
          </a:p>
        </p:txBody>
      </p:sp>
      <p:sp>
        <p:nvSpPr>
          <p:cNvPr id="3" name="Textplatzhalter 2"/>
          <p:cNvSpPr>
            <a:spLocks noGrp="1"/>
          </p:cNvSpPr>
          <p:nvPr>
            <p:ph type="body" sz="half" idx="1"/>
          </p:nvPr>
        </p:nvSpPr>
        <p:spPr>
          <a:xfrm>
            <a:off x="522288" y="2138363"/>
            <a:ext cx="4135437" cy="4522787"/>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ClipArt-Platzhalter 3"/>
          <p:cNvSpPr>
            <a:spLocks noGrp="1"/>
          </p:cNvSpPr>
          <p:nvPr>
            <p:ph type="clipArt" sz="half" idx="2"/>
          </p:nvPr>
        </p:nvSpPr>
        <p:spPr>
          <a:xfrm>
            <a:off x="4810125" y="2138363"/>
            <a:ext cx="4137025" cy="4522787"/>
          </a:xfrm>
        </p:spPr>
        <p:txBody>
          <a:bodyPr/>
          <a:lstStyle/>
          <a:p>
            <a:endParaRPr lang="en-US"/>
          </a:p>
        </p:txBody>
      </p:sp>
      <p:sp>
        <p:nvSpPr>
          <p:cNvPr id="5" name="Foliennummernplatzhalter 4"/>
          <p:cNvSpPr>
            <a:spLocks noGrp="1"/>
          </p:cNvSpPr>
          <p:nvPr>
            <p:ph type="sldNum" sz="quarter" idx="10"/>
          </p:nvPr>
        </p:nvSpPr>
        <p:spPr>
          <a:xfrm>
            <a:off x="8947150" y="7165975"/>
            <a:ext cx="1223963" cy="228600"/>
          </a:xfrm>
        </p:spPr>
        <p:txBody>
          <a:bodyPr/>
          <a:lstStyle>
            <a:lvl1pPr>
              <a:defRPr/>
            </a:lvl1pPr>
          </a:lstStyle>
          <a:p>
            <a:r>
              <a:rPr lang="de-DE"/>
              <a:t>Seite </a:t>
            </a:r>
            <a:fld id="{F7AE973F-D322-44D2-BC6C-F98FA548D40F}" type="slidenum">
              <a:rPr lang="de-DE"/>
              <a:pPr/>
              <a:t>‹Nr.›</a:t>
            </a:fld>
            <a:endParaRPr lang="de-DE"/>
          </a:p>
        </p:txBody>
      </p:sp>
    </p:spTree>
    <p:extLst>
      <p:ext uri="{BB962C8B-B14F-4D97-AF65-F5344CB8AC3E}">
        <p14:creationId xmlns:p14="http://schemas.microsoft.com/office/powerpoint/2010/main" val="2626667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chartAndTx" preserve="1">
  <p:cSld name="Titel, Diagramm und Text">
    <p:spTree>
      <p:nvGrpSpPr>
        <p:cNvPr id="1" name=""/>
        <p:cNvGrpSpPr/>
        <p:nvPr/>
      </p:nvGrpSpPr>
      <p:grpSpPr>
        <a:xfrm>
          <a:off x="0" y="0"/>
          <a:ext cx="0" cy="0"/>
          <a:chOff x="0" y="0"/>
          <a:chExt cx="0" cy="0"/>
        </a:xfrm>
      </p:grpSpPr>
      <p:sp>
        <p:nvSpPr>
          <p:cNvPr id="2" name="Titel 1"/>
          <p:cNvSpPr>
            <a:spLocks noGrp="1"/>
          </p:cNvSpPr>
          <p:nvPr>
            <p:ph type="title"/>
          </p:nvPr>
        </p:nvSpPr>
        <p:spPr>
          <a:xfrm>
            <a:off x="522288" y="671513"/>
            <a:ext cx="9648825" cy="949325"/>
          </a:xfrm>
        </p:spPr>
        <p:txBody>
          <a:bodyPr/>
          <a:lstStyle/>
          <a:p>
            <a:r>
              <a:rPr lang="de-DE"/>
              <a:t>Titelmasterformat durch Klicken bearbeiten</a:t>
            </a:r>
            <a:endParaRPr lang="en-US"/>
          </a:p>
        </p:txBody>
      </p:sp>
      <p:sp>
        <p:nvSpPr>
          <p:cNvPr id="3" name="Diagrammplatzhalter 2"/>
          <p:cNvSpPr>
            <a:spLocks noGrp="1"/>
          </p:cNvSpPr>
          <p:nvPr>
            <p:ph type="chart" sz="half" idx="1"/>
          </p:nvPr>
        </p:nvSpPr>
        <p:spPr>
          <a:xfrm>
            <a:off x="522288" y="2138363"/>
            <a:ext cx="4135437" cy="4522787"/>
          </a:xfrm>
        </p:spPr>
        <p:txBody>
          <a:bodyPr/>
          <a:lstStyle/>
          <a:p>
            <a:endParaRPr lang="en-US"/>
          </a:p>
        </p:txBody>
      </p:sp>
      <p:sp>
        <p:nvSpPr>
          <p:cNvPr id="4" name="Textplatzhalter 3"/>
          <p:cNvSpPr>
            <a:spLocks noGrp="1"/>
          </p:cNvSpPr>
          <p:nvPr>
            <p:ph type="body" sz="half" idx="2"/>
          </p:nvPr>
        </p:nvSpPr>
        <p:spPr>
          <a:xfrm>
            <a:off x="4810125" y="2138363"/>
            <a:ext cx="4137025" cy="4522787"/>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Foliennummernplatzhalter 4"/>
          <p:cNvSpPr>
            <a:spLocks noGrp="1"/>
          </p:cNvSpPr>
          <p:nvPr>
            <p:ph type="sldNum" sz="quarter" idx="10"/>
          </p:nvPr>
        </p:nvSpPr>
        <p:spPr>
          <a:xfrm>
            <a:off x="8947150" y="7165975"/>
            <a:ext cx="1223963" cy="228600"/>
          </a:xfrm>
        </p:spPr>
        <p:txBody>
          <a:bodyPr/>
          <a:lstStyle>
            <a:lvl1pPr>
              <a:defRPr/>
            </a:lvl1pPr>
          </a:lstStyle>
          <a:p>
            <a:r>
              <a:rPr lang="de-DE"/>
              <a:t>Seite </a:t>
            </a:r>
            <a:fld id="{B7440A9E-2DF6-49F5-A69A-7E83E654EF6F}" type="slidenum">
              <a:rPr lang="de-DE"/>
              <a:pPr/>
              <a:t>‹Nr.›</a:t>
            </a:fld>
            <a:endParaRPr lang="de-DE"/>
          </a:p>
        </p:txBody>
      </p:sp>
    </p:spTree>
    <p:extLst>
      <p:ext uri="{BB962C8B-B14F-4D97-AF65-F5344CB8AC3E}">
        <p14:creationId xmlns:p14="http://schemas.microsoft.com/office/powerpoint/2010/main" val="1330131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Bild 1"/>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451270" y="5365645"/>
            <a:ext cx="720100" cy="1440201"/>
          </a:xfrm>
          <a:prstGeom prst="rect">
            <a:avLst/>
          </a:prstGeom>
        </p:spPr>
      </p:pic>
      <p:sp>
        <p:nvSpPr>
          <p:cNvPr id="1026" name="Rectangle 2"/>
          <p:cNvSpPr>
            <a:spLocks noGrp="1" noChangeArrowheads="1"/>
          </p:cNvSpPr>
          <p:nvPr>
            <p:ph type="title"/>
          </p:nvPr>
        </p:nvSpPr>
        <p:spPr bwMode="auto">
          <a:xfrm>
            <a:off x="522288" y="671513"/>
            <a:ext cx="9648825" cy="949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de-DE"/>
              <a:t>Klicken Sie, um das Titelformat zu bearbeiten</a:t>
            </a:r>
          </a:p>
        </p:txBody>
      </p:sp>
      <p:sp>
        <p:nvSpPr>
          <p:cNvPr id="1027" name="Rectangle 3"/>
          <p:cNvSpPr>
            <a:spLocks noGrp="1" noChangeArrowheads="1"/>
          </p:cNvSpPr>
          <p:nvPr>
            <p:ph type="body" idx="1"/>
          </p:nvPr>
        </p:nvSpPr>
        <p:spPr bwMode="auto">
          <a:xfrm>
            <a:off x="522288" y="2138363"/>
            <a:ext cx="8424862" cy="4522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de-DE"/>
              <a:t>Klicken Sie, um die Formate des Vorlagentextes zu bearbeiten</a:t>
            </a:r>
          </a:p>
          <a:p>
            <a:pPr lvl="1"/>
            <a:r>
              <a:rPr lang="de-DE"/>
              <a:t>Zweite Ebene</a:t>
            </a:r>
          </a:p>
          <a:p>
            <a:pPr lvl="2"/>
            <a:r>
              <a:rPr lang="de-DE"/>
              <a:t>Dritte Ebene</a:t>
            </a:r>
          </a:p>
          <a:p>
            <a:pPr lvl="3"/>
            <a:r>
              <a:rPr lang="de-DE"/>
              <a:t>Vierte Ebene</a:t>
            </a:r>
          </a:p>
          <a:p>
            <a:pPr lvl="4"/>
            <a:r>
              <a:rPr lang="de-DE"/>
              <a:t>Fünfte Ebene</a:t>
            </a:r>
          </a:p>
        </p:txBody>
      </p:sp>
      <p:sp>
        <p:nvSpPr>
          <p:cNvPr id="1030" name="Rectangle 6"/>
          <p:cNvSpPr>
            <a:spLocks noGrp="1" noChangeArrowheads="1"/>
          </p:cNvSpPr>
          <p:nvPr>
            <p:ph type="sldNum" sz="quarter" idx="4"/>
          </p:nvPr>
        </p:nvSpPr>
        <p:spPr bwMode="auto">
          <a:xfrm>
            <a:off x="8947150" y="7165975"/>
            <a:ext cx="1223963" cy="228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defTabSz="1054100">
              <a:defRPr sz="1000">
                <a:solidFill>
                  <a:schemeClr val="tx1"/>
                </a:solidFill>
              </a:defRPr>
            </a:lvl1pPr>
          </a:lstStyle>
          <a:p>
            <a:r>
              <a:rPr lang="de-DE"/>
              <a:t>Seite </a:t>
            </a:r>
            <a:fld id="{59EA8C07-EA1E-4A55-873B-B297E2C8BA10}" type="slidenum">
              <a:rPr lang="de-DE"/>
              <a:pPr/>
              <a:t>‹Nr.›</a:t>
            </a:fld>
            <a:endParaRPr lang="de-DE"/>
          </a:p>
        </p:txBody>
      </p:sp>
      <p:sp>
        <p:nvSpPr>
          <p:cNvPr id="1032" name="Text Box 8"/>
          <p:cNvSpPr txBox="1">
            <a:spLocks noChangeArrowheads="1"/>
          </p:cNvSpPr>
          <p:nvPr userDrawn="1"/>
        </p:nvSpPr>
        <p:spPr bwMode="auto">
          <a:xfrm>
            <a:off x="512763" y="7165975"/>
            <a:ext cx="7713662" cy="215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lstStyle>
            <a:lvl1pPr algn="l" defTabSz="1054100">
              <a:defRPr sz="2400">
                <a:solidFill>
                  <a:schemeClr val="tx1"/>
                </a:solidFill>
                <a:latin typeface="Arial" charset="0"/>
              </a:defRPr>
            </a:lvl1pPr>
            <a:lvl2pPr marL="527050" algn="l" defTabSz="1054100">
              <a:defRPr sz="2400">
                <a:solidFill>
                  <a:schemeClr val="tx1"/>
                </a:solidFill>
                <a:latin typeface="Arial" charset="0"/>
              </a:defRPr>
            </a:lvl2pPr>
            <a:lvl3pPr marL="1054100" algn="l" defTabSz="1054100">
              <a:defRPr sz="2400">
                <a:solidFill>
                  <a:schemeClr val="tx1"/>
                </a:solidFill>
                <a:latin typeface="Arial" charset="0"/>
              </a:defRPr>
            </a:lvl3pPr>
            <a:lvl4pPr marL="1581150" algn="l" defTabSz="1054100">
              <a:defRPr sz="2400">
                <a:solidFill>
                  <a:schemeClr val="tx1"/>
                </a:solidFill>
                <a:latin typeface="Arial" charset="0"/>
              </a:defRPr>
            </a:lvl4pPr>
            <a:lvl5pPr marL="2106613" algn="l" defTabSz="1054100">
              <a:defRPr sz="2400">
                <a:solidFill>
                  <a:schemeClr val="tx1"/>
                </a:solidFill>
                <a:latin typeface="Arial" charset="0"/>
              </a:defRPr>
            </a:lvl5pPr>
            <a:lvl6pPr marL="2563813" defTabSz="1054100" fontAlgn="base">
              <a:spcBef>
                <a:spcPct val="0"/>
              </a:spcBef>
              <a:spcAft>
                <a:spcPct val="0"/>
              </a:spcAft>
              <a:defRPr sz="2400">
                <a:solidFill>
                  <a:schemeClr val="tx1"/>
                </a:solidFill>
                <a:latin typeface="Arial" charset="0"/>
              </a:defRPr>
            </a:lvl6pPr>
            <a:lvl7pPr marL="3021013" defTabSz="1054100" fontAlgn="base">
              <a:spcBef>
                <a:spcPct val="0"/>
              </a:spcBef>
              <a:spcAft>
                <a:spcPct val="0"/>
              </a:spcAft>
              <a:defRPr sz="2400">
                <a:solidFill>
                  <a:schemeClr val="tx1"/>
                </a:solidFill>
                <a:latin typeface="Arial" charset="0"/>
              </a:defRPr>
            </a:lvl7pPr>
            <a:lvl8pPr marL="3478213" defTabSz="1054100" fontAlgn="base">
              <a:spcBef>
                <a:spcPct val="0"/>
              </a:spcBef>
              <a:spcAft>
                <a:spcPct val="0"/>
              </a:spcAft>
              <a:defRPr sz="2400">
                <a:solidFill>
                  <a:schemeClr val="tx1"/>
                </a:solidFill>
                <a:latin typeface="Arial" charset="0"/>
              </a:defRPr>
            </a:lvl8pPr>
            <a:lvl9pPr marL="3935413" defTabSz="1054100" fontAlgn="base">
              <a:spcBef>
                <a:spcPct val="0"/>
              </a:spcBef>
              <a:spcAft>
                <a:spcPct val="0"/>
              </a:spcAft>
              <a:defRPr sz="2400">
                <a:solidFill>
                  <a:schemeClr val="tx1"/>
                </a:solidFill>
                <a:latin typeface="Arial" charset="0"/>
              </a:defRPr>
            </a:lvl9pPr>
          </a:lstStyle>
          <a:p>
            <a:r>
              <a:rPr lang="de-DE" sz="1000" b="1"/>
              <a:t>Hochschule Hannover</a:t>
            </a:r>
            <a:r>
              <a:rPr lang="de-DE" sz="1000"/>
              <a:t>   		Maze Runner Anlagenaufbereitung Dokumentation </a:t>
            </a:r>
            <a:endParaRPr lang="de-DE" sz="1000" i="0"/>
          </a:p>
        </p:txBody>
      </p:sp>
      <p:sp>
        <p:nvSpPr>
          <p:cNvPr id="1034" name="Line 10"/>
          <p:cNvSpPr>
            <a:spLocks noChangeShapeType="1"/>
          </p:cNvSpPr>
          <p:nvPr userDrawn="1"/>
        </p:nvSpPr>
        <p:spPr bwMode="auto">
          <a:xfrm>
            <a:off x="522288" y="7021513"/>
            <a:ext cx="9648825" cy="0"/>
          </a:xfrm>
          <a:prstGeom prst="line">
            <a:avLst/>
          </a:prstGeom>
          <a:noFill/>
          <a:ln w="50800">
            <a:solidFill>
              <a:srgbClr val="96BE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8" r:id="rId6"/>
    <p:sldLayoutId id="2147483659" r:id="rId7"/>
    <p:sldLayoutId id="2147483660" r:id="rId8"/>
    <p:sldLayoutId id="2147483661" r:id="rId9"/>
    <p:sldLayoutId id="2147483662" r:id="rId10"/>
  </p:sldLayoutIdLst>
  <p:hf hdr="0" dt="0"/>
  <p:txStyles>
    <p:titleStyle>
      <a:lvl1pPr algn="l" defTabSz="1054100" rtl="0" fontAlgn="base">
        <a:spcBef>
          <a:spcPct val="0"/>
        </a:spcBef>
        <a:spcAft>
          <a:spcPct val="0"/>
        </a:spcAft>
        <a:defRPr sz="3000" b="1">
          <a:solidFill>
            <a:schemeClr val="tx2"/>
          </a:solidFill>
          <a:latin typeface="+mj-lt"/>
          <a:ea typeface="+mj-ea"/>
          <a:cs typeface="+mj-cs"/>
        </a:defRPr>
      </a:lvl1pPr>
      <a:lvl2pPr algn="l" defTabSz="1054100" rtl="0" fontAlgn="base">
        <a:spcBef>
          <a:spcPct val="0"/>
        </a:spcBef>
        <a:spcAft>
          <a:spcPct val="0"/>
        </a:spcAft>
        <a:defRPr sz="3000" b="1">
          <a:solidFill>
            <a:schemeClr val="tx2"/>
          </a:solidFill>
          <a:latin typeface="Arial" charset="0"/>
        </a:defRPr>
      </a:lvl2pPr>
      <a:lvl3pPr algn="l" defTabSz="1054100" rtl="0" fontAlgn="base">
        <a:spcBef>
          <a:spcPct val="0"/>
        </a:spcBef>
        <a:spcAft>
          <a:spcPct val="0"/>
        </a:spcAft>
        <a:defRPr sz="3000" b="1">
          <a:solidFill>
            <a:schemeClr val="tx2"/>
          </a:solidFill>
          <a:latin typeface="Arial" charset="0"/>
        </a:defRPr>
      </a:lvl3pPr>
      <a:lvl4pPr algn="l" defTabSz="1054100" rtl="0" fontAlgn="base">
        <a:spcBef>
          <a:spcPct val="0"/>
        </a:spcBef>
        <a:spcAft>
          <a:spcPct val="0"/>
        </a:spcAft>
        <a:defRPr sz="3000" b="1">
          <a:solidFill>
            <a:schemeClr val="tx2"/>
          </a:solidFill>
          <a:latin typeface="Arial" charset="0"/>
        </a:defRPr>
      </a:lvl4pPr>
      <a:lvl5pPr algn="l" defTabSz="1054100" rtl="0" fontAlgn="base">
        <a:spcBef>
          <a:spcPct val="0"/>
        </a:spcBef>
        <a:spcAft>
          <a:spcPct val="0"/>
        </a:spcAft>
        <a:defRPr sz="3000" b="1">
          <a:solidFill>
            <a:schemeClr val="tx2"/>
          </a:solidFill>
          <a:latin typeface="Arial" charset="0"/>
        </a:defRPr>
      </a:lvl5pPr>
      <a:lvl6pPr marL="457200" algn="l" defTabSz="1054100" rtl="0" fontAlgn="base">
        <a:spcBef>
          <a:spcPct val="0"/>
        </a:spcBef>
        <a:spcAft>
          <a:spcPct val="0"/>
        </a:spcAft>
        <a:defRPr sz="3000" b="1">
          <a:solidFill>
            <a:schemeClr val="tx2"/>
          </a:solidFill>
          <a:latin typeface="Arial" charset="0"/>
        </a:defRPr>
      </a:lvl6pPr>
      <a:lvl7pPr marL="914400" algn="l" defTabSz="1054100" rtl="0" fontAlgn="base">
        <a:spcBef>
          <a:spcPct val="0"/>
        </a:spcBef>
        <a:spcAft>
          <a:spcPct val="0"/>
        </a:spcAft>
        <a:defRPr sz="3000" b="1">
          <a:solidFill>
            <a:schemeClr val="tx2"/>
          </a:solidFill>
          <a:latin typeface="Arial" charset="0"/>
        </a:defRPr>
      </a:lvl7pPr>
      <a:lvl8pPr marL="1371600" algn="l" defTabSz="1054100" rtl="0" fontAlgn="base">
        <a:spcBef>
          <a:spcPct val="0"/>
        </a:spcBef>
        <a:spcAft>
          <a:spcPct val="0"/>
        </a:spcAft>
        <a:defRPr sz="3000" b="1">
          <a:solidFill>
            <a:schemeClr val="tx2"/>
          </a:solidFill>
          <a:latin typeface="Arial" charset="0"/>
        </a:defRPr>
      </a:lvl8pPr>
      <a:lvl9pPr marL="1828800" algn="l" defTabSz="1054100" rtl="0" fontAlgn="base">
        <a:spcBef>
          <a:spcPct val="0"/>
        </a:spcBef>
        <a:spcAft>
          <a:spcPct val="0"/>
        </a:spcAft>
        <a:defRPr sz="3000" b="1">
          <a:solidFill>
            <a:schemeClr val="tx2"/>
          </a:solidFill>
          <a:latin typeface="Arial" charset="0"/>
        </a:defRPr>
      </a:lvl9pPr>
    </p:titleStyle>
    <p:bodyStyle>
      <a:lvl1pPr algn="l" defTabSz="1054100" rtl="0" fontAlgn="base">
        <a:lnSpc>
          <a:spcPct val="110000"/>
        </a:lnSpc>
        <a:spcBef>
          <a:spcPct val="0"/>
        </a:spcBef>
        <a:spcAft>
          <a:spcPct val="40000"/>
        </a:spcAft>
        <a:defRPr sz="1700">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a9MuYruNZl0" TargetMode="External"/><Relationship Id="rId2" Type="http://schemas.openxmlformats.org/officeDocument/2006/relationships/hyperlink" Target="https://download.isaacsim.omniverse.nvidia.com/isaac-sim-standalone-5.0.0-windows-x86_64.zip" TargetMode="Externa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s://github.com/NVIDIA-Omniverse/kit-app-template"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python.org/downloads/release/python-31115/" TargetMode="External"/><Relationship Id="rId2" Type="http://schemas.openxmlformats.org/officeDocument/2006/relationships/hyperlink" Target="https://www.nvidia.com/de-de/drivers/details/260400/" TargetMode="External"/><Relationship Id="rId1" Type="http://schemas.openxmlformats.org/officeDocument/2006/relationships/slideLayout" Target="../slideLayouts/slideLayout8.xml"/><Relationship Id="rId4" Type="http://schemas.openxmlformats.org/officeDocument/2006/relationships/hyperlink" Target="https://developer.nvidia.com/cuda-12-6-3-download-archive"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code.visualstudio.com/download?_exp_download=fb315fc982" TargetMode="External"/><Relationship Id="rId2" Type="http://schemas.openxmlformats.org/officeDocument/2006/relationships/hyperlink" Target="https://github.com/tobiaskuester11/Mazerunner-DT-IsaacSim-Extension" TargetMode="Externa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8.xml"/><Relationship Id="rId5" Type="http://schemas.openxmlformats.org/officeDocument/2006/relationships/image" Target="../media/image46.png"/><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hyperlink" Target="https://support.industry.siemens.com/cs/document/109749360/update-2-f&#252;r-simatic-s7-distributed-safety-v5-4-sp5-?dti=0&amp;lc=de-DE" TargetMode="External"/><Relationship Id="rId2" Type="http://schemas.openxmlformats.org/officeDocument/2006/relationships/hyperlink" Target="https://support.industry.siemens.com/cs/document/109784441/updates-f&#252;r-step-7-v17-s7-plcsim-v17-und-wincc-v17?dti=0&amp;lc=de-DE" TargetMode="Externa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8.xml"/><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hyperlink" Target="https://support.industry.siemens.com/cs/document/109749360/update-2-f&#252;r-simatic-s7-distributed-safety-v5-4-sp5-?dti=0&amp;lc=de-DE" TargetMode="Externa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hyperlink" Target="https://support.industry.siemens.com/cs/document/109755846/welche-systemgrenzen-enth&#228;lt-der-opc-ua-server-bei-der-s7-1500-mit-der-firmware-v2-0-x-und-v2-1-x-?dti=0&amp;lc=de-DE" TargetMode="External"/><Relationship Id="rId3" Type="http://schemas.openxmlformats.org/officeDocument/2006/relationships/hyperlink" Target="https://docs.isaacsim.omniverse.nvidia.com/latest/py/source/extensions/isaacsim.core.api/docs/index.html" TargetMode="External"/><Relationship Id="rId7" Type="http://schemas.openxmlformats.org/officeDocument/2006/relationships/hyperlink" Target="https://developer.mozilla.org/en-US/docs/Web/API/WebSockets_API" TargetMode="External"/><Relationship Id="rId2" Type="http://schemas.openxmlformats.org/officeDocument/2006/relationships/hyperlink" Target="https://docs.isaacsim.omniverse.nvidia.com/latest/py/index.html" TargetMode="External"/><Relationship Id="rId1" Type="http://schemas.openxmlformats.org/officeDocument/2006/relationships/slideLayout" Target="../slideLayouts/slideLayout2.xml"/><Relationship Id="rId6" Type="http://schemas.openxmlformats.org/officeDocument/2006/relationships/hyperlink" Target="https://requests.readthedocs.io/en/latest/" TargetMode="External"/><Relationship Id="rId5" Type="http://schemas.openxmlformats.org/officeDocument/2006/relationships/hyperlink" Target="https://eclipse.dev/paho/index.html?page=clients%252Fpython%252Findex.php" TargetMode="External"/><Relationship Id="rId4" Type="http://schemas.openxmlformats.org/officeDocument/2006/relationships/hyperlink" Target="https://docs.isaacsim.omniverse.nvidia.com/latest/py/source/extensions/isaacsim.simulation_app/docs/api.html" TargetMode="External"/><Relationship Id="rId9" Type="http://schemas.openxmlformats.org/officeDocument/2006/relationships/hyperlink" Target="https://drive.google.com/drive/folders/1gLycIRUwrtBKpwy-q5ZDQmuQyhyXUIx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522288" y="2629265"/>
            <a:ext cx="6985000" cy="1871765"/>
          </a:xfrm>
        </p:spPr>
        <p:txBody>
          <a:bodyPr/>
          <a:lstStyle/>
          <a:p>
            <a:r>
              <a:rPr lang="de-DE" sz="3600" dirty="0">
                <a:solidFill>
                  <a:schemeClr val="tx1"/>
                </a:solidFill>
                <a:cs typeface="Arial"/>
              </a:rPr>
              <a:t>Anleitung</a:t>
            </a:r>
            <a:br>
              <a:rPr lang="de-DE" sz="3600" dirty="0">
                <a:solidFill>
                  <a:schemeClr val="tx1"/>
                </a:solidFill>
                <a:cs typeface="Arial"/>
              </a:rPr>
            </a:br>
            <a:r>
              <a:rPr lang="de-DE" sz="3600" dirty="0">
                <a:solidFill>
                  <a:schemeClr val="tx1"/>
                </a:solidFill>
                <a:cs typeface="Arial"/>
              </a:rPr>
              <a:t>zur Erstellung eines </a:t>
            </a:r>
            <a:br>
              <a:rPr lang="de-DE" sz="3600" dirty="0">
                <a:solidFill>
                  <a:schemeClr val="tx1"/>
                </a:solidFill>
                <a:cs typeface="Arial"/>
              </a:rPr>
            </a:br>
            <a:r>
              <a:rPr lang="de-DE" sz="3600" dirty="0">
                <a:solidFill>
                  <a:schemeClr val="tx1"/>
                </a:solidFill>
                <a:cs typeface="Arial"/>
              </a:rPr>
              <a:t>Digitalen Zwillings der</a:t>
            </a:r>
            <a:br>
              <a:rPr lang="de-DE" sz="3600" dirty="0">
                <a:solidFill>
                  <a:schemeClr val="tx1"/>
                </a:solidFill>
                <a:cs typeface="Arial"/>
              </a:rPr>
            </a:br>
            <a:r>
              <a:rPr lang="de-DE" sz="3600" dirty="0" err="1">
                <a:solidFill>
                  <a:schemeClr val="tx1"/>
                </a:solidFill>
                <a:cs typeface="Arial"/>
              </a:rPr>
              <a:t>Mazerunner</a:t>
            </a:r>
            <a:r>
              <a:rPr lang="de-DE" sz="3600" dirty="0">
                <a:solidFill>
                  <a:schemeClr val="tx1"/>
                </a:solidFill>
                <a:cs typeface="Arial"/>
              </a:rPr>
              <a:t> Anlage</a:t>
            </a:r>
          </a:p>
        </p:txBody>
      </p:sp>
      <p:sp>
        <p:nvSpPr>
          <p:cNvPr id="4101" name="Rectangle 5"/>
          <p:cNvSpPr>
            <a:spLocks noGrp="1" noChangeArrowheads="1"/>
          </p:cNvSpPr>
          <p:nvPr>
            <p:ph type="subTitle" idx="1"/>
          </p:nvPr>
        </p:nvSpPr>
        <p:spPr>
          <a:xfrm>
            <a:off x="522288" y="5022432"/>
            <a:ext cx="6985000" cy="431382"/>
          </a:xfrm>
        </p:spPr>
        <p:txBody>
          <a:bodyPr/>
          <a:lstStyle/>
          <a:p>
            <a:r>
              <a:rPr lang="de-DE" dirty="0"/>
              <a:t>Projektarbeit von Tobias Küster 1690767</a:t>
            </a:r>
          </a:p>
          <a:p>
            <a:r>
              <a:rPr lang="de-DE" i="0" u="sng" dirty="0">
                <a:cs typeface="Arial"/>
              </a:rPr>
              <a:t>Betreut von: </a:t>
            </a:r>
            <a:br>
              <a:rPr lang="de-DE" i="0" dirty="0">
                <a:cs typeface="Arial"/>
              </a:rPr>
            </a:br>
            <a:r>
              <a:rPr lang="de-DE" b="1" i="0" dirty="0">
                <a:cs typeface="Arial"/>
              </a:rPr>
              <a:t>Prof. Diersen</a:t>
            </a:r>
          </a:p>
          <a:p>
            <a:r>
              <a:rPr lang="de-DE" b="1" i="0" dirty="0">
                <a:cs typeface="Arial"/>
              </a:rPr>
              <a:t>Dr. </a:t>
            </a:r>
            <a:r>
              <a:rPr lang="de-DE" b="1" i="0" dirty="0" err="1">
                <a:cs typeface="Arial"/>
              </a:rPr>
              <a:t>Yübo</a:t>
            </a:r>
            <a:r>
              <a:rPr lang="de-DE" b="1" i="0" dirty="0">
                <a:cs typeface="Arial"/>
              </a:rPr>
              <a:t> Wang</a:t>
            </a:r>
            <a:br>
              <a:rPr lang="de-DE" b="1" i="0" dirty="0">
                <a:cs typeface="Arial"/>
              </a:rPr>
            </a:br>
            <a:r>
              <a:rPr lang="de-DE" b="1" i="0" dirty="0">
                <a:cs typeface="Arial"/>
              </a:rPr>
              <a:t>Herrn Ernst</a:t>
            </a:r>
          </a:p>
          <a:p>
            <a:endParaRPr lang="de-DE" i="0" dirty="0">
              <a:cs typeface="Arial"/>
            </a:endParaRPr>
          </a:p>
          <a:p>
            <a:br>
              <a:rPr lang="de-DE" i="0" dirty="0">
                <a:cs typeface="Arial"/>
              </a:rPr>
            </a:br>
            <a:endParaRPr lang="de-DE" i="0" dirty="0">
              <a:cs typeface="Arial"/>
            </a:endParaRPr>
          </a:p>
        </p:txBody>
      </p:sp>
      <p:sp>
        <p:nvSpPr>
          <p:cNvPr id="2" name="Rectangle 5">
            <a:extLst>
              <a:ext uri="{FF2B5EF4-FFF2-40B4-BE49-F238E27FC236}">
                <a16:creationId xmlns:a16="http://schemas.microsoft.com/office/drawing/2014/main" id="{CD2959EC-B76F-FEF3-AD1A-9B6CA6915DF5}"/>
              </a:ext>
            </a:extLst>
          </p:cNvPr>
          <p:cNvSpPr txBox="1">
            <a:spLocks noChangeArrowheads="1"/>
          </p:cNvSpPr>
          <p:nvPr/>
        </p:nvSpPr>
        <p:spPr bwMode="auto">
          <a:xfrm>
            <a:off x="3474728" y="5022432"/>
            <a:ext cx="4032560" cy="176618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1054100" rtl="0" fontAlgn="base">
              <a:lnSpc>
                <a:spcPct val="110000"/>
              </a:lnSpc>
              <a:spcBef>
                <a:spcPct val="0"/>
              </a:spcBef>
              <a:spcAft>
                <a:spcPct val="0"/>
              </a:spcAft>
              <a:defRPr sz="2400" i="1">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a:lstStyle>
          <a:p>
            <a:endParaRPr lang="de-DE" sz="1800" i="0" kern="0">
              <a:cs typeface="Arial"/>
            </a:endParaRPr>
          </a:p>
          <a:p>
            <a:endParaRPr lang="de-DE" ker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liennummernplatzhalter 3"/>
          <p:cNvSpPr>
            <a:spLocks noGrp="1"/>
          </p:cNvSpPr>
          <p:nvPr>
            <p:ph type="sldNum" sz="quarter" idx="10"/>
          </p:nvPr>
        </p:nvSpPr>
        <p:spPr/>
        <p:txBody>
          <a:bodyPr/>
          <a:lstStyle/>
          <a:p>
            <a:r>
              <a:rPr lang="de-DE"/>
              <a:t>Seite </a:t>
            </a:r>
            <a:fld id="{39BC1543-AAC8-420D-BBBB-BCE8A35A375E}" type="slidenum">
              <a:rPr lang="de-DE"/>
              <a:pPr/>
              <a:t>2</a:t>
            </a:fld>
            <a:endParaRPr lang="de-DE"/>
          </a:p>
        </p:txBody>
      </p:sp>
      <p:sp>
        <p:nvSpPr>
          <p:cNvPr id="2050" name="Rectangle 2"/>
          <p:cNvSpPr>
            <a:spLocks noGrp="1" noChangeArrowheads="1"/>
          </p:cNvSpPr>
          <p:nvPr>
            <p:ph type="title"/>
          </p:nvPr>
        </p:nvSpPr>
        <p:spPr/>
        <p:txBody>
          <a:bodyPr/>
          <a:lstStyle/>
          <a:p>
            <a:r>
              <a:rPr lang="de-DE" dirty="0"/>
              <a:t>Inhaltsverzeichnis</a:t>
            </a:r>
            <a:endParaRPr lang="de-DE" sz="2400" i="1" dirty="0"/>
          </a:p>
        </p:txBody>
      </p:sp>
      <p:graphicFrame>
        <p:nvGraphicFramePr>
          <p:cNvPr id="2115" name="Group 67"/>
          <p:cNvGraphicFramePr>
            <a:graphicFrameLocks noGrp="1"/>
          </p:cNvGraphicFramePr>
          <p:nvPr>
            <p:ph type="tbl" idx="4294967295"/>
            <p:extLst>
              <p:ext uri="{D42A27DB-BD31-4B8C-83A1-F6EECF244321}">
                <p14:modId xmlns:p14="http://schemas.microsoft.com/office/powerpoint/2010/main" val="1915593737"/>
              </p:ext>
            </p:extLst>
          </p:nvPr>
        </p:nvGraphicFramePr>
        <p:xfrm>
          <a:off x="522288" y="1313416"/>
          <a:ext cx="8424862" cy="6947401"/>
        </p:xfrm>
        <a:graphic>
          <a:graphicData uri="http://schemas.openxmlformats.org/drawingml/2006/table">
            <a:tbl>
              <a:tblPr/>
              <a:tblGrid>
                <a:gridCol w="1197182">
                  <a:extLst>
                    <a:ext uri="{9D8B030D-6E8A-4147-A177-3AD203B41FA5}">
                      <a16:colId xmlns:a16="http://schemas.microsoft.com/office/drawing/2014/main" val="20000"/>
                    </a:ext>
                  </a:extLst>
                </a:gridCol>
                <a:gridCol w="6003718">
                  <a:extLst>
                    <a:ext uri="{9D8B030D-6E8A-4147-A177-3AD203B41FA5}">
                      <a16:colId xmlns:a16="http://schemas.microsoft.com/office/drawing/2014/main" val="20001"/>
                    </a:ext>
                  </a:extLst>
                </a:gridCol>
                <a:gridCol w="1223962">
                  <a:extLst>
                    <a:ext uri="{9D8B030D-6E8A-4147-A177-3AD203B41FA5}">
                      <a16:colId xmlns:a16="http://schemas.microsoft.com/office/drawing/2014/main" val="20002"/>
                    </a:ext>
                  </a:extLst>
                </a:gridCol>
              </a:tblGrid>
              <a:tr h="3279363">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charset="0"/>
                        </a:rPr>
                        <a:t>Kapitel 1</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a:rPr>
                        <a:t>Kapitel 2</a:t>
                      </a:r>
                    </a:p>
                    <a:p>
                      <a:pPr marL="0" marR="0" lvl="0" indent="0" algn="l" defTabSz="1054100" rtl="0" eaLnBrk="1" fontAlgn="base" latinLnBrk="0" hangingPunct="1">
                        <a:lnSpc>
                          <a:spcPct val="110000"/>
                        </a:lnSpc>
                        <a:spcBef>
                          <a:spcPct val="0"/>
                        </a:spcBef>
                        <a:spcAft>
                          <a:spcPct val="40000"/>
                        </a:spcAft>
                        <a:buClrTx/>
                        <a:buSzTx/>
                        <a:buFontTx/>
                        <a:buNone/>
                        <a:tabLst/>
                      </a:pPr>
                      <a:r>
                        <a:rPr lang="de-DE" sz="1700" b="1" i="0" u="none" strike="noStrike" cap="none" normalizeH="0" baseline="0" dirty="0">
                          <a:ln>
                            <a:noFill/>
                          </a:ln>
                          <a:solidFill>
                            <a:schemeClr val="tx1"/>
                          </a:solidFill>
                          <a:effectLst/>
                          <a:latin typeface="Arial"/>
                        </a:rPr>
                        <a:t>Kapitel</a:t>
                      </a:r>
                      <a:r>
                        <a:rPr kumimoji="0" lang="de-DE" sz="1700" b="1" i="0" u="none" strike="noStrike" cap="none" normalizeH="0" baseline="0" dirty="0">
                          <a:ln>
                            <a:noFill/>
                          </a:ln>
                          <a:solidFill>
                            <a:schemeClr val="tx1"/>
                          </a:solidFill>
                          <a:effectLst/>
                          <a:latin typeface="Arial"/>
                        </a:rPr>
                        <a:t> </a:t>
                      </a:r>
                      <a:r>
                        <a:rPr lang="de-DE" sz="1700" b="1" i="0" u="none" strike="noStrike" cap="none" normalizeH="0" baseline="0" dirty="0">
                          <a:ln>
                            <a:noFill/>
                          </a:ln>
                          <a:solidFill>
                            <a:schemeClr val="tx1"/>
                          </a:solidFill>
                          <a:effectLst/>
                          <a:latin typeface="Arial"/>
                        </a:rPr>
                        <a:t>3</a:t>
                      </a:r>
                      <a:endParaRPr kumimoji="0" lang="de-DE" sz="1700" b="1" i="0" u="none" strike="noStrike" cap="none" normalizeH="0" baseline="0" dirty="0">
                        <a:ln>
                          <a:noFill/>
                        </a:ln>
                        <a:solidFill>
                          <a:schemeClr val="tx1"/>
                        </a:solidFill>
                        <a:effectLst/>
                        <a:latin typeface="Arial"/>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a:rPr>
                        <a:t>Kapitel </a:t>
                      </a:r>
                      <a:r>
                        <a:rPr lang="de-DE" sz="1700" b="1" i="0" u="none" strike="noStrike" cap="none" normalizeH="0" baseline="0" dirty="0">
                          <a:ln>
                            <a:noFill/>
                          </a:ln>
                          <a:solidFill>
                            <a:schemeClr val="tx1"/>
                          </a:solidFill>
                          <a:effectLst/>
                          <a:latin typeface="Arial"/>
                        </a:rPr>
                        <a:t>4</a:t>
                      </a:r>
                      <a:endParaRPr kumimoji="0" lang="de-DE" sz="1700" b="1" i="0" u="none" strike="noStrike" cap="none" normalizeH="0" baseline="0" dirty="0">
                        <a:ln>
                          <a:noFill/>
                        </a:ln>
                        <a:solidFill>
                          <a:schemeClr val="tx1"/>
                        </a:solidFill>
                        <a:effectLst/>
                        <a:latin typeface="Arial"/>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charset="0"/>
                        </a:rPr>
                        <a:t>Kapitel 5</a:t>
                      </a: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charset="0"/>
                        </a:rPr>
                        <a:t>Kapitel 6</a:t>
                      </a: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charset="0"/>
                        </a:rPr>
                        <a:t>Kapitel 8</a:t>
                      </a:r>
                    </a:p>
                  </a:txBody>
                  <a:tcPr marL="0" marR="0" marT="0" marB="0" horzOverflow="overflow">
                    <a:lnL cap="flat">
                      <a:noFill/>
                    </a:lnL>
                    <a:lnR>
                      <a:noFill/>
                    </a:lnR>
                    <a:lnT cap="flat">
                      <a:noFill/>
                    </a:lnT>
                    <a:lnB cap="flat">
                      <a:noFill/>
                    </a:lnB>
                    <a:lnTlToBr>
                      <a:noFill/>
                    </a:lnTlToBr>
                    <a:lnBlToTr>
                      <a:noFill/>
                    </a:lnBlToTr>
                    <a:noFill/>
                  </a:tcPr>
                </a:tc>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Einleitung</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Anwendungsfälle und Strukturdiagramme</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Installation von Isaac Sim</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Erste Schritte in Isaac Sim</a:t>
                      </a:r>
                    </a:p>
                    <a:p>
                      <a:pPr marL="0" marR="0" lvl="0" indent="0" algn="l" defTabSz="1054100" rtl="0" eaLnBrk="1" fontAlgn="base" latinLnBrk="0" hangingPunct="1">
                        <a:lnSpc>
                          <a:spcPct val="110000"/>
                        </a:lnSpc>
                        <a:spcBef>
                          <a:spcPct val="0"/>
                        </a:spcBef>
                        <a:spcAft>
                          <a:spcPct val="40000"/>
                        </a:spcAft>
                        <a:buClrTx/>
                        <a:buSzTx/>
                        <a:buFont typeface="Arial" panose="020B0604020202020204" pitchFamily="34" charset="0"/>
                        <a:buNone/>
                        <a:tabLst/>
                      </a:pPr>
                      <a:r>
                        <a:rPr kumimoji="0" lang="de-DE" sz="1600" b="0" i="0" u="none" strike="noStrike" cap="none" normalizeH="0" baseline="0" dirty="0">
                          <a:ln>
                            <a:noFill/>
                          </a:ln>
                          <a:solidFill>
                            <a:schemeClr val="tx1"/>
                          </a:solidFill>
                          <a:effectLst/>
                          <a:latin typeface="Arial" charset="0"/>
                        </a:rPr>
                        <a:t>   </a:t>
                      </a:r>
                      <a:r>
                        <a:rPr kumimoji="0" lang="de-DE" sz="1700" b="0" i="0" u="none" strike="noStrike" cap="none" normalizeH="0" baseline="0" dirty="0">
                          <a:ln>
                            <a:noFill/>
                          </a:ln>
                          <a:solidFill>
                            <a:schemeClr val="tx1"/>
                          </a:solidFill>
                          <a:effectLst/>
                          <a:latin typeface="Arial" charset="0"/>
                        </a:rPr>
                        <a:t>Oberfläche von Isaac Sim</a:t>
                      </a:r>
                    </a:p>
                    <a:p>
                      <a:pPr marL="0" marR="0" lvl="0" indent="0" algn="l" defTabSz="1054100" rtl="0" eaLnBrk="1" fontAlgn="base" latinLnBrk="0" hangingPunct="1">
                        <a:lnSpc>
                          <a:spcPct val="110000"/>
                        </a:lnSpc>
                        <a:spcBef>
                          <a:spcPct val="0"/>
                        </a:spcBef>
                        <a:spcAft>
                          <a:spcPct val="40000"/>
                        </a:spcAft>
                        <a:buClrTx/>
                        <a:buSzTx/>
                        <a:buFont typeface="Arial" panose="020B0604020202020204" pitchFamily="34" charset="0"/>
                        <a:buNone/>
                        <a:tabLst/>
                        <a:defRPr/>
                      </a:pPr>
                      <a:r>
                        <a:rPr kumimoji="0" lang="de-DE" sz="1700" b="0" i="0" u="none" strike="noStrike" cap="none" normalizeH="0" baseline="0" dirty="0">
                          <a:ln>
                            <a:noFill/>
                          </a:ln>
                          <a:solidFill>
                            <a:schemeClr val="tx1"/>
                          </a:solidFill>
                          <a:effectLst/>
                          <a:latin typeface="Arial" charset="0"/>
                        </a:rPr>
                        <a:t>   Bewegliche-/ starre Teile</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Gelenke und Antriebe</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   Dreh- und Schubgelenke mit Antrieb</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   Verschachtelte Gelenke</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Zu der Extension</a:t>
                      </a:r>
                    </a:p>
                    <a:p>
                      <a:pPr marL="0" marR="0" lvl="0" indent="0" algn="l" defTabSz="1054100" rtl="0" eaLnBrk="1" fontAlgn="base" latinLnBrk="0" hangingPunct="1">
                        <a:lnSpc>
                          <a:spcPct val="110000"/>
                        </a:lnSpc>
                        <a:spcBef>
                          <a:spcPct val="0"/>
                        </a:spcBef>
                        <a:spcAft>
                          <a:spcPct val="40000"/>
                        </a:spcAft>
                        <a:buClrTx/>
                        <a:buSzTx/>
                        <a:buFontTx/>
                        <a:buNone/>
                        <a:tabLst/>
                        <a:defRPr/>
                      </a:pPr>
                      <a:r>
                        <a:rPr kumimoji="0" lang="de-DE" sz="1700" b="0" i="0" u="none" strike="noStrike" cap="none" normalizeH="0" baseline="0" dirty="0">
                          <a:ln>
                            <a:noFill/>
                          </a:ln>
                          <a:solidFill>
                            <a:schemeClr val="tx1"/>
                          </a:solidFill>
                          <a:effectLst/>
                          <a:latin typeface="Arial" charset="0"/>
                        </a:rPr>
                        <a:t>   Ausführung von Quellcode in Isaac Sim</a:t>
                      </a:r>
                    </a:p>
                    <a:p>
                      <a:pPr marL="0" marR="0" lvl="0" indent="0" algn="l" defTabSz="1054100" rtl="0" eaLnBrk="1" fontAlgn="base" latinLnBrk="0" hangingPunct="1">
                        <a:lnSpc>
                          <a:spcPct val="110000"/>
                        </a:lnSpc>
                        <a:spcBef>
                          <a:spcPct val="0"/>
                        </a:spcBef>
                        <a:spcAft>
                          <a:spcPct val="40000"/>
                        </a:spcAft>
                        <a:buClrTx/>
                        <a:buSzTx/>
                        <a:buFontTx/>
                        <a:buNone/>
                        <a:tabLst/>
                        <a:defRPr/>
                      </a:pPr>
                      <a:r>
                        <a:rPr kumimoji="0" lang="de-DE" sz="1700" b="0" i="0" u="none" strike="noStrike" cap="none" normalizeH="0" baseline="0" dirty="0">
                          <a:ln>
                            <a:noFill/>
                          </a:ln>
                          <a:solidFill>
                            <a:schemeClr val="tx1"/>
                          </a:solidFill>
                          <a:effectLst/>
                          <a:latin typeface="Arial" charset="0"/>
                        </a:rPr>
                        <a:t>   Einbinden der Extension</a:t>
                      </a:r>
                    </a:p>
                    <a:p>
                      <a:pPr marL="0" marR="0" lvl="0" indent="0" algn="l" defTabSz="1054100" rtl="0" eaLnBrk="1" fontAlgn="base" latinLnBrk="0" hangingPunct="1">
                        <a:lnSpc>
                          <a:spcPct val="110000"/>
                        </a:lnSpc>
                        <a:spcBef>
                          <a:spcPct val="0"/>
                        </a:spcBef>
                        <a:spcAft>
                          <a:spcPct val="40000"/>
                        </a:spcAft>
                        <a:buClrTx/>
                        <a:buSzTx/>
                        <a:buFontTx/>
                        <a:buNone/>
                        <a:tabLst/>
                        <a:defRPr/>
                      </a:pPr>
                      <a:r>
                        <a:rPr kumimoji="0" lang="de-DE" sz="1700" b="0" i="0" u="none" strike="noStrike" cap="none" normalizeH="0" baseline="0" dirty="0">
                          <a:ln>
                            <a:noFill/>
                          </a:ln>
                          <a:solidFill>
                            <a:schemeClr val="tx1"/>
                          </a:solidFill>
                          <a:effectLst/>
                          <a:latin typeface="Arial" charset="0"/>
                        </a:rPr>
                        <a:t>   Lokaler OPC-UA Server </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Zu TIA Portal</a:t>
                      </a:r>
                    </a:p>
                  </a:txBody>
                  <a:tcPr marL="0" marR="0" marT="0" marB="0" horzOverflow="overflow">
                    <a:lnL>
                      <a:noFill/>
                    </a:lnL>
                    <a:lnR>
                      <a:noFill/>
                    </a:lnR>
                    <a:lnT cap="flat">
                      <a:noFill/>
                    </a:lnT>
                    <a:lnB cap="flat">
                      <a:noFill/>
                    </a:lnB>
                    <a:lnTlToBr>
                      <a:noFill/>
                    </a:lnTlToBr>
                    <a:lnBlToTr>
                      <a:noFill/>
                    </a:lnBlToTr>
                    <a:noFill/>
                  </a:tcPr>
                </a:tc>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1" u="none" strike="noStrike" cap="none" normalizeH="0" baseline="0" dirty="0">
                          <a:ln>
                            <a:noFill/>
                          </a:ln>
                          <a:solidFill>
                            <a:schemeClr val="tx1"/>
                          </a:solidFill>
                          <a:effectLst/>
                          <a:latin typeface="Arial"/>
                        </a:rPr>
                        <a:t>Folie 4</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1" u="none" strike="noStrike" cap="none" normalizeH="0" baseline="0" dirty="0">
                          <a:ln>
                            <a:noFill/>
                          </a:ln>
                          <a:solidFill>
                            <a:schemeClr val="tx1"/>
                          </a:solidFill>
                          <a:effectLst/>
                          <a:latin typeface="+mn-lt"/>
                        </a:rPr>
                        <a:t>Folie </a:t>
                      </a:r>
                      <a:r>
                        <a:rPr kumimoji="0" lang="de-DE" sz="1700" b="0" i="1" u="none" strike="noStrike" cap="none" normalizeH="0" baseline="0" dirty="0">
                          <a:ln>
                            <a:noFill/>
                          </a:ln>
                          <a:solidFill>
                            <a:schemeClr val="tx1"/>
                          </a:solidFill>
                          <a:effectLst/>
                          <a:latin typeface="Arial" charset="0"/>
                        </a:rPr>
                        <a:t>8</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1" u="none" strike="noStrike" cap="none" normalizeH="0" baseline="0" dirty="0">
                          <a:ln>
                            <a:noFill/>
                          </a:ln>
                          <a:solidFill>
                            <a:schemeClr val="tx1"/>
                          </a:solidFill>
                          <a:effectLst/>
                          <a:latin typeface="+mn-lt"/>
                        </a:rPr>
                        <a:t>Folie </a:t>
                      </a:r>
                      <a:r>
                        <a:rPr kumimoji="0" lang="de-DE" sz="1700" b="0" i="1" u="none" strike="noStrike" cap="none" normalizeH="0" baseline="0" dirty="0">
                          <a:ln>
                            <a:noFill/>
                          </a:ln>
                          <a:solidFill>
                            <a:schemeClr val="tx1"/>
                          </a:solidFill>
                          <a:effectLst/>
                          <a:latin typeface="Arial" charset="0"/>
                        </a:rPr>
                        <a:t>11</a:t>
                      </a: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1" u="none" strike="noStrike" cap="none" normalizeH="0" baseline="0" dirty="0">
                          <a:ln>
                            <a:noFill/>
                          </a:ln>
                          <a:solidFill>
                            <a:schemeClr val="tx1"/>
                          </a:solidFill>
                          <a:effectLst/>
                          <a:latin typeface="+mn-lt"/>
                        </a:rPr>
                        <a:t>Folie </a:t>
                      </a:r>
                      <a:r>
                        <a:rPr kumimoji="0" lang="de-DE" sz="1700" b="0" i="1" u="none" strike="noStrike" cap="none" normalizeH="0" baseline="0" dirty="0">
                          <a:ln>
                            <a:noFill/>
                          </a:ln>
                          <a:solidFill>
                            <a:schemeClr val="tx1"/>
                          </a:solidFill>
                          <a:effectLst/>
                          <a:latin typeface="Arial" charset="0"/>
                        </a:rPr>
                        <a:t>17</a:t>
                      </a: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defRPr/>
                      </a:pPr>
                      <a:r>
                        <a:rPr kumimoji="0" lang="de-DE" sz="1700" b="0" i="1" u="none" strike="noStrike" cap="none" normalizeH="0" baseline="0" dirty="0">
                          <a:ln>
                            <a:noFill/>
                          </a:ln>
                          <a:solidFill>
                            <a:schemeClr val="tx1"/>
                          </a:solidFill>
                          <a:effectLst/>
                          <a:latin typeface="Arial" charset="0"/>
                        </a:rPr>
                        <a:t>Folie 22</a:t>
                      </a:r>
                    </a:p>
                    <a:p>
                      <a:pPr marL="0" marR="0" lvl="0" indent="0" algn="l" defTabSz="1054100" rtl="0" eaLnBrk="1" fontAlgn="base" latinLnBrk="0" hangingPunct="1">
                        <a:lnSpc>
                          <a:spcPct val="110000"/>
                        </a:lnSpc>
                        <a:spcBef>
                          <a:spcPct val="0"/>
                        </a:spcBef>
                        <a:spcAft>
                          <a:spcPct val="40000"/>
                        </a:spcAft>
                        <a:buClrTx/>
                        <a:buSzTx/>
                        <a:buFontTx/>
                        <a:buNone/>
                        <a:tabLst/>
                        <a:defRPr/>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defRPr/>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defRPr/>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defRPr/>
                      </a:pPr>
                      <a:r>
                        <a:rPr kumimoji="0" lang="de-DE" sz="1700" b="0" i="1" u="none" strike="noStrike" cap="none" normalizeH="0" baseline="0" dirty="0">
                          <a:ln>
                            <a:noFill/>
                          </a:ln>
                          <a:solidFill>
                            <a:schemeClr val="tx1"/>
                          </a:solidFill>
                          <a:effectLst/>
                          <a:latin typeface="Arial" charset="0"/>
                        </a:rPr>
                        <a:t>Folie 45</a:t>
                      </a:r>
                    </a:p>
                  </a:txBody>
                  <a:tcPr marL="0" marR="0" marT="0" marB="0"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r h="1632451">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txBody>
                  <a:tcPr marL="0" marR="0" marT="0" marB="0" horzOverflow="overflow">
                    <a:lnL cap="flat">
                      <a:noFill/>
                    </a:lnL>
                    <a:lnR>
                      <a:noFill/>
                    </a:lnR>
                    <a:lnT cap="flat">
                      <a:noFill/>
                    </a:lnT>
                    <a:lnB cap="flat">
                      <a:noFill/>
                    </a:lnB>
                    <a:lnTlToBr>
                      <a:noFill/>
                    </a:lnTlToBr>
                    <a:lnBlToTr>
                      <a:noFill/>
                    </a:lnBlToTr>
                    <a:noFill/>
                  </a:tcPr>
                </a:tc>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0" u="none" strike="noStrike" cap="none" normalizeH="0" baseline="0" dirty="0">
                        <a:ln>
                          <a:noFill/>
                        </a:ln>
                        <a:solidFill>
                          <a:schemeClr val="tx1"/>
                        </a:solidFill>
                        <a:effectLst/>
                        <a:latin typeface="Arial" charset="0"/>
                      </a:endParaRPr>
                    </a:p>
                  </a:txBody>
                  <a:tcPr marL="0" marR="0" marT="0" marB="0" horzOverflow="overflow">
                    <a:lnL>
                      <a:noFill/>
                    </a:lnL>
                    <a:lnR>
                      <a:noFill/>
                    </a:lnR>
                    <a:lnT cap="flat">
                      <a:noFill/>
                    </a:lnT>
                    <a:lnB cap="flat">
                      <a:noFill/>
                    </a:lnB>
                    <a:lnTlToBr>
                      <a:noFill/>
                    </a:lnTlToBr>
                    <a:lnBlToTr>
                      <a:noFill/>
                    </a:lnBlToTr>
                    <a:noFill/>
                  </a:tcPr>
                </a:tc>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charset="0"/>
                      </a:endParaRPr>
                    </a:p>
                  </a:txBody>
                  <a:tcPr marL="0" marR="0" marT="0" marB="0"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395781221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6545FE-E526-4CF6-944F-658377D91C9E}"/>
              </a:ext>
            </a:extLst>
          </p:cNvPr>
          <p:cNvSpPr>
            <a:spLocks noGrp="1"/>
          </p:cNvSpPr>
          <p:nvPr>
            <p:ph type="title"/>
          </p:nvPr>
        </p:nvSpPr>
        <p:spPr/>
        <p:txBody>
          <a:bodyPr/>
          <a:lstStyle/>
          <a:p>
            <a:r>
              <a:rPr lang="de-DE" dirty="0"/>
              <a:t>Einleitung</a:t>
            </a:r>
          </a:p>
        </p:txBody>
      </p:sp>
      <p:sp>
        <p:nvSpPr>
          <p:cNvPr id="3" name="Foliennummernplatzhalter 2">
            <a:extLst>
              <a:ext uri="{FF2B5EF4-FFF2-40B4-BE49-F238E27FC236}">
                <a16:creationId xmlns:a16="http://schemas.microsoft.com/office/drawing/2014/main" id="{DB6E9C5D-9287-465F-8B24-356836CA764B}"/>
              </a:ext>
            </a:extLst>
          </p:cNvPr>
          <p:cNvSpPr>
            <a:spLocks noGrp="1"/>
          </p:cNvSpPr>
          <p:nvPr>
            <p:ph type="sldNum" sz="quarter" idx="10"/>
          </p:nvPr>
        </p:nvSpPr>
        <p:spPr/>
        <p:txBody>
          <a:bodyPr/>
          <a:lstStyle/>
          <a:p>
            <a:r>
              <a:rPr lang="de-DE"/>
              <a:t>Seite </a:t>
            </a:r>
            <a:fld id="{40192516-3A96-4AF1-ACCE-4FA25417AC18}" type="slidenum">
              <a:rPr lang="de-DE" smtClean="0"/>
              <a:pPr/>
              <a:t>3</a:t>
            </a:fld>
            <a:endParaRPr lang="de-DE"/>
          </a:p>
        </p:txBody>
      </p:sp>
      <p:sp>
        <p:nvSpPr>
          <p:cNvPr id="4" name="Textplatzhalter 3">
            <a:extLst>
              <a:ext uri="{FF2B5EF4-FFF2-40B4-BE49-F238E27FC236}">
                <a16:creationId xmlns:a16="http://schemas.microsoft.com/office/drawing/2014/main" id="{ED4D653A-CAA1-47CF-8E92-88771FC643C8}"/>
              </a:ext>
            </a:extLst>
          </p:cNvPr>
          <p:cNvSpPr>
            <a:spLocks noGrp="1"/>
          </p:cNvSpPr>
          <p:nvPr>
            <p:ph type="body" sz="quarter" idx="11"/>
          </p:nvPr>
        </p:nvSpPr>
        <p:spPr>
          <a:xfrm>
            <a:off x="522288" y="2109788"/>
            <a:ext cx="8424862" cy="4559300"/>
          </a:xfrm>
        </p:spPr>
        <p:txBody>
          <a:bodyPr/>
          <a:lstStyle/>
          <a:p>
            <a:pPr algn="just"/>
            <a:r>
              <a:rPr lang="de-DE" dirty="0"/>
              <a:t>Diese Anleitung beschreibt den methodischen Aufbau eines physikalisch korrekten Digitalen Zwillings in </a:t>
            </a:r>
            <a:r>
              <a:rPr lang="de-DE" b="1" dirty="0"/>
              <a:t>NVIDIA Isaac Sim</a:t>
            </a:r>
            <a:r>
              <a:rPr lang="de-DE" dirty="0"/>
              <a:t> am Beispiel der Anlage </a:t>
            </a:r>
            <a:r>
              <a:rPr lang="de-DE" b="1" dirty="0"/>
              <a:t>Maze Runner</a:t>
            </a:r>
            <a:r>
              <a:rPr lang="de-DE" dirty="0"/>
              <a:t>. </a:t>
            </a:r>
            <a:br>
              <a:rPr lang="de-DE" dirty="0"/>
            </a:br>
            <a:r>
              <a:rPr lang="de-DE" dirty="0"/>
              <a:t>Der Fokus liegt auf der Überführung von CAD-Baugruppen in eine funktionale Simulationsumgebung, wobei die Modellierung von Massenverteilungen, Außenhüllen sowie die Implementierung von Schub- und Drehgelenken und deren Antriebe im Vordergrund stehen. Zur </a:t>
            </a:r>
            <a:r>
              <a:rPr lang="de-DE" dirty="0" err="1"/>
              <a:t>Aktuierung</a:t>
            </a:r>
            <a:r>
              <a:rPr lang="de-DE" dirty="0"/>
              <a:t> der Gelenke wird eine bereitgestellte Extension genutzt, die über ein integriertes Control Panel Gelenke in Zielpositionen fährt. Während die reale Anlage über Siemens-SPS-Steuerungen und die Digital Twin App der Hochschule Rhein-Main betrieben wird, kann das hier erstellte Modell auch als alleinstehende Instanz zur fotorealistischen Visualisierung und physikalischen Validierung genutzt werden. Die Anleitung ist als lizenzfreier </a:t>
            </a:r>
            <a:r>
              <a:rPr lang="de-DE" dirty="0" err="1"/>
              <a:t>Step</a:t>
            </a:r>
            <a:r>
              <a:rPr lang="de-DE" dirty="0"/>
              <a:t>-</a:t>
            </a:r>
            <a:r>
              <a:rPr lang="de-DE" dirty="0" err="1"/>
              <a:t>by</a:t>
            </a:r>
            <a:r>
              <a:rPr lang="de-DE" dirty="0"/>
              <a:t>-</a:t>
            </a:r>
            <a:r>
              <a:rPr lang="de-DE" dirty="0" err="1"/>
              <a:t>Step</a:t>
            </a:r>
            <a:r>
              <a:rPr lang="de-DE" dirty="0"/>
              <a:t>-Guide konzipiert, erfordert keine Programmierkenntnisse und adressiert potenzielle Versionskonflikte der noch jungen Software durch spezifische Troubleshooting-Abschnitte am Ende jedes Kapitels.</a:t>
            </a:r>
          </a:p>
        </p:txBody>
      </p:sp>
    </p:spTree>
    <p:extLst>
      <p:ext uri="{BB962C8B-B14F-4D97-AF65-F5344CB8AC3E}">
        <p14:creationId xmlns:p14="http://schemas.microsoft.com/office/powerpoint/2010/main" val="3335013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9AE7D0-F6AF-44D8-BA21-BED28B66C883}"/>
              </a:ext>
            </a:extLst>
          </p:cNvPr>
          <p:cNvSpPr>
            <a:spLocks noGrp="1"/>
          </p:cNvSpPr>
          <p:nvPr>
            <p:ph type="title"/>
          </p:nvPr>
        </p:nvSpPr>
        <p:spPr/>
        <p:txBody>
          <a:bodyPr/>
          <a:lstStyle/>
          <a:p>
            <a:r>
              <a:rPr lang="de-DE" dirty="0"/>
              <a:t>Use Case Matrix Variable setzen </a:t>
            </a:r>
          </a:p>
        </p:txBody>
      </p:sp>
      <p:sp>
        <p:nvSpPr>
          <p:cNvPr id="3" name="Foliennummernplatzhalter 2">
            <a:extLst>
              <a:ext uri="{FF2B5EF4-FFF2-40B4-BE49-F238E27FC236}">
                <a16:creationId xmlns:a16="http://schemas.microsoft.com/office/drawing/2014/main" id="{2B7E7F6E-02F4-42C4-89D3-622968D9C24B}"/>
              </a:ext>
            </a:extLst>
          </p:cNvPr>
          <p:cNvSpPr>
            <a:spLocks noGrp="1"/>
          </p:cNvSpPr>
          <p:nvPr>
            <p:ph type="sldNum" sz="quarter" idx="10"/>
          </p:nvPr>
        </p:nvSpPr>
        <p:spPr/>
        <p:txBody>
          <a:bodyPr/>
          <a:lstStyle/>
          <a:p>
            <a:r>
              <a:rPr lang="de-DE"/>
              <a:t>Seite </a:t>
            </a:r>
            <a:fld id="{40192516-3A96-4AF1-ACCE-4FA25417AC18}" type="slidenum">
              <a:rPr lang="de-DE" smtClean="0"/>
              <a:pPr/>
              <a:t>4</a:t>
            </a:fld>
            <a:endParaRPr lang="de-DE"/>
          </a:p>
        </p:txBody>
      </p:sp>
      <p:graphicFrame>
        <p:nvGraphicFramePr>
          <p:cNvPr id="5" name="Tabelle 4">
            <a:extLst>
              <a:ext uri="{FF2B5EF4-FFF2-40B4-BE49-F238E27FC236}">
                <a16:creationId xmlns:a16="http://schemas.microsoft.com/office/drawing/2014/main" id="{1D8B9450-EA72-4EB4-9D96-3D879E69264E}"/>
              </a:ext>
            </a:extLst>
          </p:cNvPr>
          <p:cNvGraphicFramePr>
            <a:graphicFrameLocks noGrp="1"/>
          </p:cNvGraphicFramePr>
          <p:nvPr>
            <p:extLst>
              <p:ext uri="{D42A27DB-BD31-4B8C-83A1-F6EECF244321}">
                <p14:modId xmlns:p14="http://schemas.microsoft.com/office/powerpoint/2010/main" val="3802711243"/>
              </p:ext>
            </p:extLst>
          </p:nvPr>
        </p:nvGraphicFramePr>
        <p:xfrm>
          <a:off x="522288" y="1146175"/>
          <a:ext cx="9952801" cy="5745162"/>
        </p:xfrm>
        <a:graphic>
          <a:graphicData uri="http://schemas.openxmlformats.org/drawingml/2006/table">
            <a:tbl>
              <a:tblPr firstRow="1" bandRow="1">
                <a:tableStyleId>{5C22544A-7EE6-4342-B048-85BDC9FD1C3A}</a:tableStyleId>
              </a:tblPr>
              <a:tblGrid>
                <a:gridCol w="1885451">
                  <a:extLst>
                    <a:ext uri="{9D8B030D-6E8A-4147-A177-3AD203B41FA5}">
                      <a16:colId xmlns:a16="http://schemas.microsoft.com/office/drawing/2014/main" val="4081161580"/>
                    </a:ext>
                  </a:extLst>
                </a:gridCol>
                <a:gridCol w="2318783">
                  <a:extLst>
                    <a:ext uri="{9D8B030D-6E8A-4147-A177-3AD203B41FA5}">
                      <a16:colId xmlns:a16="http://schemas.microsoft.com/office/drawing/2014/main" val="3374730907"/>
                    </a:ext>
                  </a:extLst>
                </a:gridCol>
                <a:gridCol w="2947493">
                  <a:extLst>
                    <a:ext uri="{9D8B030D-6E8A-4147-A177-3AD203B41FA5}">
                      <a16:colId xmlns:a16="http://schemas.microsoft.com/office/drawing/2014/main" val="776945496"/>
                    </a:ext>
                  </a:extLst>
                </a:gridCol>
                <a:gridCol w="2801074">
                  <a:extLst>
                    <a:ext uri="{9D8B030D-6E8A-4147-A177-3AD203B41FA5}">
                      <a16:colId xmlns:a16="http://schemas.microsoft.com/office/drawing/2014/main" val="1984619517"/>
                    </a:ext>
                  </a:extLst>
                </a:gridCol>
              </a:tblGrid>
              <a:tr h="774172">
                <a:tc>
                  <a:txBody>
                    <a:bodyPr/>
                    <a:lstStyle/>
                    <a:p>
                      <a:pPr algn="l" fontAlgn="b" latinLnBrk="0"/>
                      <a:r>
                        <a:rPr lang="de-DE" b="1" dirty="0">
                          <a:effectLst/>
                        </a:rPr>
                        <a:t>Kriterium</a:t>
                      </a:r>
                    </a:p>
                  </a:txBody>
                  <a:tcPr marL="60960" marR="60960" marT="60960" marB="60960" anchor="b"/>
                </a:tc>
                <a:tc>
                  <a:txBody>
                    <a:bodyPr/>
                    <a:lstStyle/>
                    <a:p>
                      <a:pPr algn="l" fontAlgn="b" latinLnBrk="0"/>
                      <a:r>
                        <a:rPr lang="de-DE" b="1" dirty="0">
                          <a:effectLst/>
                        </a:rPr>
                        <a:t>Physikalisch (Labor)</a:t>
                      </a:r>
                    </a:p>
                  </a:txBody>
                  <a:tcPr marL="60960" marR="60960" marT="60960" marB="60960" anchor="b"/>
                </a:tc>
                <a:tc>
                  <a:txBody>
                    <a:bodyPr/>
                    <a:lstStyle/>
                    <a:p>
                      <a:pPr algn="l" fontAlgn="b" latinLnBrk="0"/>
                      <a:r>
                        <a:rPr lang="de-DE" b="1" dirty="0">
                          <a:effectLst/>
                        </a:rPr>
                        <a:t>Lokal an Anlage </a:t>
                      </a:r>
                      <a:br>
                        <a:rPr lang="de-DE" b="1" dirty="0">
                          <a:effectLst/>
                        </a:rPr>
                      </a:br>
                      <a:r>
                        <a:rPr lang="de-DE" b="1" dirty="0">
                          <a:effectLst/>
                        </a:rPr>
                        <a:t>(OPC UA + </a:t>
                      </a:r>
                      <a:r>
                        <a:rPr lang="de-DE" b="1" dirty="0" err="1">
                          <a:effectLst/>
                        </a:rPr>
                        <a:t>Omni</a:t>
                      </a:r>
                      <a:r>
                        <a:rPr lang="de-DE" b="1" dirty="0">
                          <a:effectLst/>
                        </a:rPr>
                        <a:t> </a:t>
                      </a:r>
                      <a:r>
                        <a:rPr lang="de-DE" b="1" dirty="0" err="1">
                          <a:effectLst/>
                        </a:rPr>
                        <a:t>Extens</a:t>
                      </a:r>
                      <a:r>
                        <a:rPr lang="de-DE" b="1" dirty="0">
                          <a:effectLst/>
                        </a:rPr>
                        <a:t>.)</a:t>
                      </a:r>
                    </a:p>
                  </a:txBody>
                  <a:tcPr marL="60960" marR="60960" marT="60960" marB="60960" anchor="b"/>
                </a:tc>
                <a:tc>
                  <a:txBody>
                    <a:bodyPr/>
                    <a:lstStyle/>
                    <a:p>
                      <a:pPr algn="l" fontAlgn="b" latinLnBrk="0"/>
                      <a:r>
                        <a:rPr lang="de-DE" b="1" dirty="0" err="1">
                          <a:effectLst/>
                        </a:rPr>
                        <a:t>Omni</a:t>
                      </a:r>
                      <a:r>
                        <a:rPr lang="de-DE" b="1" dirty="0">
                          <a:effectLst/>
                        </a:rPr>
                        <a:t> </a:t>
                      </a:r>
                      <a:r>
                        <a:rPr lang="de-DE" b="1" dirty="0" err="1">
                          <a:effectLst/>
                        </a:rPr>
                        <a:t>Extens</a:t>
                      </a:r>
                      <a:r>
                        <a:rPr lang="de-DE" b="1" dirty="0">
                          <a:effectLst/>
                        </a:rPr>
                        <a:t>. via Digital Twin Service</a:t>
                      </a:r>
                    </a:p>
                  </a:txBody>
                  <a:tcPr marL="60960" marR="60960" marT="60960" marB="60960" anchor="b"/>
                </a:tc>
                <a:extLst>
                  <a:ext uri="{0D108BD9-81ED-4DB2-BD59-A6C34878D82A}">
                    <a16:rowId xmlns:a16="http://schemas.microsoft.com/office/drawing/2014/main" val="3579049500"/>
                  </a:ext>
                </a:extLst>
              </a:tr>
              <a:tr h="1041163">
                <a:tc>
                  <a:txBody>
                    <a:bodyPr/>
                    <a:lstStyle/>
                    <a:p>
                      <a:pPr fontAlgn="base" latinLnBrk="0"/>
                      <a:r>
                        <a:rPr lang="de-DE" b="0" dirty="0">
                          <a:effectLst/>
                        </a:rPr>
                        <a:t>User-Aktivität</a:t>
                      </a:r>
                    </a:p>
                  </a:txBody>
                  <a:tcPr marL="60960" marR="60960" anchor="ctr"/>
                </a:tc>
                <a:tc>
                  <a:txBody>
                    <a:bodyPr/>
                    <a:lstStyle/>
                    <a:p>
                      <a:pPr fontAlgn="base" latinLnBrk="0"/>
                      <a:r>
                        <a:rPr lang="de-DE" b="0" dirty="0">
                          <a:effectLst/>
                        </a:rPr>
                        <a:t>Taster an der Anlage</a:t>
                      </a:r>
                      <a:br>
                        <a:rPr lang="de-DE" b="0" dirty="0">
                          <a:effectLst/>
                        </a:rPr>
                      </a:br>
                      <a:r>
                        <a:rPr lang="de-DE" b="0" dirty="0">
                          <a:effectLst/>
                        </a:rPr>
                        <a:t>betätigen</a:t>
                      </a:r>
                    </a:p>
                  </a:txBody>
                  <a:tcPr marL="60960" marR="60960" anchor="ctr"/>
                </a:tc>
                <a:tc>
                  <a:txBody>
                    <a:bodyPr/>
                    <a:lstStyle/>
                    <a:p>
                      <a:pPr fontAlgn="base" latinLnBrk="0"/>
                      <a:r>
                        <a:rPr lang="de-DE" b="0" dirty="0">
                          <a:effectLst/>
                        </a:rPr>
                        <a:t>Schaltfläche im Omniverse HMI betätigen</a:t>
                      </a:r>
                    </a:p>
                  </a:txBody>
                  <a:tcPr marL="60960" marR="60960" anchor="ctr"/>
                </a:tc>
                <a:tc>
                  <a:txBody>
                    <a:bodyPr/>
                    <a:lstStyle/>
                    <a:p>
                      <a:pPr fontAlgn="base" latinLnBrk="0"/>
                      <a:r>
                        <a:rPr lang="de-DE" b="0" dirty="0">
                          <a:effectLst/>
                        </a:rPr>
                        <a:t>Schaltfläche im Omniverse HMI betätigen</a:t>
                      </a:r>
                    </a:p>
                  </a:txBody>
                  <a:tcPr marL="60960" marR="60960" anchor="ctr"/>
                </a:tc>
                <a:extLst>
                  <a:ext uri="{0D108BD9-81ED-4DB2-BD59-A6C34878D82A}">
                    <a16:rowId xmlns:a16="http://schemas.microsoft.com/office/drawing/2014/main" val="3877269597"/>
                  </a:ext>
                </a:extLst>
              </a:tr>
              <a:tr h="845639">
                <a:tc>
                  <a:txBody>
                    <a:bodyPr/>
                    <a:lstStyle/>
                    <a:p>
                      <a:pPr fontAlgn="base" latinLnBrk="0"/>
                      <a:r>
                        <a:rPr lang="de-DE" b="0">
                          <a:effectLst/>
                        </a:rPr>
                        <a:t>Was passiert?</a:t>
                      </a:r>
                    </a:p>
                  </a:txBody>
                  <a:tcPr marL="60960" marR="60960" anchor="ctr"/>
                </a:tc>
                <a:tc>
                  <a:txBody>
                    <a:bodyPr/>
                    <a:lstStyle/>
                    <a:p>
                      <a:pPr fontAlgn="base" latinLnBrk="0"/>
                      <a:r>
                        <a:rPr lang="de-DE" b="0" dirty="0">
                          <a:effectLst/>
                        </a:rPr>
                        <a:t>SPS-Variable direkt intern gesetzt</a:t>
                      </a:r>
                    </a:p>
                  </a:txBody>
                  <a:tcPr marL="60960" marR="60960" anchor="ctr"/>
                </a:tc>
                <a:tc>
                  <a:txBody>
                    <a:bodyPr/>
                    <a:lstStyle/>
                    <a:p>
                      <a:pPr fontAlgn="base" latinLnBrk="0"/>
                      <a:r>
                        <a:rPr lang="de-DE" b="0" dirty="0">
                          <a:effectLst/>
                        </a:rPr>
                        <a:t>OPC UA </a:t>
                      </a:r>
                      <a:r>
                        <a:rPr lang="de-DE" dirty="0"/>
                        <a:t>Write Service</a:t>
                      </a:r>
                      <a:endParaRPr lang="de-DE" b="0" dirty="0">
                        <a:effectLst/>
                      </a:endParaRPr>
                    </a:p>
                  </a:txBody>
                  <a:tcPr marL="60960" marR="60960" anchor="ctr"/>
                </a:tc>
                <a:tc>
                  <a:txBody>
                    <a:bodyPr/>
                    <a:lstStyle/>
                    <a:p>
                      <a:pPr fontAlgn="base" latinLnBrk="0"/>
                      <a:r>
                        <a:rPr lang="de-DE" dirty="0"/>
                        <a:t>REST-API Call (HTTP POST) </a:t>
                      </a:r>
                      <a:r>
                        <a:rPr lang="de-DE" dirty="0" err="1"/>
                        <a:t>DigitalTwinService</a:t>
                      </a:r>
                      <a:endParaRPr lang="de-DE" b="0" dirty="0">
                        <a:effectLst/>
                      </a:endParaRPr>
                    </a:p>
                  </a:txBody>
                  <a:tcPr marL="60960" marR="60960" anchor="ctr"/>
                </a:tc>
                <a:extLst>
                  <a:ext uri="{0D108BD9-81ED-4DB2-BD59-A6C34878D82A}">
                    <a16:rowId xmlns:a16="http://schemas.microsoft.com/office/drawing/2014/main" val="4092709086"/>
                  </a:ext>
                </a:extLst>
              </a:tr>
              <a:tr h="774172">
                <a:tc>
                  <a:txBody>
                    <a:bodyPr/>
                    <a:lstStyle/>
                    <a:p>
                      <a:pPr fontAlgn="base" latinLnBrk="0"/>
                      <a:r>
                        <a:rPr lang="de-DE" b="0">
                          <a:effectLst/>
                        </a:rPr>
                        <a:t>Wo passiert es?</a:t>
                      </a:r>
                    </a:p>
                  </a:txBody>
                  <a:tcPr marL="60960" marR="60960" anchor="ctr"/>
                </a:tc>
                <a:tc>
                  <a:txBody>
                    <a:bodyPr/>
                    <a:lstStyle/>
                    <a:p>
                      <a:pPr fontAlgn="base" latinLnBrk="0"/>
                      <a:r>
                        <a:rPr lang="de-DE" b="0" dirty="0">
                          <a:effectLst/>
                        </a:rPr>
                        <a:t>Innerhalb der SPS</a:t>
                      </a:r>
                    </a:p>
                  </a:txBody>
                  <a:tcPr marL="60960" marR="60960" anchor="ctr"/>
                </a:tc>
                <a:tc>
                  <a:txBody>
                    <a:bodyPr/>
                    <a:lstStyle/>
                    <a:p>
                      <a:pPr fontAlgn="base" latinLnBrk="0"/>
                      <a:r>
                        <a:rPr lang="de-DE" b="0">
                          <a:effectLst/>
                        </a:rPr>
                        <a:t>Omniverse + lokales Netz</a:t>
                      </a:r>
                    </a:p>
                  </a:txBody>
                  <a:tcPr marL="60960" marR="60960" anchor="ctr"/>
                </a:tc>
                <a:tc>
                  <a:txBody>
                    <a:bodyPr/>
                    <a:lstStyle/>
                    <a:p>
                      <a:pPr fontAlgn="base" latinLnBrk="0"/>
                      <a:r>
                        <a:rPr lang="de-DE" b="0">
                          <a:effectLst/>
                        </a:rPr>
                        <a:t>Omniverse + Internet/VPN</a:t>
                      </a:r>
                    </a:p>
                  </a:txBody>
                  <a:tcPr marL="60960" marR="60960" anchor="ctr"/>
                </a:tc>
                <a:extLst>
                  <a:ext uri="{0D108BD9-81ED-4DB2-BD59-A6C34878D82A}">
                    <a16:rowId xmlns:a16="http://schemas.microsoft.com/office/drawing/2014/main" val="9540249"/>
                  </a:ext>
                </a:extLst>
              </a:tr>
              <a:tr h="1269230">
                <a:tc>
                  <a:txBody>
                    <a:bodyPr/>
                    <a:lstStyle/>
                    <a:p>
                      <a:pPr fontAlgn="base" latinLnBrk="0"/>
                      <a:r>
                        <a:rPr lang="de-DE" b="0">
                          <a:effectLst/>
                        </a:rPr>
                        <a:t>Wie passiert es?</a:t>
                      </a:r>
                    </a:p>
                  </a:txBody>
                  <a:tcPr marL="60960" marR="60960" anchor="ctr"/>
                </a:tc>
                <a:tc>
                  <a:txBody>
                    <a:bodyPr/>
                    <a:lstStyle/>
                    <a:p>
                      <a:pPr fontAlgn="base" latinLnBrk="0"/>
                      <a:r>
                        <a:rPr lang="de-DE" b="0">
                          <a:effectLst/>
                        </a:rPr>
                        <a:t>Elektrisches Signal</a:t>
                      </a:r>
                    </a:p>
                  </a:txBody>
                  <a:tcPr marL="60960" marR="60960" anchor="ctr"/>
                </a:tc>
                <a:tc>
                  <a:txBody>
                    <a:bodyPr/>
                    <a:lstStyle/>
                    <a:p>
                      <a:pPr fontAlgn="base" latinLnBrk="0"/>
                      <a:r>
                        <a:rPr lang="da-DK" sz="1800" b="0" i="0" kern="1200" dirty="0">
                          <a:solidFill>
                            <a:schemeClr val="dk1"/>
                          </a:solidFill>
                          <a:effectLst/>
                          <a:latin typeface="+mn-lt"/>
                          <a:ea typeface="+mn-ea"/>
                          <a:cs typeface="+mn-cs"/>
                        </a:rPr>
                        <a:t>Omniverse + lokaler OPC UA Server der SPS</a:t>
                      </a:r>
                      <a:endParaRPr lang="de-DE" b="0" dirty="0">
                        <a:effectLst/>
                      </a:endParaRPr>
                    </a:p>
                  </a:txBody>
                  <a:tcPr marL="60960" marR="60960" anchor="ctr"/>
                </a:tc>
                <a:tc>
                  <a:txBody>
                    <a:bodyPr/>
                    <a:lstStyle/>
                    <a:p>
                      <a:pPr fontAlgn="base" latinLnBrk="0"/>
                      <a:r>
                        <a:rPr lang="de-DE" b="0" dirty="0">
                          <a:effectLst/>
                        </a:rPr>
                        <a:t>HTTPS zu digitaltwinservice.de</a:t>
                      </a:r>
                      <a:br>
                        <a:rPr lang="de-DE" b="0" dirty="0">
                          <a:effectLst/>
                        </a:rPr>
                      </a:br>
                      <a:r>
                        <a:rPr lang="de-DE" b="0" dirty="0">
                          <a:effectLst/>
                        </a:rPr>
                        <a:t>dann OPCUA via VPN</a:t>
                      </a:r>
                    </a:p>
                  </a:txBody>
                  <a:tcPr marL="60960" marR="60960" anchor="ctr"/>
                </a:tc>
                <a:extLst>
                  <a:ext uri="{0D108BD9-81ED-4DB2-BD59-A6C34878D82A}">
                    <a16:rowId xmlns:a16="http://schemas.microsoft.com/office/drawing/2014/main" val="209815972"/>
                  </a:ext>
                </a:extLst>
              </a:tr>
              <a:tr h="1040786">
                <a:tc>
                  <a:txBody>
                    <a:bodyPr/>
                    <a:lstStyle/>
                    <a:p>
                      <a:pPr fontAlgn="base" latinLnBrk="0"/>
                      <a:r>
                        <a:rPr lang="de-DE" b="0" dirty="0" err="1">
                          <a:effectLst/>
                        </a:rPr>
                        <a:t>Aktorbewegung</a:t>
                      </a:r>
                      <a:endParaRPr lang="de-DE" b="0" dirty="0">
                        <a:effectLst/>
                      </a:endParaRPr>
                    </a:p>
                  </a:txBody>
                  <a:tcPr marL="60960" marR="60960" anchor="ctr"/>
                </a:tc>
                <a:tc>
                  <a:txBody>
                    <a:bodyPr/>
                    <a:lstStyle/>
                    <a:p>
                      <a:pPr fontAlgn="base" latinLnBrk="0"/>
                      <a:r>
                        <a:rPr lang="de-DE" b="0" dirty="0">
                          <a:effectLst/>
                        </a:rPr>
                        <a:t>Reale Hardware</a:t>
                      </a:r>
                    </a:p>
                  </a:txBody>
                  <a:tcPr marL="60960" marR="60960" anchor="ctr"/>
                </a:tc>
                <a:tc>
                  <a:txBody>
                    <a:bodyPr/>
                    <a:lstStyle/>
                    <a:p>
                      <a:pPr fontAlgn="base" latinLnBrk="0"/>
                      <a:r>
                        <a:rPr lang="de-DE" b="0" dirty="0">
                          <a:effectLst/>
                        </a:rPr>
                        <a:t>Reale Hardware + Omniverse Szene</a:t>
                      </a:r>
                    </a:p>
                  </a:txBody>
                  <a:tcPr marL="60960" marR="60960" anchor="ctr"/>
                </a:tc>
                <a:tc>
                  <a:txBody>
                    <a:bodyPr/>
                    <a:lstStyle/>
                    <a:p>
                      <a:pPr fontAlgn="base" latinLnBrk="0"/>
                      <a:r>
                        <a:rPr lang="de-DE" b="0" dirty="0">
                          <a:effectLst/>
                        </a:rPr>
                        <a:t>Reale Hardware + Omniverse Szene</a:t>
                      </a:r>
                    </a:p>
                  </a:txBody>
                  <a:tcPr marL="60960" marR="60960" anchor="ctr"/>
                </a:tc>
                <a:extLst>
                  <a:ext uri="{0D108BD9-81ED-4DB2-BD59-A6C34878D82A}">
                    <a16:rowId xmlns:a16="http://schemas.microsoft.com/office/drawing/2014/main" val="612461128"/>
                  </a:ext>
                </a:extLst>
              </a:tr>
            </a:tbl>
          </a:graphicData>
        </a:graphic>
      </p:graphicFrame>
    </p:spTree>
    <p:extLst>
      <p:ext uri="{BB962C8B-B14F-4D97-AF65-F5344CB8AC3E}">
        <p14:creationId xmlns:p14="http://schemas.microsoft.com/office/powerpoint/2010/main" val="2978730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9AE7D0-F6AF-44D8-BA21-BED28B66C883}"/>
              </a:ext>
            </a:extLst>
          </p:cNvPr>
          <p:cNvSpPr>
            <a:spLocks noGrp="1"/>
          </p:cNvSpPr>
          <p:nvPr>
            <p:ph type="title"/>
          </p:nvPr>
        </p:nvSpPr>
        <p:spPr/>
        <p:txBody>
          <a:bodyPr/>
          <a:lstStyle/>
          <a:p>
            <a:r>
              <a:rPr lang="de-DE" dirty="0"/>
              <a:t>Use Case Matrix Variable setzen </a:t>
            </a:r>
          </a:p>
        </p:txBody>
      </p:sp>
      <p:sp>
        <p:nvSpPr>
          <p:cNvPr id="3" name="Foliennummernplatzhalter 2">
            <a:extLst>
              <a:ext uri="{FF2B5EF4-FFF2-40B4-BE49-F238E27FC236}">
                <a16:creationId xmlns:a16="http://schemas.microsoft.com/office/drawing/2014/main" id="{2B7E7F6E-02F4-42C4-89D3-622968D9C24B}"/>
              </a:ext>
            </a:extLst>
          </p:cNvPr>
          <p:cNvSpPr>
            <a:spLocks noGrp="1"/>
          </p:cNvSpPr>
          <p:nvPr>
            <p:ph type="sldNum" sz="quarter" idx="10"/>
          </p:nvPr>
        </p:nvSpPr>
        <p:spPr/>
        <p:txBody>
          <a:bodyPr/>
          <a:lstStyle/>
          <a:p>
            <a:r>
              <a:rPr lang="de-DE"/>
              <a:t>Seite </a:t>
            </a:r>
            <a:fld id="{40192516-3A96-4AF1-ACCE-4FA25417AC18}" type="slidenum">
              <a:rPr lang="de-DE" smtClean="0"/>
              <a:pPr/>
              <a:t>5</a:t>
            </a:fld>
            <a:endParaRPr lang="de-DE"/>
          </a:p>
        </p:txBody>
      </p:sp>
      <p:graphicFrame>
        <p:nvGraphicFramePr>
          <p:cNvPr id="5" name="Tabelle 4">
            <a:extLst>
              <a:ext uri="{FF2B5EF4-FFF2-40B4-BE49-F238E27FC236}">
                <a16:creationId xmlns:a16="http://schemas.microsoft.com/office/drawing/2014/main" id="{1D8B9450-EA72-4EB4-9D96-3D879E69264E}"/>
              </a:ext>
            </a:extLst>
          </p:cNvPr>
          <p:cNvGraphicFramePr>
            <a:graphicFrameLocks noGrp="1"/>
          </p:cNvGraphicFramePr>
          <p:nvPr>
            <p:extLst>
              <p:ext uri="{D42A27DB-BD31-4B8C-83A1-F6EECF244321}">
                <p14:modId xmlns:p14="http://schemas.microsoft.com/office/powerpoint/2010/main" val="1150533368"/>
              </p:ext>
            </p:extLst>
          </p:nvPr>
        </p:nvGraphicFramePr>
        <p:xfrm>
          <a:off x="522288" y="1146175"/>
          <a:ext cx="9648824" cy="5745162"/>
        </p:xfrm>
        <a:graphic>
          <a:graphicData uri="http://schemas.openxmlformats.org/drawingml/2006/table">
            <a:tbl>
              <a:tblPr firstRow="1" bandRow="1">
                <a:tableStyleId>{5C22544A-7EE6-4342-B048-85BDC9FD1C3A}</a:tableStyleId>
              </a:tblPr>
              <a:tblGrid>
                <a:gridCol w="1885451">
                  <a:extLst>
                    <a:ext uri="{9D8B030D-6E8A-4147-A177-3AD203B41FA5}">
                      <a16:colId xmlns:a16="http://schemas.microsoft.com/office/drawing/2014/main" val="4081161580"/>
                    </a:ext>
                  </a:extLst>
                </a:gridCol>
                <a:gridCol w="2318783">
                  <a:extLst>
                    <a:ext uri="{9D8B030D-6E8A-4147-A177-3AD203B41FA5}">
                      <a16:colId xmlns:a16="http://schemas.microsoft.com/office/drawing/2014/main" val="3374730907"/>
                    </a:ext>
                  </a:extLst>
                </a:gridCol>
                <a:gridCol w="3032385">
                  <a:extLst>
                    <a:ext uri="{9D8B030D-6E8A-4147-A177-3AD203B41FA5}">
                      <a16:colId xmlns:a16="http://schemas.microsoft.com/office/drawing/2014/main" val="776945496"/>
                    </a:ext>
                  </a:extLst>
                </a:gridCol>
                <a:gridCol w="2412205">
                  <a:extLst>
                    <a:ext uri="{9D8B030D-6E8A-4147-A177-3AD203B41FA5}">
                      <a16:colId xmlns:a16="http://schemas.microsoft.com/office/drawing/2014/main" val="1984619517"/>
                    </a:ext>
                  </a:extLst>
                </a:gridCol>
              </a:tblGrid>
              <a:tr h="774172">
                <a:tc>
                  <a:txBody>
                    <a:bodyPr/>
                    <a:lstStyle/>
                    <a:p>
                      <a:pPr algn="l" fontAlgn="b" latinLnBrk="0"/>
                      <a:r>
                        <a:rPr lang="de-DE" b="1" dirty="0">
                          <a:effectLst/>
                        </a:rPr>
                        <a:t>Kriterium</a:t>
                      </a:r>
                    </a:p>
                  </a:txBody>
                  <a:tcPr marL="60960" marR="60960" marT="60960" marB="60960" anchor="b"/>
                </a:tc>
                <a:tc>
                  <a:txBody>
                    <a:bodyPr/>
                    <a:lstStyle/>
                    <a:p>
                      <a:pPr algn="l" fontAlgn="b" latinLnBrk="0"/>
                      <a:r>
                        <a:rPr lang="de-DE" b="1" dirty="0">
                          <a:effectLst/>
                        </a:rPr>
                        <a:t>Physikalisch (Labor)</a:t>
                      </a:r>
                    </a:p>
                  </a:txBody>
                  <a:tcPr marL="60960" marR="60960" marT="60960" marB="60960" anchor="b"/>
                </a:tc>
                <a:tc>
                  <a:txBody>
                    <a:bodyPr/>
                    <a:lstStyle/>
                    <a:p>
                      <a:pPr algn="l" fontAlgn="b" latinLnBrk="0"/>
                      <a:r>
                        <a:rPr lang="de-DE" b="1" dirty="0">
                          <a:effectLst/>
                        </a:rPr>
                        <a:t>Lokal an Anlage </a:t>
                      </a:r>
                      <a:br>
                        <a:rPr lang="de-DE" b="1" dirty="0">
                          <a:effectLst/>
                        </a:rPr>
                      </a:br>
                      <a:r>
                        <a:rPr lang="de-DE" b="1" dirty="0">
                          <a:effectLst/>
                        </a:rPr>
                        <a:t>(OPC UA + </a:t>
                      </a:r>
                      <a:r>
                        <a:rPr lang="de-DE" b="1" dirty="0" err="1">
                          <a:effectLst/>
                        </a:rPr>
                        <a:t>Omni</a:t>
                      </a:r>
                      <a:r>
                        <a:rPr lang="de-DE" b="1" dirty="0">
                          <a:effectLst/>
                        </a:rPr>
                        <a:t> </a:t>
                      </a:r>
                      <a:r>
                        <a:rPr lang="de-DE" b="1" dirty="0" err="1">
                          <a:effectLst/>
                        </a:rPr>
                        <a:t>Extens</a:t>
                      </a:r>
                      <a:r>
                        <a:rPr lang="de-DE" b="1" dirty="0">
                          <a:effectLst/>
                        </a:rPr>
                        <a:t>.)</a:t>
                      </a:r>
                    </a:p>
                  </a:txBody>
                  <a:tcPr marL="60960" marR="60960" marT="60960" marB="60960" anchor="b"/>
                </a:tc>
                <a:tc>
                  <a:txBody>
                    <a:bodyPr/>
                    <a:lstStyle/>
                    <a:p>
                      <a:pPr algn="l" fontAlgn="b" latinLnBrk="0"/>
                      <a:r>
                        <a:rPr lang="de-DE" b="1" dirty="0" err="1">
                          <a:effectLst/>
                        </a:rPr>
                        <a:t>Omni</a:t>
                      </a:r>
                      <a:r>
                        <a:rPr lang="de-DE" b="1" dirty="0">
                          <a:effectLst/>
                        </a:rPr>
                        <a:t> </a:t>
                      </a:r>
                      <a:r>
                        <a:rPr lang="de-DE" b="1" dirty="0" err="1">
                          <a:effectLst/>
                        </a:rPr>
                        <a:t>Extens</a:t>
                      </a:r>
                      <a:r>
                        <a:rPr lang="de-DE" b="1" dirty="0">
                          <a:effectLst/>
                        </a:rPr>
                        <a:t>. via Digital Twin Service</a:t>
                      </a:r>
                    </a:p>
                  </a:txBody>
                  <a:tcPr marL="60960" marR="60960" marT="60960" marB="60960" anchor="b"/>
                </a:tc>
                <a:extLst>
                  <a:ext uri="{0D108BD9-81ED-4DB2-BD59-A6C34878D82A}">
                    <a16:rowId xmlns:a16="http://schemas.microsoft.com/office/drawing/2014/main" val="3579049500"/>
                  </a:ext>
                </a:extLst>
              </a:tr>
              <a:tr h="1041163">
                <a:tc>
                  <a:txBody>
                    <a:bodyPr/>
                    <a:lstStyle/>
                    <a:p>
                      <a:pPr fontAlgn="base" latinLnBrk="0"/>
                      <a:r>
                        <a:rPr lang="de-DE" b="0">
                          <a:effectLst/>
                        </a:rPr>
                        <a:t>Rückmeldung</a:t>
                      </a:r>
                    </a:p>
                  </a:txBody>
                  <a:tcPr marL="60960" marR="60960" anchor="ctr"/>
                </a:tc>
                <a:tc>
                  <a:txBody>
                    <a:bodyPr/>
                    <a:lstStyle/>
                    <a:p>
                      <a:pPr fontAlgn="base" latinLnBrk="0"/>
                      <a:r>
                        <a:rPr lang="de-DE" b="0" dirty="0">
                          <a:effectLst/>
                        </a:rPr>
                        <a:t>Status lokal an der </a:t>
                      </a:r>
                      <a:r>
                        <a:rPr lang="de-DE" b="0" dirty="0" err="1">
                          <a:effectLst/>
                        </a:rPr>
                        <a:t>Aktostellung</a:t>
                      </a:r>
                      <a:r>
                        <a:rPr lang="de-DE" b="0" dirty="0">
                          <a:effectLst/>
                        </a:rPr>
                        <a:t> der Anlage sichtbar</a:t>
                      </a:r>
                    </a:p>
                  </a:txBody>
                  <a:tcPr marL="60960" marR="60960" anchor="ctr"/>
                </a:tc>
                <a:tc>
                  <a:txBody>
                    <a:bodyPr/>
                    <a:lstStyle/>
                    <a:p>
                      <a:pPr fontAlgn="base" latinLnBrk="0"/>
                      <a:r>
                        <a:rPr lang="de-DE" b="0" dirty="0">
                          <a:effectLst/>
                        </a:rPr>
                        <a:t>Omniverse Szene + </a:t>
                      </a:r>
                      <a:br>
                        <a:rPr lang="de-DE" b="0" dirty="0">
                          <a:effectLst/>
                        </a:rPr>
                      </a:br>
                      <a:r>
                        <a:rPr lang="de-DE" b="0" dirty="0">
                          <a:effectLst/>
                        </a:rPr>
                        <a:t>ggf. Anlage</a:t>
                      </a:r>
                    </a:p>
                  </a:txBody>
                  <a:tcPr marL="60960" marR="60960" anchor="ctr"/>
                </a:tc>
                <a:tc>
                  <a:txBody>
                    <a:bodyPr/>
                    <a:lstStyle/>
                    <a:p>
                      <a:pPr fontAlgn="base" latinLnBrk="0"/>
                      <a:r>
                        <a:rPr lang="de-DE" b="0" dirty="0">
                          <a:effectLst/>
                        </a:rPr>
                        <a:t>Omniverse Szene + ggf. Kamera </a:t>
                      </a:r>
                      <a:r>
                        <a:rPr lang="de-DE" b="0" dirty="0" err="1">
                          <a:effectLst/>
                        </a:rPr>
                        <a:t>Lifestream</a:t>
                      </a:r>
                      <a:endParaRPr lang="de-DE" b="0" dirty="0">
                        <a:effectLst/>
                      </a:endParaRPr>
                    </a:p>
                  </a:txBody>
                  <a:tcPr marL="60960" marR="60960" anchor="ctr"/>
                </a:tc>
                <a:extLst>
                  <a:ext uri="{0D108BD9-81ED-4DB2-BD59-A6C34878D82A}">
                    <a16:rowId xmlns:a16="http://schemas.microsoft.com/office/drawing/2014/main" val="3877269597"/>
                  </a:ext>
                </a:extLst>
              </a:tr>
              <a:tr h="845639">
                <a:tc>
                  <a:txBody>
                    <a:bodyPr/>
                    <a:lstStyle/>
                    <a:p>
                      <a:pPr fontAlgn="base" latinLnBrk="0"/>
                      <a:r>
                        <a:rPr lang="de-DE" b="0">
                          <a:effectLst/>
                        </a:rPr>
                        <a:t>Kommunikation</a:t>
                      </a:r>
                    </a:p>
                  </a:txBody>
                  <a:tcPr marL="60960" marR="60960" anchor="ctr"/>
                </a:tc>
                <a:tc>
                  <a:txBody>
                    <a:bodyPr/>
                    <a:lstStyle/>
                    <a:p>
                      <a:pPr fontAlgn="base" latinLnBrk="0"/>
                      <a:r>
                        <a:rPr lang="de-DE" b="0" dirty="0">
                          <a:effectLst/>
                        </a:rPr>
                        <a:t>Direkt SPS-Signal</a:t>
                      </a:r>
                    </a:p>
                  </a:txBody>
                  <a:tcPr marL="60960" marR="60960" anchor="ctr"/>
                </a:tc>
                <a:tc>
                  <a:txBody>
                    <a:bodyPr/>
                    <a:lstStyle/>
                    <a:p>
                      <a:pPr fontAlgn="base" latinLnBrk="0"/>
                      <a:r>
                        <a:rPr lang="de-DE" b="0" dirty="0">
                          <a:effectLst/>
                        </a:rPr>
                        <a:t>OPC UA der SPS</a:t>
                      </a:r>
                    </a:p>
                  </a:txBody>
                  <a:tcPr marL="60960" marR="60960" anchor="ctr"/>
                </a:tc>
                <a:tc>
                  <a:txBody>
                    <a:bodyPr/>
                    <a:lstStyle/>
                    <a:p>
                      <a:pPr fontAlgn="base" latinLnBrk="0"/>
                      <a:r>
                        <a:rPr lang="de-DE" b="0" dirty="0">
                          <a:effectLst/>
                        </a:rPr>
                        <a:t>HTTP mit X-API-KEY</a:t>
                      </a:r>
                    </a:p>
                  </a:txBody>
                  <a:tcPr marL="60960" marR="60960" anchor="ctr"/>
                </a:tc>
                <a:extLst>
                  <a:ext uri="{0D108BD9-81ED-4DB2-BD59-A6C34878D82A}">
                    <a16:rowId xmlns:a16="http://schemas.microsoft.com/office/drawing/2014/main" val="4092709086"/>
                  </a:ext>
                </a:extLst>
              </a:tr>
              <a:tr h="774172">
                <a:tc>
                  <a:txBody>
                    <a:bodyPr/>
                    <a:lstStyle/>
                    <a:p>
                      <a:pPr fontAlgn="base" latinLnBrk="0"/>
                      <a:r>
                        <a:rPr lang="de-DE" b="0">
                          <a:effectLst/>
                        </a:rPr>
                        <a:t>Latenz</a:t>
                      </a:r>
                    </a:p>
                  </a:txBody>
                  <a:tcPr marL="60960" marR="60960" anchor="ctr"/>
                </a:tc>
                <a:tc>
                  <a:txBody>
                    <a:bodyPr/>
                    <a:lstStyle/>
                    <a:p>
                      <a:pPr fontAlgn="base" latinLnBrk="0"/>
                      <a:r>
                        <a:rPr lang="de-DE" b="0">
                          <a:effectLst/>
                        </a:rPr>
                        <a:t>&lt; 10 ms</a:t>
                      </a:r>
                    </a:p>
                  </a:txBody>
                  <a:tcPr marL="60960" marR="60960" anchor="ctr"/>
                </a:tc>
                <a:tc>
                  <a:txBody>
                    <a:bodyPr/>
                    <a:lstStyle/>
                    <a:p>
                      <a:pPr fontAlgn="base" latinLnBrk="0"/>
                      <a:r>
                        <a:rPr lang="de-DE" b="0">
                          <a:effectLst/>
                        </a:rPr>
                        <a:t>100-500 ms</a:t>
                      </a:r>
                    </a:p>
                  </a:txBody>
                  <a:tcPr marL="60960" marR="60960" anchor="ctr"/>
                </a:tc>
                <a:tc>
                  <a:txBody>
                    <a:bodyPr/>
                    <a:lstStyle/>
                    <a:p>
                      <a:pPr fontAlgn="base" latinLnBrk="0"/>
                      <a:r>
                        <a:rPr lang="de-DE" b="0" dirty="0">
                          <a:effectLst/>
                        </a:rPr>
                        <a:t>500ms Loop + API</a:t>
                      </a:r>
                    </a:p>
                  </a:txBody>
                  <a:tcPr marL="60960" marR="60960" anchor="ctr"/>
                </a:tc>
                <a:extLst>
                  <a:ext uri="{0D108BD9-81ED-4DB2-BD59-A6C34878D82A}">
                    <a16:rowId xmlns:a16="http://schemas.microsoft.com/office/drawing/2014/main" val="9540249"/>
                  </a:ext>
                </a:extLst>
              </a:tr>
              <a:tr h="1269230">
                <a:tc>
                  <a:txBody>
                    <a:bodyPr/>
                    <a:lstStyle/>
                    <a:p>
                      <a:pPr fontAlgn="base" latinLnBrk="0"/>
                      <a:r>
                        <a:rPr lang="de-DE" b="0">
                          <a:effectLst/>
                        </a:rPr>
                        <a:t>Fehleranalyse</a:t>
                      </a:r>
                    </a:p>
                  </a:txBody>
                  <a:tcPr marL="60960" marR="60960" anchor="ctr"/>
                </a:tc>
                <a:tc>
                  <a:txBody>
                    <a:bodyPr/>
                    <a:lstStyle/>
                    <a:p>
                      <a:pPr fontAlgn="base" latinLnBrk="0"/>
                      <a:r>
                        <a:rPr lang="de-DE" b="0" dirty="0">
                          <a:effectLst/>
                        </a:rPr>
                        <a:t>Hardware vor Ort + TIA Portal</a:t>
                      </a:r>
                    </a:p>
                  </a:txBody>
                  <a:tcPr marL="60960" marR="60960" anchor="ctr"/>
                </a:tc>
                <a:tc>
                  <a:txBody>
                    <a:bodyPr/>
                    <a:lstStyle/>
                    <a:p>
                      <a:pPr fontAlgn="base" latinLnBrk="0"/>
                      <a:r>
                        <a:rPr lang="de-DE" b="0" dirty="0">
                          <a:effectLst/>
                        </a:rPr>
                        <a:t>API-Statuscodes + Omniverse Konsole + </a:t>
                      </a:r>
                      <a:br>
                        <a:rPr lang="de-DE" b="0" dirty="0">
                          <a:effectLst/>
                        </a:rPr>
                      </a:br>
                      <a:r>
                        <a:rPr lang="de-DE" b="0" dirty="0">
                          <a:effectLst/>
                        </a:rPr>
                        <a:t>TIA Portal</a:t>
                      </a:r>
                    </a:p>
                  </a:txBody>
                  <a:tcPr marL="60960" marR="60960" anchor="ctr"/>
                </a:tc>
                <a:tc>
                  <a:txBody>
                    <a:bodyPr/>
                    <a:lstStyle/>
                    <a:p>
                      <a:pPr fontAlgn="base" latinLnBrk="0"/>
                      <a:r>
                        <a:rPr lang="de-DE" b="0" dirty="0">
                          <a:effectLst/>
                        </a:rPr>
                        <a:t>"TIMEOUT/HTTP" Labels + Omniverse Konsole</a:t>
                      </a:r>
                    </a:p>
                  </a:txBody>
                  <a:tcPr marL="60960" marR="60960" anchor="ctr"/>
                </a:tc>
                <a:extLst>
                  <a:ext uri="{0D108BD9-81ED-4DB2-BD59-A6C34878D82A}">
                    <a16:rowId xmlns:a16="http://schemas.microsoft.com/office/drawing/2014/main" val="209815972"/>
                  </a:ext>
                </a:extLst>
              </a:tr>
              <a:tr h="1040786">
                <a:tc>
                  <a:txBody>
                    <a:bodyPr/>
                    <a:lstStyle/>
                    <a:p>
                      <a:pPr fontAlgn="base" latinLnBrk="0"/>
                      <a:r>
                        <a:rPr lang="de-DE" b="0">
                          <a:effectLst/>
                        </a:rPr>
                        <a:t>Fernsteuerung</a:t>
                      </a:r>
                    </a:p>
                  </a:txBody>
                  <a:tcPr marL="60960" marR="60960" anchor="ctr"/>
                </a:tc>
                <a:tc>
                  <a:txBody>
                    <a:bodyPr/>
                    <a:lstStyle/>
                    <a:p>
                      <a:pPr fontAlgn="base" latinLnBrk="0"/>
                      <a:r>
                        <a:rPr lang="de-DE" b="0" dirty="0">
                          <a:effectLst/>
                        </a:rPr>
                        <a:t>Nur lokal</a:t>
                      </a:r>
                    </a:p>
                  </a:txBody>
                  <a:tcPr marL="60960" marR="60960" anchor="ctr"/>
                </a:tc>
                <a:tc>
                  <a:txBody>
                    <a:bodyPr/>
                    <a:lstStyle/>
                    <a:p>
                      <a:pPr fontAlgn="base" latinLnBrk="0"/>
                      <a:r>
                        <a:rPr lang="de-DE" b="0" dirty="0">
                          <a:effectLst/>
                        </a:rPr>
                        <a:t>Nur im Netz der Anlage</a:t>
                      </a:r>
                    </a:p>
                  </a:txBody>
                  <a:tcPr marL="60960" marR="60960" anchor="ctr"/>
                </a:tc>
                <a:tc>
                  <a:txBody>
                    <a:bodyPr/>
                    <a:lstStyle/>
                    <a:p>
                      <a:pPr fontAlgn="base" latinLnBrk="0"/>
                      <a:r>
                        <a:rPr lang="de-DE" b="0" dirty="0">
                          <a:effectLst/>
                        </a:rPr>
                        <a:t>Weltweit</a:t>
                      </a:r>
                    </a:p>
                  </a:txBody>
                  <a:tcPr marL="60960" marR="60960" anchor="ctr"/>
                </a:tc>
                <a:extLst>
                  <a:ext uri="{0D108BD9-81ED-4DB2-BD59-A6C34878D82A}">
                    <a16:rowId xmlns:a16="http://schemas.microsoft.com/office/drawing/2014/main" val="612461128"/>
                  </a:ext>
                </a:extLst>
              </a:tr>
            </a:tbl>
          </a:graphicData>
        </a:graphic>
      </p:graphicFrame>
    </p:spTree>
    <p:extLst>
      <p:ext uri="{BB962C8B-B14F-4D97-AF65-F5344CB8AC3E}">
        <p14:creationId xmlns:p14="http://schemas.microsoft.com/office/powerpoint/2010/main" val="1687151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2EF71E-DA1E-45B3-80BC-55911210BF09}"/>
              </a:ext>
            </a:extLst>
          </p:cNvPr>
          <p:cNvSpPr>
            <a:spLocks noGrp="1"/>
          </p:cNvSpPr>
          <p:nvPr>
            <p:ph type="title"/>
          </p:nvPr>
        </p:nvSpPr>
        <p:spPr/>
        <p:txBody>
          <a:bodyPr/>
          <a:lstStyle/>
          <a:p>
            <a:r>
              <a:rPr lang="de-DE" dirty="0"/>
              <a:t>Internal Block Diagramm</a:t>
            </a:r>
          </a:p>
        </p:txBody>
      </p:sp>
      <p:sp>
        <p:nvSpPr>
          <p:cNvPr id="3" name="Foliennummernplatzhalter 2">
            <a:extLst>
              <a:ext uri="{FF2B5EF4-FFF2-40B4-BE49-F238E27FC236}">
                <a16:creationId xmlns:a16="http://schemas.microsoft.com/office/drawing/2014/main" id="{58FC21BF-5332-4064-BD86-5D1A89B32A87}"/>
              </a:ext>
            </a:extLst>
          </p:cNvPr>
          <p:cNvSpPr>
            <a:spLocks noGrp="1"/>
          </p:cNvSpPr>
          <p:nvPr>
            <p:ph type="sldNum" sz="quarter" idx="10"/>
          </p:nvPr>
        </p:nvSpPr>
        <p:spPr/>
        <p:txBody>
          <a:bodyPr/>
          <a:lstStyle/>
          <a:p>
            <a:r>
              <a:rPr lang="de-DE"/>
              <a:t>Seite </a:t>
            </a:r>
            <a:fld id="{40192516-3A96-4AF1-ACCE-4FA25417AC18}" type="slidenum">
              <a:rPr lang="de-DE" smtClean="0"/>
              <a:pPr/>
              <a:t>6</a:t>
            </a:fld>
            <a:endParaRPr lang="de-DE"/>
          </a:p>
        </p:txBody>
      </p:sp>
      <p:sp>
        <p:nvSpPr>
          <p:cNvPr id="4" name="Textplatzhalter 3">
            <a:extLst>
              <a:ext uri="{FF2B5EF4-FFF2-40B4-BE49-F238E27FC236}">
                <a16:creationId xmlns:a16="http://schemas.microsoft.com/office/drawing/2014/main" id="{6A323D16-3DA1-4B05-A44F-C445462799F7}"/>
              </a:ext>
            </a:extLst>
          </p:cNvPr>
          <p:cNvSpPr>
            <a:spLocks noGrp="1"/>
          </p:cNvSpPr>
          <p:nvPr>
            <p:ph type="body" sz="quarter" idx="11"/>
          </p:nvPr>
        </p:nvSpPr>
        <p:spPr/>
        <p:txBody>
          <a:bodyPr/>
          <a:lstStyle/>
          <a:p>
            <a:endParaRPr lang="de-DE"/>
          </a:p>
        </p:txBody>
      </p:sp>
      <p:pic>
        <p:nvPicPr>
          <p:cNvPr id="7" name="Grafik 6">
            <a:extLst>
              <a:ext uri="{FF2B5EF4-FFF2-40B4-BE49-F238E27FC236}">
                <a16:creationId xmlns:a16="http://schemas.microsoft.com/office/drawing/2014/main" id="{CD2A2C0D-3159-0330-17C8-D23728DC89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100" y="1054583"/>
            <a:ext cx="8486775" cy="6010275"/>
          </a:xfrm>
          <a:prstGeom prst="rect">
            <a:avLst/>
          </a:prstGeom>
        </p:spPr>
      </p:pic>
    </p:spTree>
    <p:extLst>
      <p:ext uri="{BB962C8B-B14F-4D97-AF65-F5344CB8AC3E}">
        <p14:creationId xmlns:p14="http://schemas.microsoft.com/office/powerpoint/2010/main" val="671780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1E0456-4B0C-4931-AABC-1EFE672A8D84}"/>
              </a:ext>
            </a:extLst>
          </p:cNvPr>
          <p:cNvSpPr>
            <a:spLocks noGrp="1"/>
          </p:cNvSpPr>
          <p:nvPr>
            <p:ph type="title"/>
          </p:nvPr>
        </p:nvSpPr>
        <p:spPr/>
        <p:txBody>
          <a:bodyPr/>
          <a:lstStyle/>
          <a:p>
            <a:r>
              <a:rPr lang="de-DE" dirty="0"/>
              <a:t>Sequenzdiagramm Variable Setzen</a:t>
            </a:r>
          </a:p>
        </p:txBody>
      </p:sp>
      <p:sp>
        <p:nvSpPr>
          <p:cNvPr id="3" name="Foliennummernplatzhalter 2">
            <a:extLst>
              <a:ext uri="{FF2B5EF4-FFF2-40B4-BE49-F238E27FC236}">
                <a16:creationId xmlns:a16="http://schemas.microsoft.com/office/drawing/2014/main" id="{6A0195A3-C8EF-4890-A8FB-B174D01CD3A4}"/>
              </a:ext>
            </a:extLst>
          </p:cNvPr>
          <p:cNvSpPr>
            <a:spLocks noGrp="1"/>
          </p:cNvSpPr>
          <p:nvPr>
            <p:ph type="sldNum" sz="quarter" idx="10"/>
          </p:nvPr>
        </p:nvSpPr>
        <p:spPr/>
        <p:txBody>
          <a:bodyPr/>
          <a:lstStyle/>
          <a:p>
            <a:r>
              <a:rPr lang="de-DE"/>
              <a:t>Seite </a:t>
            </a:r>
            <a:fld id="{40192516-3A96-4AF1-ACCE-4FA25417AC18}" type="slidenum">
              <a:rPr lang="de-DE" smtClean="0"/>
              <a:pPr/>
              <a:t>7</a:t>
            </a:fld>
            <a:endParaRPr lang="de-DE"/>
          </a:p>
        </p:txBody>
      </p:sp>
      <p:sp>
        <p:nvSpPr>
          <p:cNvPr id="4" name="Textplatzhalter 3">
            <a:extLst>
              <a:ext uri="{FF2B5EF4-FFF2-40B4-BE49-F238E27FC236}">
                <a16:creationId xmlns:a16="http://schemas.microsoft.com/office/drawing/2014/main" id="{2F45852D-C9DC-44D7-9FC2-DB09DFF56FAB}"/>
              </a:ext>
            </a:extLst>
          </p:cNvPr>
          <p:cNvSpPr>
            <a:spLocks noGrp="1"/>
          </p:cNvSpPr>
          <p:nvPr>
            <p:ph type="body" sz="quarter" idx="11"/>
          </p:nvPr>
        </p:nvSpPr>
        <p:spPr/>
        <p:txBody>
          <a:bodyPr/>
          <a:lstStyle/>
          <a:p>
            <a:endParaRPr lang="de-DE" dirty="0"/>
          </a:p>
        </p:txBody>
      </p:sp>
      <p:pic>
        <p:nvPicPr>
          <p:cNvPr id="5" name="Grafik 4">
            <a:extLst>
              <a:ext uri="{FF2B5EF4-FFF2-40B4-BE49-F238E27FC236}">
                <a16:creationId xmlns:a16="http://schemas.microsoft.com/office/drawing/2014/main" id="{CC65BC21-468C-4768-A6B4-A788F9BB01E9}"/>
              </a:ext>
            </a:extLst>
          </p:cNvPr>
          <p:cNvPicPr>
            <a:picLocks noChangeAspect="1"/>
          </p:cNvPicPr>
          <p:nvPr/>
        </p:nvPicPr>
        <p:blipFill>
          <a:blip r:embed="rId2"/>
          <a:stretch>
            <a:fillRect/>
          </a:stretch>
        </p:blipFill>
        <p:spPr>
          <a:xfrm>
            <a:off x="345377" y="1227416"/>
            <a:ext cx="10002646" cy="3915321"/>
          </a:xfrm>
          <a:prstGeom prst="rect">
            <a:avLst/>
          </a:prstGeom>
        </p:spPr>
      </p:pic>
    </p:spTree>
    <p:extLst>
      <p:ext uri="{BB962C8B-B14F-4D97-AF65-F5344CB8AC3E}">
        <p14:creationId xmlns:p14="http://schemas.microsoft.com/office/powerpoint/2010/main" val="1551978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F84BD7-045C-4D5A-95C2-6AE29359AAB6}"/>
              </a:ext>
            </a:extLst>
          </p:cNvPr>
          <p:cNvSpPr>
            <a:spLocks noGrp="1"/>
          </p:cNvSpPr>
          <p:nvPr>
            <p:ph type="title"/>
          </p:nvPr>
        </p:nvSpPr>
        <p:spPr/>
        <p:txBody>
          <a:bodyPr/>
          <a:lstStyle/>
          <a:p>
            <a:r>
              <a:rPr lang="de-DE" dirty="0"/>
              <a:t>Isaac Sim Herunterladen</a:t>
            </a:r>
          </a:p>
        </p:txBody>
      </p:sp>
      <p:sp>
        <p:nvSpPr>
          <p:cNvPr id="3" name="Foliennummernplatzhalter 2">
            <a:extLst>
              <a:ext uri="{FF2B5EF4-FFF2-40B4-BE49-F238E27FC236}">
                <a16:creationId xmlns:a16="http://schemas.microsoft.com/office/drawing/2014/main" id="{3FD4004C-D060-4913-A8D2-97C23388803A}"/>
              </a:ext>
            </a:extLst>
          </p:cNvPr>
          <p:cNvSpPr>
            <a:spLocks noGrp="1"/>
          </p:cNvSpPr>
          <p:nvPr>
            <p:ph type="sldNum" sz="quarter" idx="10"/>
          </p:nvPr>
        </p:nvSpPr>
        <p:spPr/>
        <p:txBody>
          <a:bodyPr/>
          <a:lstStyle/>
          <a:p>
            <a:r>
              <a:rPr lang="de-DE"/>
              <a:t>Seite </a:t>
            </a:r>
            <a:fld id="{40192516-3A96-4AF1-ACCE-4FA25417AC18}" type="slidenum">
              <a:rPr lang="de-DE" smtClean="0"/>
              <a:pPr/>
              <a:t>8</a:t>
            </a:fld>
            <a:endParaRPr lang="de-DE"/>
          </a:p>
        </p:txBody>
      </p:sp>
      <p:sp>
        <p:nvSpPr>
          <p:cNvPr id="4" name="Textplatzhalter 3">
            <a:extLst>
              <a:ext uri="{FF2B5EF4-FFF2-40B4-BE49-F238E27FC236}">
                <a16:creationId xmlns:a16="http://schemas.microsoft.com/office/drawing/2014/main" id="{E923FDEE-CA34-4A06-A18C-2C7195916E4D}"/>
              </a:ext>
            </a:extLst>
          </p:cNvPr>
          <p:cNvSpPr>
            <a:spLocks noGrp="1"/>
          </p:cNvSpPr>
          <p:nvPr>
            <p:ph type="body" sz="quarter" idx="11"/>
          </p:nvPr>
        </p:nvSpPr>
        <p:spPr>
          <a:xfrm>
            <a:off x="522287" y="2109788"/>
            <a:ext cx="9283193" cy="4559300"/>
          </a:xfrm>
        </p:spPr>
        <p:txBody>
          <a:bodyPr/>
          <a:lstStyle/>
          <a:p>
            <a:pPr marL="342900" indent="-342900">
              <a:buFont typeface="+mj-lt"/>
              <a:buAutoNum type="arabicPeriod"/>
            </a:pPr>
            <a:r>
              <a:rPr lang="de-DE" dirty="0">
                <a:hlinkClick r:id="rId2"/>
              </a:rPr>
              <a:t>Download Link</a:t>
            </a:r>
            <a:r>
              <a:rPr lang="de-DE" dirty="0"/>
              <a:t> zu Isaac Sim</a:t>
            </a:r>
          </a:p>
          <a:p>
            <a:pPr marL="342900" indent="-342900">
              <a:buFont typeface="+mj-lt"/>
              <a:buAutoNum type="arabicPeriod"/>
            </a:pPr>
            <a:r>
              <a:rPr lang="de-DE" dirty="0"/>
              <a:t>Entpacken der ZIP-Datei an einem </a:t>
            </a:r>
            <a:br>
              <a:rPr lang="de-DE" dirty="0"/>
            </a:br>
            <a:r>
              <a:rPr lang="de-DE" dirty="0"/>
              <a:t>gewünschten Installationsort (am besten C:\Programme)</a:t>
            </a:r>
          </a:p>
          <a:p>
            <a:pPr marL="342900" indent="-342900">
              <a:buFont typeface="+mj-lt"/>
              <a:buAutoNum type="arabicPeriod"/>
            </a:pPr>
            <a:r>
              <a:rPr lang="de-DE" dirty="0"/>
              <a:t>„isaac-sim.bat“ per Doppelklick ausführen</a:t>
            </a:r>
          </a:p>
          <a:p>
            <a:r>
              <a:rPr lang="de-DE" dirty="0"/>
              <a:t>Alternativ mit </a:t>
            </a:r>
            <a:r>
              <a:rPr lang="de-DE" dirty="0" err="1">
                <a:hlinkClick r:id="rId3"/>
              </a:rPr>
              <a:t>Git</a:t>
            </a:r>
            <a:r>
              <a:rPr lang="de-DE" dirty="0">
                <a:hlinkClick r:id="rId3"/>
              </a:rPr>
              <a:t>-Bash</a:t>
            </a:r>
            <a:endParaRPr lang="de-DE" dirty="0"/>
          </a:p>
          <a:p>
            <a:pPr marL="342900" indent="-342900">
              <a:buFont typeface="+mj-lt"/>
              <a:buAutoNum type="arabicPeriod"/>
            </a:pPr>
            <a:r>
              <a:rPr lang="de-DE" dirty="0"/>
              <a:t>Zu Zielordner Navigieren</a:t>
            </a:r>
          </a:p>
          <a:p>
            <a:pPr marL="342900" indent="-342900">
              <a:buFont typeface="+mj-lt"/>
              <a:buAutoNum type="arabicPeriod"/>
            </a:pPr>
            <a:r>
              <a:rPr lang="de-DE" dirty="0"/>
              <a:t>Rechtsklick &amp; „In Terminal öffnen“</a:t>
            </a:r>
          </a:p>
          <a:p>
            <a:pPr marL="342900" indent="-342900">
              <a:buFont typeface="+mj-lt"/>
              <a:buAutoNum type="arabicPeriod"/>
            </a:pPr>
            <a:r>
              <a:rPr lang="en-US" dirty="0"/>
              <a:t>git clone </a:t>
            </a:r>
            <a:r>
              <a:rPr lang="en-US" dirty="0">
                <a:hlinkClick r:id="rId4"/>
              </a:rPr>
              <a:t>https://github.com/NVIDIA-Omniverse/kit-app-template</a:t>
            </a:r>
            <a:endParaRPr lang="en-US" dirty="0"/>
          </a:p>
          <a:p>
            <a:pPr marL="342900" indent="-342900">
              <a:buFont typeface="+mj-lt"/>
              <a:buAutoNum type="arabicPeriod"/>
            </a:pPr>
            <a:r>
              <a:rPr lang="en-US" dirty="0"/>
              <a:t>cd kit-app-template </a:t>
            </a:r>
          </a:p>
          <a:p>
            <a:pPr marL="342900" indent="-342900">
              <a:buFont typeface="+mj-lt"/>
              <a:buAutoNum type="arabicPeriod"/>
            </a:pPr>
            <a:r>
              <a:rPr lang="en-US" dirty="0"/>
              <a:t>.\repo.bat template new </a:t>
            </a:r>
          </a:p>
          <a:p>
            <a:pPr marL="342900" indent="-342900">
              <a:buFont typeface="+mj-lt"/>
              <a:buAutoNum type="arabicPeriod"/>
            </a:pPr>
            <a:r>
              <a:rPr lang="en-US" dirty="0"/>
              <a:t>.\repo.bat build </a:t>
            </a:r>
          </a:p>
          <a:p>
            <a:pPr marL="342900" indent="-342900">
              <a:buFont typeface="+mj-lt"/>
              <a:buAutoNum type="arabicPeriod"/>
            </a:pPr>
            <a:r>
              <a:rPr lang="en-US" dirty="0"/>
              <a:t>.\repo.bat launch</a:t>
            </a:r>
            <a:endParaRPr lang="de-DE" dirty="0"/>
          </a:p>
          <a:p>
            <a:pPr marL="342900" indent="-342900">
              <a:buFont typeface="+mj-lt"/>
              <a:buAutoNum type="arabicPeriod"/>
            </a:pPr>
            <a:endParaRPr lang="de-DE" dirty="0"/>
          </a:p>
        </p:txBody>
      </p:sp>
      <p:pic>
        <p:nvPicPr>
          <p:cNvPr id="5" name="Grafik 4">
            <a:extLst>
              <a:ext uri="{FF2B5EF4-FFF2-40B4-BE49-F238E27FC236}">
                <a16:creationId xmlns:a16="http://schemas.microsoft.com/office/drawing/2014/main" id="{01FB5097-92EF-462A-9EEA-9977174F3DA7}"/>
              </a:ext>
            </a:extLst>
          </p:cNvPr>
          <p:cNvPicPr>
            <a:picLocks noChangeAspect="1"/>
          </p:cNvPicPr>
          <p:nvPr/>
        </p:nvPicPr>
        <p:blipFill rotWithShape="1">
          <a:blip r:embed="rId5"/>
          <a:srcRect t="28434" b="30715"/>
          <a:stretch/>
        </p:blipFill>
        <p:spPr>
          <a:xfrm>
            <a:off x="7419890" y="1620838"/>
            <a:ext cx="2807291" cy="2529191"/>
          </a:xfrm>
          <a:prstGeom prst="rect">
            <a:avLst/>
          </a:prstGeom>
        </p:spPr>
      </p:pic>
      <p:pic>
        <p:nvPicPr>
          <p:cNvPr id="6" name="Grafik 5">
            <a:extLst>
              <a:ext uri="{FF2B5EF4-FFF2-40B4-BE49-F238E27FC236}">
                <a16:creationId xmlns:a16="http://schemas.microsoft.com/office/drawing/2014/main" id="{2DA9A3EB-AA56-4B3A-96BC-23C10FBD07C1}"/>
              </a:ext>
            </a:extLst>
          </p:cNvPr>
          <p:cNvPicPr>
            <a:picLocks noChangeAspect="1"/>
          </p:cNvPicPr>
          <p:nvPr/>
        </p:nvPicPr>
        <p:blipFill>
          <a:blip r:embed="rId6"/>
          <a:stretch>
            <a:fillRect/>
          </a:stretch>
        </p:blipFill>
        <p:spPr>
          <a:xfrm>
            <a:off x="4616331" y="2290684"/>
            <a:ext cx="2686425" cy="1609950"/>
          </a:xfrm>
          <a:prstGeom prst="rect">
            <a:avLst/>
          </a:prstGeom>
        </p:spPr>
      </p:pic>
    </p:spTree>
    <p:extLst>
      <p:ext uri="{BB962C8B-B14F-4D97-AF65-F5344CB8AC3E}">
        <p14:creationId xmlns:p14="http://schemas.microsoft.com/office/powerpoint/2010/main" val="99029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E0B8E5-672D-43E7-8C2B-994FF604180E}"/>
              </a:ext>
            </a:extLst>
          </p:cNvPr>
          <p:cNvSpPr>
            <a:spLocks noGrp="1"/>
          </p:cNvSpPr>
          <p:nvPr>
            <p:ph type="title"/>
          </p:nvPr>
        </p:nvSpPr>
        <p:spPr/>
        <p:txBody>
          <a:bodyPr/>
          <a:lstStyle/>
          <a:p>
            <a:r>
              <a:rPr lang="de-DE" dirty="0"/>
              <a:t>Abhängigkeiten installieren</a:t>
            </a:r>
          </a:p>
        </p:txBody>
      </p:sp>
      <p:sp>
        <p:nvSpPr>
          <p:cNvPr id="3" name="Foliennummernplatzhalter 2">
            <a:extLst>
              <a:ext uri="{FF2B5EF4-FFF2-40B4-BE49-F238E27FC236}">
                <a16:creationId xmlns:a16="http://schemas.microsoft.com/office/drawing/2014/main" id="{D0085F39-AA35-4DBC-BB36-1C8AE530554B}"/>
              </a:ext>
            </a:extLst>
          </p:cNvPr>
          <p:cNvSpPr>
            <a:spLocks noGrp="1"/>
          </p:cNvSpPr>
          <p:nvPr>
            <p:ph type="sldNum" sz="quarter" idx="10"/>
          </p:nvPr>
        </p:nvSpPr>
        <p:spPr/>
        <p:txBody>
          <a:bodyPr/>
          <a:lstStyle/>
          <a:p>
            <a:r>
              <a:rPr lang="de-DE"/>
              <a:t>Seite </a:t>
            </a:r>
            <a:fld id="{40192516-3A96-4AF1-ACCE-4FA25417AC18}" type="slidenum">
              <a:rPr lang="de-DE" smtClean="0"/>
              <a:pPr/>
              <a:t>9</a:t>
            </a:fld>
            <a:endParaRPr lang="de-DE"/>
          </a:p>
        </p:txBody>
      </p:sp>
      <p:sp>
        <p:nvSpPr>
          <p:cNvPr id="4" name="Textplatzhalter 3">
            <a:extLst>
              <a:ext uri="{FF2B5EF4-FFF2-40B4-BE49-F238E27FC236}">
                <a16:creationId xmlns:a16="http://schemas.microsoft.com/office/drawing/2014/main" id="{A71EC1B0-3C51-4046-8237-42F5AA0591A6}"/>
              </a:ext>
            </a:extLst>
          </p:cNvPr>
          <p:cNvSpPr>
            <a:spLocks noGrp="1"/>
          </p:cNvSpPr>
          <p:nvPr>
            <p:ph type="body" sz="quarter" idx="11"/>
          </p:nvPr>
        </p:nvSpPr>
        <p:spPr>
          <a:xfrm>
            <a:off x="522288" y="2109788"/>
            <a:ext cx="9941554" cy="4559300"/>
          </a:xfrm>
        </p:spPr>
        <p:txBody>
          <a:bodyPr/>
          <a:lstStyle/>
          <a:p>
            <a:pPr marL="342900" indent="-342900">
              <a:buFont typeface="+mj-lt"/>
              <a:buAutoNum type="arabicPeriod"/>
            </a:pPr>
            <a:r>
              <a:rPr lang="de-DE" dirty="0">
                <a:hlinkClick r:id="rId2"/>
              </a:rPr>
              <a:t>NVIDIA Studio-Treiber 591.74</a:t>
            </a:r>
            <a:endParaRPr lang="de-DE" dirty="0"/>
          </a:p>
          <a:p>
            <a:pPr marL="342900" indent="-342900">
              <a:buFont typeface="+mj-lt"/>
              <a:buAutoNum type="arabicPeriod"/>
            </a:pPr>
            <a:r>
              <a:rPr lang="de-DE" dirty="0">
                <a:hlinkClick r:id="rId3"/>
              </a:rPr>
              <a:t>Python 3.11.15</a:t>
            </a:r>
            <a:r>
              <a:rPr lang="de-DE" dirty="0"/>
              <a:t> (kann abweichen)</a:t>
            </a:r>
          </a:p>
          <a:p>
            <a:pPr marL="342900" indent="-342900">
              <a:buFont typeface="+mj-lt"/>
              <a:buAutoNum type="arabicPeriod"/>
            </a:pPr>
            <a:r>
              <a:rPr lang="de-DE" dirty="0">
                <a:hlinkClick r:id="rId4"/>
              </a:rPr>
              <a:t>CUDA 12.X</a:t>
            </a:r>
            <a:r>
              <a:rPr lang="de-DE" dirty="0"/>
              <a:t> (eigentlich ist CUDA bei dem NVIDIA Treiber dabei, in der hier Dokumentierten Version musste CUDA 12.6 manuell installiert werden (Stand März 2026))</a:t>
            </a:r>
            <a:br>
              <a:rPr lang="de-DE" dirty="0"/>
            </a:br>
            <a:r>
              <a:rPr lang="de-DE" dirty="0"/>
              <a:t>Die installierte Version kann im Terminal mit folgendem Befehl eingesehen werden: </a:t>
            </a:r>
            <a:br>
              <a:rPr lang="de-DE" dirty="0"/>
            </a:br>
            <a:r>
              <a:rPr lang="de-DE" dirty="0" err="1"/>
              <a:t>nvcc</a:t>
            </a:r>
            <a:r>
              <a:rPr lang="de-DE" dirty="0"/>
              <a:t> –</a:t>
            </a:r>
            <a:r>
              <a:rPr lang="de-DE" dirty="0" err="1"/>
              <a:t>version</a:t>
            </a:r>
            <a:endParaRPr lang="de-DE" dirty="0"/>
          </a:p>
          <a:p>
            <a:pPr marL="342900" indent="-342900">
              <a:buFont typeface="+mj-lt"/>
              <a:buAutoNum type="arabicPeriod"/>
            </a:pPr>
            <a:r>
              <a:rPr lang="de-DE" dirty="0"/>
              <a:t>MQTT </a:t>
            </a:r>
            <a:r>
              <a:rPr lang="de-DE" dirty="0" err="1"/>
              <a:t>Libary</a:t>
            </a:r>
            <a:r>
              <a:rPr lang="de-DE" dirty="0"/>
              <a:t> im Isaac SIM Installationsordner folgenden Befehl ausführen:</a:t>
            </a:r>
            <a:br>
              <a:rPr lang="de-DE" dirty="0"/>
            </a:br>
            <a:r>
              <a:rPr lang="de-DE" dirty="0"/>
              <a:t>.\python.bat -m </a:t>
            </a:r>
            <a:r>
              <a:rPr lang="de-DE" dirty="0" err="1"/>
              <a:t>pip</a:t>
            </a:r>
            <a:r>
              <a:rPr lang="de-DE" dirty="0"/>
              <a:t> </a:t>
            </a:r>
            <a:r>
              <a:rPr lang="de-DE" dirty="0" err="1"/>
              <a:t>install</a:t>
            </a:r>
            <a:r>
              <a:rPr lang="de-DE" dirty="0"/>
              <a:t> </a:t>
            </a:r>
            <a:r>
              <a:rPr lang="de-DE" dirty="0" err="1"/>
              <a:t>paho-mqtt</a:t>
            </a:r>
            <a:r>
              <a:rPr lang="de-DE" dirty="0"/>
              <a:t>==1.6.1 </a:t>
            </a:r>
          </a:p>
          <a:p>
            <a:br>
              <a:rPr lang="de-DE" dirty="0"/>
            </a:br>
            <a:endParaRPr lang="de-DE" dirty="0"/>
          </a:p>
        </p:txBody>
      </p:sp>
    </p:spTree>
    <p:extLst>
      <p:ext uri="{BB962C8B-B14F-4D97-AF65-F5344CB8AC3E}">
        <p14:creationId xmlns:p14="http://schemas.microsoft.com/office/powerpoint/2010/main" val="480748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D84373-847C-F6F2-A536-421ADAA5800A}"/>
              </a:ext>
            </a:extLst>
          </p:cNvPr>
          <p:cNvSpPr>
            <a:spLocks noGrp="1"/>
          </p:cNvSpPr>
          <p:nvPr>
            <p:ph type="title"/>
          </p:nvPr>
        </p:nvSpPr>
        <p:spPr/>
        <p:txBody>
          <a:bodyPr/>
          <a:lstStyle/>
          <a:p>
            <a:r>
              <a:rPr lang="de-DE" dirty="0"/>
              <a:t>Extension von GitHub herunterladen</a:t>
            </a:r>
          </a:p>
        </p:txBody>
      </p:sp>
      <p:sp>
        <p:nvSpPr>
          <p:cNvPr id="3" name="Foliennummernplatzhalter 2">
            <a:extLst>
              <a:ext uri="{FF2B5EF4-FFF2-40B4-BE49-F238E27FC236}">
                <a16:creationId xmlns:a16="http://schemas.microsoft.com/office/drawing/2014/main" id="{DD8995D7-7999-9A06-C5F0-AFF80E26BCAA}"/>
              </a:ext>
            </a:extLst>
          </p:cNvPr>
          <p:cNvSpPr>
            <a:spLocks noGrp="1"/>
          </p:cNvSpPr>
          <p:nvPr>
            <p:ph type="sldNum" sz="quarter" idx="10"/>
          </p:nvPr>
        </p:nvSpPr>
        <p:spPr/>
        <p:txBody>
          <a:bodyPr/>
          <a:lstStyle/>
          <a:p>
            <a:r>
              <a:rPr lang="de-DE"/>
              <a:t>Seite </a:t>
            </a:r>
            <a:fld id="{40192516-3A96-4AF1-ACCE-4FA25417AC18}" type="slidenum">
              <a:rPr lang="de-DE" smtClean="0"/>
              <a:pPr/>
              <a:t>10</a:t>
            </a:fld>
            <a:endParaRPr lang="de-DE"/>
          </a:p>
        </p:txBody>
      </p:sp>
      <p:sp>
        <p:nvSpPr>
          <p:cNvPr id="4" name="Textplatzhalter 3">
            <a:extLst>
              <a:ext uri="{FF2B5EF4-FFF2-40B4-BE49-F238E27FC236}">
                <a16:creationId xmlns:a16="http://schemas.microsoft.com/office/drawing/2014/main" id="{569C0A3C-E524-8A3A-CEF3-176DF4D2E733}"/>
              </a:ext>
            </a:extLst>
          </p:cNvPr>
          <p:cNvSpPr>
            <a:spLocks noGrp="1"/>
          </p:cNvSpPr>
          <p:nvPr>
            <p:ph type="body" sz="quarter" idx="11"/>
          </p:nvPr>
        </p:nvSpPr>
        <p:spPr>
          <a:xfrm>
            <a:off x="522288" y="2109788"/>
            <a:ext cx="5659681" cy="2157412"/>
          </a:xfrm>
        </p:spPr>
        <p:txBody>
          <a:bodyPr/>
          <a:lstStyle/>
          <a:p>
            <a:pPr marL="342900" indent="-342900">
              <a:buFont typeface="+mj-lt"/>
              <a:buAutoNum type="arabicPeriod"/>
            </a:pPr>
            <a:r>
              <a:rPr lang="de-DE" dirty="0">
                <a:hlinkClick r:id="rId2"/>
              </a:rPr>
              <a:t>Link</a:t>
            </a:r>
            <a:r>
              <a:rPr lang="de-DE" dirty="0"/>
              <a:t> öffnen</a:t>
            </a:r>
          </a:p>
          <a:p>
            <a:pPr marL="342900" indent="-342900">
              <a:buFont typeface="+mj-lt"/>
              <a:buAutoNum type="arabicPeriod"/>
            </a:pPr>
            <a:r>
              <a:rPr lang="de-DE" dirty="0"/>
              <a:t>Download ZIP</a:t>
            </a:r>
          </a:p>
          <a:p>
            <a:pPr marL="342900" indent="-342900">
              <a:buFont typeface="+mj-lt"/>
              <a:buAutoNum type="arabicPeriod"/>
            </a:pPr>
            <a:r>
              <a:rPr lang="de-DE" dirty="0"/>
              <a:t>Ordner Entpacken</a:t>
            </a:r>
          </a:p>
          <a:p>
            <a:pPr marL="342900" indent="-342900">
              <a:buFont typeface="+mj-lt"/>
              <a:buAutoNum type="arabicPeriod"/>
            </a:pPr>
            <a:r>
              <a:rPr lang="de-DE" dirty="0">
                <a:hlinkClick r:id="rId3"/>
              </a:rPr>
              <a:t>VS-Code</a:t>
            </a:r>
            <a:r>
              <a:rPr lang="de-DE" dirty="0"/>
              <a:t> ist die für Codeentwicklung empfohlene Oberfläche</a:t>
            </a:r>
          </a:p>
          <a:p>
            <a:r>
              <a:rPr lang="de-DE" dirty="0"/>
              <a:t>Alternativ per </a:t>
            </a:r>
            <a:r>
              <a:rPr lang="de-DE" dirty="0" err="1"/>
              <a:t>Git</a:t>
            </a:r>
            <a:r>
              <a:rPr lang="de-DE" dirty="0"/>
              <a:t>-Bash (siehe Folie 8)</a:t>
            </a:r>
          </a:p>
          <a:p>
            <a:endParaRPr lang="de-DE" dirty="0"/>
          </a:p>
          <a:p>
            <a:endParaRPr lang="de-DE" dirty="0"/>
          </a:p>
          <a:p>
            <a:endParaRPr lang="de-DE" dirty="0"/>
          </a:p>
          <a:p>
            <a:pPr marL="342900" indent="-342900">
              <a:buFont typeface="+mj-lt"/>
              <a:buAutoNum type="arabicPeriod"/>
            </a:pPr>
            <a:endParaRPr lang="de-DE" dirty="0"/>
          </a:p>
        </p:txBody>
      </p:sp>
      <p:pic>
        <p:nvPicPr>
          <p:cNvPr id="8" name="Grafik 7">
            <a:extLst>
              <a:ext uri="{FF2B5EF4-FFF2-40B4-BE49-F238E27FC236}">
                <a16:creationId xmlns:a16="http://schemas.microsoft.com/office/drawing/2014/main" id="{DA9D545C-FFFB-E7DB-919F-8C3F53223988}"/>
              </a:ext>
            </a:extLst>
          </p:cNvPr>
          <p:cNvPicPr>
            <a:picLocks noChangeAspect="1"/>
          </p:cNvPicPr>
          <p:nvPr/>
        </p:nvPicPr>
        <p:blipFill>
          <a:blip r:embed="rId4"/>
          <a:stretch>
            <a:fillRect/>
          </a:stretch>
        </p:blipFill>
        <p:spPr>
          <a:xfrm>
            <a:off x="6035432" y="1509242"/>
            <a:ext cx="4275190" cy="3528366"/>
          </a:xfrm>
          <a:prstGeom prst="rect">
            <a:avLst/>
          </a:prstGeom>
        </p:spPr>
      </p:pic>
    </p:spTree>
    <p:extLst>
      <p:ext uri="{BB962C8B-B14F-4D97-AF65-F5344CB8AC3E}">
        <p14:creationId xmlns:p14="http://schemas.microsoft.com/office/powerpoint/2010/main" val="426244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F99754-EF2F-475C-9DC2-EFC0755C2A87}"/>
              </a:ext>
            </a:extLst>
          </p:cNvPr>
          <p:cNvSpPr>
            <a:spLocks noGrp="1"/>
          </p:cNvSpPr>
          <p:nvPr>
            <p:ph type="title"/>
          </p:nvPr>
        </p:nvSpPr>
        <p:spPr/>
        <p:txBody>
          <a:bodyPr/>
          <a:lstStyle/>
          <a:p>
            <a:r>
              <a:rPr lang="de-DE" dirty="0"/>
              <a:t>Problembehandlung</a:t>
            </a:r>
          </a:p>
        </p:txBody>
      </p:sp>
      <p:sp>
        <p:nvSpPr>
          <p:cNvPr id="3" name="Foliennummernplatzhalter 2">
            <a:extLst>
              <a:ext uri="{FF2B5EF4-FFF2-40B4-BE49-F238E27FC236}">
                <a16:creationId xmlns:a16="http://schemas.microsoft.com/office/drawing/2014/main" id="{16806E5E-4997-4DF2-9004-74354244E87A}"/>
              </a:ext>
            </a:extLst>
          </p:cNvPr>
          <p:cNvSpPr>
            <a:spLocks noGrp="1"/>
          </p:cNvSpPr>
          <p:nvPr>
            <p:ph type="sldNum" sz="quarter" idx="10"/>
          </p:nvPr>
        </p:nvSpPr>
        <p:spPr/>
        <p:txBody>
          <a:bodyPr/>
          <a:lstStyle/>
          <a:p>
            <a:r>
              <a:rPr lang="de-DE"/>
              <a:t>Seite </a:t>
            </a:r>
            <a:fld id="{40192516-3A96-4AF1-ACCE-4FA25417AC18}" type="slidenum">
              <a:rPr lang="de-DE" smtClean="0"/>
              <a:pPr/>
              <a:t>11</a:t>
            </a:fld>
            <a:endParaRPr lang="de-DE"/>
          </a:p>
        </p:txBody>
      </p:sp>
      <p:sp>
        <p:nvSpPr>
          <p:cNvPr id="4" name="Textplatzhalter 3">
            <a:extLst>
              <a:ext uri="{FF2B5EF4-FFF2-40B4-BE49-F238E27FC236}">
                <a16:creationId xmlns:a16="http://schemas.microsoft.com/office/drawing/2014/main" id="{9950261D-4DEE-44CB-A0C1-C2AD1E1D9196}"/>
              </a:ext>
            </a:extLst>
          </p:cNvPr>
          <p:cNvSpPr>
            <a:spLocks noGrp="1"/>
          </p:cNvSpPr>
          <p:nvPr>
            <p:ph type="body" sz="quarter" idx="11"/>
          </p:nvPr>
        </p:nvSpPr>
        <p:spPr/>
        <p:txBody>
          <a:bodyPr/>
          <a:lstStyle/>
          <a:p>
            <a:pPr marL="342900" indent="-342900">
              <a:buFont typeface="+mj-lt"/>
              <a:buAutoNum type="arabicPeriod"/>
            </a:pPr>
            <a:r>
              <a:rPr lang="de-DE" dirty="0"/>
              <a:t>Flackern der Szene (Z-Fighting)</a:t>
            </a:r>
          </a:p>
          <a:p>
            <a:pPr marL="612775" lvl="1" indent="-342900">
              <a:buFont typeface="+mj-lt"/>
              <a:buAutoNum type="arabicPeriod"/>
            </a:pPr>
            <a:r>
              <a:rPr lang="de-DE" dirty="0"/>
              <a:t>RTX – Interactive </a:t>
            </a:r>
            <a:r>
              <a:rPr lang="de-DE" dirty="0">
                <a:sym typeface="Wingdings" panose="05000000000000000000" pitchFamily="2" charset="2"/>
              </a:rPr>
              <a:t> RTX – Interactive (Path Tracing)</a:t>
            </a:r>
          </a:p>
          <a:p>
            <a:pPr marL="612775" lvl="1" indent="-342900">
              <a:buFont typeface="+mj-lt"/>
              <a:buAutoNum type="arabicPeriod"/>
            </a:pPr>
            <a:r>
              <a:rPr lang="de-DE" dirty="0">
                <a:sym typeface="Wingdings" panose="05000000000000000000" pitchFamily="2" charset="2"/>
              </a:rPr>
              <a:t>Sicherstellen, dass die Grafikarte verwendet wird</a:t>
            </a:r>
          </a:p>
          <a:p>
            <a:pPr marL="612775" lvl="1" indent="-342900">
              <a:buFont typeface="+mj-lt"/>
              <a:buAutoNum type="arabicPeriod"/>
            </a:pPr>
            <a:r>
              <a:rPr lang="de-DE" dirty="0">
                <a:sym typeface="Wingdings" panose="05000000000000000000" pitchFamily="2" charset="2"/>
              </a:rPr>
              <a:t>Möglicherweise „kämpfen“ zwei Objekte die ineinander liegen darum, wer „oben“ liegt also sichtbar ist.  Stage  Strukturbaum prüfen</a:t>
            </a:r>
            <a:endParaRPr lang="de-DE" dirty="0"/>
          </a:p>
        </p:txBody>
      </p:sp>
      <p:pic>
        <p:nvPicPr>
          <p:cNvPr id="6" name="Grafik 5">
            <a:extLst>
              <a:ext uri="{FF2B5EF4-FFF2-40B4-BE49-F238E27FC236}">
                <a16:creationId xmlns:a16="http://schemas.microsoft.com/office/drawing/2014/main" id="{282DB2B5-CCFE-4E31-8E77-AD28165F311B}"/>
              </a:ext>
            </a:extLst>
          </p:cNvPr>
          <p:cNvPicPr>
            <a:picLocks noChangeAspect="1"/>
          </p:cNvPicPr>
          <p:nvPr/>
        </p:nvPicPr>
        <p:blipFill>
          <a:blip r:embed="rId2"/>
          <a:stretch>
            <a:fillRect/>
          </a:stretch>
        </p:blipFill>
        <p:spPr>
          <a:xfrm>
            <a:off x="0" y="5040195"/>
            <a:ext cx="10693400" cy="1851142"/>
          </a:xfrm>
          <a:prstGeom prst="rect">
            <a:avLst/>
          </a:prstGeom>
        </p:spPr>
      </p:pic>
    </p:spTree>
    <p:extLst>
      <p:ext uri="{BB962C8B-B14F-4D97-AF65-F5344CB8AC3E}">
        <p14:creationId xmlns:p14="http://schemas.microsoft.com/office/powerpoint/2010/main" val="3017884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F7E35AE6-D097-45E8-98FB-DF7EA64375B8}"/>
              </a:ext>
            </a:extLst>
          </p:cNvPr>
          <p:cNvSpPr/>
          <p:nvPr/>
        </p:nvSpPr>
        <p:spPr bwMode="auto">
          <a:xfrm>
            <a:off x="9223513" y="5247861"/>
            <a:ext cx="1223963" cy="1643476"/>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2" name="Titel 1">
            <a:extLst>
              <a:ext uri="{FF2B5EF4-FFF2-40B4-BE49-F238E27FC236}">
                <a16:creationId xmlns:a16="http://schemas.microsoft.com/office/drawing/2014/main" id="{63748CC7-C031-4585-9089-4C545AE997FB}"/>
              </a:ext>
            </a:extLst>
          </p:cNvPr>
          <p:cNvSpPr>
            <a:spLocks noGrp="1"/>
          </p:cNvSpPr>
          <p:nvPr>
            <p:ph type="title"/>
          </p:nvPr>
        </p:nvSpPr>
        <p:spPr/>
        <p:txBody>
          <a:bodyPr/>
          <a:lstStyle/>
          <a:p>
            <a:r>
              <a:rPr lang="de-DE" dirty="0"/>
              <a:t>Erste Schritte in Isaac Sim</a:t>
            </a:r>
          </a:p>
        </p:txBody>
      </p:sp>
      <p:sp>
        <p:nvSpPr>
          <p:cNvPr id="3" name="Foliennummernplatzhalter 2">
            <a:extLst>
              <a:ext uri="{FF2B5EF4-FFF2-40B4-BE49-F238E27FC236}">
                <a16:creationId xmlns:a16="http://schemas.microsoft.com/office/drawing/2014/main" id="{CC2CEC45-0683-4637-AA9F-8768214FF1A9}"/>
              </a:ext>
            </a:extLst>
          </p:cNvPr>
          <p:cNvSpPr>
            <a:spLocks noGrp="1"/>
          </p:cNvSpPr>
          <p:nvPr>
            <p:ph type="sldNum" sz="quarter" idx="10"/>
          </p:nvPr>
        </p:nvSpPr>
        <p:spPr/>
        <p:txBody>
          <a:bodyPr/>
          <a:lstStyle/>
          <a:p>
            <a:r>
              <a:rPr lang="de-DE"/>
              <a:t>Seite </a:t>
            </a:r>
            <a:fld id="{40192516-3A96-4AF1-ACCE-4FA25417AC18}" type="slidenum">
              <a:rPr lang="de-DE" smtClean="0"/>
              <a:pPr/>
              <a:t>12</a:t>
            </a:fld>
            <a:endParaRPr lang="de-DE"/>
          </a:p>
        </p:txBody>
      </p:sp>
      <p:pic>
        <p:nvPicPr>
          <p:cNvPr id="6" name="Grafik 5">
            <a:extLst>
              <a:ext uri="{FF2B5EF4-FFF2-40B4-BE49-F238E27FC236}">
                <a16:creationId xmlns:a16="http://schemas.microsoft.com/office/drawing/2014/main" id="{9B55CB66-442E-47F1-9299-E3A28C75A702}"/>
              </a:ext>
            </a:extLst>
          </p:cNvPr>
          <p:cNvPicPr>
            <a:picLocks noChangeAspect="1"/>
          </p:cNvPicPr>
          <p:nvPr/>
        </p:nvPicPr>
        <p:blipFill>
          <a:blip r:embed="rId2"/>
          <a:stretch>
            <a:fillRect/>
          </a:stretch>
        </p:blipFill>
        <p:spPr>
          <a:xfrm>
            <a:off x="1706880" y="1862229"/>
            <a:ext cx="7010400" cy="4091531"/>
          </a:xfrm>
          <a:prstGeom prst="rect">
            <a:avLst/>
          </a:prstGeom>
        </p:spPr>
      </p:pic>
      <p:sp>
        <p:nvSpPr>
          <p:cNvPr id="4" name="Textplatzhalter 3">
            <a:extLst>
              <a:ext uri="{FF2B5EF4-FFF2-40B4-BE49-F238E27FC236}">
                <a16:creationId xmlns:a16="http://schemas.microsoft.com/office/drawing/2014/main" id="{AA9AE2A5-D1A4-49D7-ABA3-740C3E5F1747}"/>
              </a:ext>
            </a:extLst>
          </p:cNvPr>
          <p:cNvSpPr>
            <a:spLocks noGrp="1"/>
          </p:cNvSpPr>
          <p:nvPr>
            <p:ph type="body" sz="quarter" idx="11"/>
          </p:nvPr>
        </p:nvSpPr>
        <p:spPr>
          <a:xfrm>
            <a:off x="8872538" y="4112895"/>
            <a:ext cx="1820862" cy="1525905"/>
          </a:xfrm>
        </p:spPr>
        <p:txBody>
          <a:bodyPr/>
          <a:lstStyle/>
          <a:p>
            <a:r>
              <a:rPr lang="de-DE" u="sng" dirty="0"/>
              <a:t>Property:</a:t>
            </a:r>
            <a:r>
              <a:rPr lang="de-DE" dirty="0"/>
              <a:t> Eigenschaften des ausgewählten Modells</a:t>
            </a:r>
            <a:br>
              <a:rPr lang="de-DE" dirty="0"/>
            </a:br>
            <a:r>
              <a:rPr lang="de-DE" u="sng" dirty="0"/>
              <a:t>Prim Path: </a:t>
            </a:r>
            <a:r>
              <a:rPr lang="de-DE" dirty="0"/>
              <a:t>ist der Pfad zu dem ausgewählten Objekt</a:t>
            </a:r>
          </a:p>
        </p:txBody>
      </p:sp>
      <p:sp>
        <p:nvSpPr>
          <p:cNvPr id="7" name="Textplatzhalter 3">
            <a:extLst>
              <a:ext uri="{FF2B5EF4-FFF2-40B4-BE49-F238E27FC236}">
                <a16:creationId xmlns:a16="http://schemas.microsoft.com/office/drawing/2014/main" id="{689CE2A2-9081-4623-B355-AA7790AEEF8E}"/>
              </a:ext>
            </a:extLst>
          </p:cNvPr>
          <p:cNvSpPr txBox="1">
            <a:spLocks/>
          </p:cNvSpPr>
          <p:nvPr/>
        </p:nvSpPr>
        <p:spPr bwMode="auto">
          <a:xfrm>
            <a:off x="8794909" y="1924050"/>
            <a:ext cx="1976120" cy="1857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1054100" rtl="0" fontAlgn="base">
              <a:lnSpc>
                <a:spcPct val="110000"/>
              </a:lnSpc>
              <a:spcBef>
                <a:spcPct val="0"/>
              </a:spcBef>
              <a:spcAft>
                <a:spcPct val="40000"/>
              </a:spcAft>
              <a:defRPr sz="1700">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a:lstStyle>
          <a:p>
            <a:r>
              <a:rPr lang="de-DE" u="sng" kern="0" dirty="0"/>
              <a:t>Stage:</a:t>
            </a:r>
            <a:r>
              <a:rPr lang="de-DE" kern="0" dirty="0"/>
              <a:t> Ordnerstruktur der Baugruppen-</a:t>
            </a:r>
            <a:br>
              <a:rPr lang="de-DE" kern="0" dirty="0"/>
            </a:br>
            <a:r>
              <a:rPr lang="de-DE" kern="0" dirty="0"/>
              <a:t>komponenten</a:t>
            </a:r>
            <a:br>
              <a:rPr lang="de-DE" kern="0" dirty="0"/>
            </a:br>
            <a:r>
              <a:rPr lang="de-DE" kern="0" dirty="0"/>
              <a:t>Sowie Beleuchtung</a:t>
            </a:r>
            <a:br>
              <a:rPr lang="de-DE" kern="0" dirty="0"/>
            </a:br>
            <a:r>
              <a:rPr lang="de-DE" kern="0" dirty="0"/>
              <a:t>Material etc.</a:t>
            </a:r>
          </a:p>
        </p:txBody>
      </p:sp>
      <p:sp>
        <p:nvSpPr>
          <p:cNvPr id="8" name="Textplatzhalter 3">
            <a:extLst>
              <a:ext uri="{FF2B5EF4-FFF2-40B4-BE49-F238E27FC236}">
                <a16:creationId xmlns:a16="http://schemas.microsoft.com/office/drawing/2014/main" id="{42C6A16B-DD26-418F-9886-6D344EE9123C}"/>
              </a:ext>
            </a:extLst>
          </p:cNvPr>
          <p:cNvSpPr txBox="1">
            <a:spLocks/>
          </p:cNvSpPr>
          <p:nvPr/>
        </p:nvSpPr>
        <p:spPr bwMode="auto">
          <a:xfrm>
            <a:off x="3833178" y="1239361"/>
            <a:ext cx="2780982" cy="15259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1054100" rtl="0" fontAlgn="base">
              <a:lnSpc>
                <a:spcPct val="110000"/>
              </a:lnSpc>
              <a:spcBef>
                <a:spcPct val="0"/>
              </a:spcBef>
              <a:spcAft>
                <a:spcPct val="40000"/>
              </a:spcAft>
              <a:defRPr sz="1700">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a:lstStyle>
          <a:p>
            <a:r>
              <a:rPr lang="de-DE" u="sng" kern="0" dirty="0"/>
              <a:t>Stage:</a:t>
            </a:r>
            <a:r>
              <a:rPr lang="de-DE" kern="0" dirty="0"/>
              <a:t> Modellansicht (Rechtsklick </a:t>
            </a:r>
            <a:r>
              <a:rPr lang="de-DE" kern="0" dirty="0">
                <a:sym typeface="Wingdings" panose="05000000000000000000" pitchFamily="2" charset="2"/>
              </a:rPr>
              <a:t> drehen</a:t>
            </a:r>
            <a:r>
              <a:rPr lang="de-DE" kern="0" dirty="0"/>
              <a:t> </a:t>
            </a:r>
          </a:p>
        </p:txBody>
      </p:sp>
      <p:sp>
        <p:nvSpPr>
          <p:cNvPr id="9" name="Textplatzhalter 3">
            <a:extLst>
              <a:ext uri="{FF2B5EF4-FFF2-40B4-BE49-F238E27FC236}">
                <a16:creationId xmlns:a16="http://schemas.microsoft.com/office/drawing/2014/main" id="{B86E78EC-DC22-467F-A629-832C7D3EF570}"/>
              </a:ext>
            </a:extLst>
          </p:cNvPr>
          <p:cNvSpPr txBox="1">
            <a:spLocks/>
          </p:cNvSpPr>
          <p:nvPr/>
        </p:nvSpPr>
        <p:spPr bwMode="auto">
          <a:xfrm>
            <a:off x="2029778" y="5984081"/>
            <a:ext cx="4218622" cy="67881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1054100" rtl="0" fontAlgn="base">
              <a:lnSpc>
                <a:spcPct val="110000"/>
              </a:lnSpc>
              <a:spcBef>
                <a:spcPct val="0"/>
              </a:spcBef>
              <a:spcAft>
                <a:spcPct val="40000"/>
              </a:spcAft>
              <a:defRPr sz="1700">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a:lstStyle>
          <a:p>
            <a:r>
              <a:rPr lang="de-DE" u="sng" kern="0" dirty="0"/>
              <a:t>Content:</a:t>
            </a:r>
            <a:r>
              <a:rPr lang="de-DE" kern="0" dirty="0"/>
              <a:t> Dateiübersicht von Omniverse Dateien oder Lokalen Projekten</a:t>
            </a:r>
          </a:p>
        </p:txBody>
      </p:sp>
      <p:sp>
        <p:nvSpPr>
          <p:cNvPr id="10" name="Textplatzhalter 3">
            <a:extLst>
              <a:ext uri="{FF2B5EF4-FFF2-40B4-BE49-F238E27FC236}">
                <a16:creationId xmlns:a16="http://schemas.microsoft.com/office/drawing/2014/main" id="{D3721B04-728B-4F0C-8890-F4889CD5818E}"/>
              </a:ext>
            </a:extLst>
          </p:cNvPr>
          <p:cNvSpPr txBox="1">
            <a:spLocks/>
          </p:cNvSpPr>
          <p:nvPr/>
        </p:nvSpPr>
        <p:spPr bwMode="auto">
          <a:xfrm>
            <a:off x="39210" y="1924050"/>
            <a:ext cx="2780982" cy="17437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1054100" rtl="0" fontAlgn="base">
              <a:lnSpc>
                <a:spcPct val="110000"/>
              </a:lnSpc>
              <a:spcBef>
                <a:spcPct val="0"/>
              </a:spcBef>
              <a:spcAft>
                <a:spcPct val="40000"/>
              </a:spcAft>
              <a:defRPr sz="1700">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a:lstStyle>
          <a:p>
            <a:r>
              <a:rPr lang="de-DE" u="sng" kern="0" dirty="0"/>
              <a:t>Werkzeuge:</a:t>
            </a:r>
            <a:br>
              <a:rPr lang="de-DE" u="sng" kern="0" dirty="0"/>
            </a:br>
            <a:r>
              <a:rPr lang="de-DE" kern="0" dirty="0"/>
              <a:t>Verschieben</a:t>
            </a:r>
            <a:br>
              <a:rPr lang="de-DE" kern="0" dirty="0"/>
            </a:br>
            <a:r>
              <a:rPr lang="de-DE" kern="0" dirty="0"/>
              <a:t>Skalieren</a:t>
            </a:r>
            <a:br>
              <a:rPr lang="de-DE" kern="0" dirty="0"/>
            </a:br>
            <a:r>
              <a:rPr lang="de-DE" kern="0" dirty="0"/>
              <a:t>etc.</a:t>
            </a:r>
            <a:br>
              <a:rPr lang="de-DE" kern="0" dirty="0"/>
            </a:br>
            <a:r>
              <a:rPr lang="de-DE" kern="0" dirty="0"/>
              <a:t>Play um die </a:t>
            </a:r>
            <a:br>
              <a:rPr lang="de-DE" kern="0" dirty="0"/>
            </a:br>
            <a:r>
              <a:rPr lang="de-DE" kern="0" dirty="0"/>
              <a:t>Szene zu starten</a:t>
            </a:r>
            <a:br>
              <a:rPr lang="de-DE" kern="0" dirty="0"/>
            </a:br>
            <a:r>
              <a:rPr lang="de-DE" kern="0" dirty="0"/>
              <a:t> </a:t>
            </a:r>
          </a:p>
        </p:txBody>
      </p:sp>
      <p:sp>
        <p:nvSpPr>
          <p:cNvPr id="11" name="Rechteck 10">
            <a:extLst>
              <a:ext uri="{FF2B5EF4-FFF2-40B4-BE49-F238E27FC236}">
                <a16:creationId xmlns:a16="http://schemas.microsoft.com/office/drawing/2014/main" id="{6C5DB8FC-435B-4262-821E-1DB45916B51A}"/>
              </a:ext>
            </a:extLst>
          </p:cNvPr>
          <p:cNvSpPr/>
          <p:nvPr/>
        </p:nvSpPr>
        <p:spPr bwMode="auto">
          <a:xfrm>
            <a:off x="6547104" y="4297387"/>
            <a:ext cx="1737360" cy="11206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Tree>
    <p:extLst>
      <p:ext uri="{BB962C8B-B14F-4D97-AF65-F5344CB8AC3E}">
        <p14:creationId xmlns:p14="http://schemas.microsoft.com/office/powerpoint/2010/main" val="2103638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945B40-0F4D-434C-9D46-22F92B94E313}"/>
              </a:ext>
            </a:extLst>
          </p:cNvPr>
          <p:cNvSpPr>
            <a:spLocks noGrp="1"/>
          </p:cNvSpPr>
          <p:nvPr>
            <p:ph type="title"/>
          </p:nvPr>
        </p:nvSpPr>
        <p:spPr/>
        <p:txBody>
          <a:bodyPr/>
          <a:lstStyle/>
          <a:p>
            <a:r>
              <a:rPr lang="de-DE" dirty="0"/>
              <a:t>STP-Datei in Isaac Sim öffnen</a:t>
            </a:r>
          </a:p>
        </p:txBody>
      </p:sp>
      <p:sp>
        <p:nvSpPr>
          <p:cNvPr id="3" name="Foliennummernplatzhalter 2">
            <a:extLst>
              <a:ext uri="{FF2B5EF4-FFF2-40B4-BE49-F238E27FC236}">
                <a16:creationId xmlns:a16="http://schemas.microsoft.com/office/drawing/2014/main" id="{8897A91F-7318-44E8-A6D7-03CFB6AF88F5}"/>
              </a:ext>
            </a:extLst>
          </p:cNvPr>
          <p:cNvSpPr>
            <a:spLocks noGrp="1"/>
          </p:cNvSpPr>
          <p:nvPr>
            <p:ph type="sldNum" sz="quarter" idx="10"/>
          </p:nvPr>
        </p:nvSpPr>
        <p:spPr/>
        <p:txBody>
          <a:bodyPr/>
          <a:lstStyle/>
          <a:p>
            <a:r>
              <a:rPr lang="de-DE"/>
              <a:t>Seite </a:t>
            </a:r>
            <a:fld id="{40192516-3A96-4AF1-ACCE-4FA25417AC18}" type="slidenum">
              <a:rPr lang="de-DE" smtClean="0"/>
              <a:pPr/>
              <a:t>13</a:t>
            </a:fld>
            <a:endParaRPr lang="de-DE"/>
          </a:p>
        </p:txBody>
      </p:sp>
      <p:sp>
        <p:nvSpPr>
          <p:cNvPr id="4" name="Textplatzhalter 3">
            <a:extLst>
              <a:ext uri="{FF2B5EF4-FFF2-40B4-BE49-F238E27FC236}">
                <a16:creationId xmlns:a16="http://schemas.microsoft.com/office/drawing/2014/main" id="{692E7A7B-2B65-42B4-8C23-D7ACE9C859A1}"/>
              </a:ext>
            </a:extLst>
          </p:cNvPr>
          <p:cNvSpPr>
            <a:spLocks noGrp="1"/>
          </p:cNvSpPr>
          <p:nvPr>
            <p:ph type="body" sz="quarter" idx="11"/>
          </p:nvPr>
        </p:nvSpPr>
        <p:spPr/>
        <p:txBody>
          <a:bodyPr/>
          <a:lstStyle/>
          <a:p>
            <a:pPr marL="342900" indent="-342900">
              <a:buFont typeface="+mj-lt"/>
              <a:buAutoNum type="arabicPeriod"/>
            </a:pPr>
            <a:r>
              <a:rPr lang="de-DE" dirty="0"/>
              <a:t>File </a:t>
            </a:r>
            <a:r>
              <a:rPr lang="de-DE" dirty="0">
                <a:sym typeface="Wingdings" panose="05000000000000000000" pitchFamily="2" charset="2"/>
              </a:rPr>
              <a:t> Import  .STP-Datei auswählen</a:t>
            </a:r>
            <a:br>
              <a:rPr lang="de-DE" dirty="0">
                <a:sym typeface="Wingdings" panose="05000000000000000000" pitchFamily="2" charset="2"/>
              </a:rPr>
            </a:br>
            <a:r>
              <a:rPr lang="de-DE" dirty="0">
                <a:sym typeface="Wingdings" panose="05000000000000000000" pitchFamily="2" charset="2"/>
              </a:rPr>
              <a:t>Dabei „</a:t>
            </a:r>
            <a:r>
              <a:rPr lang="de-DE" dirty="0" err="1">
                <a:sym typeface="Wingdings" panose="05000000000000000000" pitchFamily="2" charset="2"/>
              </a:rPr>
              <a:t>Enable</a:t>
            </a:r>
            <a:r>
              <a:rPr lang="de-DE" dirty="0">
                <a:sym typeface="Wingdings" panose="05000000000000000000" pitchFamily="2" charset="2"/>
              </a:rPr>
              <a:t> </a:t>
            </a:r>
            <a:r>
              <a:rPr lang="de-DE" dirty="0" err="1">
                <a:sym typeface="Wingdings" panose="05000000000000000000" pitchFamily="2" charset="2"/>
              </a:rPr>
              <a:t>Instancing</a:t>
            </a:r>
            <a:r>
              <a:rPr lang="de-DE" dirty="0">
                <a:sym typeface="Wingdings" panose="05000000000000000000" pitchFamily="2" charset="2"/>
              </a:rPr>
              <a:t>“ deaktivieren</a:t>
            </a:r>
          </a:p>
          <a:p>
            <a:pPr marL="342900" indent="-342900">
              <a:buFont typeface="+mj-lt"/>
              <a:buAutoNum type="arabicPeriod"/>
            </a:pPr>
            <a:r>
              <a:rPr lang="de-DE" dirty="0">
                <a:sym typeface="Wingdings" panose="05000000000000000000" pitchFamily="2" charset="2"/>
              </a:rPr>
              <a:t>Um Abhängigkeiten zu anderen Modellen zu löschen:</a:t>
            </a:r>
            <a:br>
              <a:rPr lang="de-DE" dirty="0">
                <a:sym typeface="Wingdings" panose="05000000000000000000" pitchFamily="2" charset="2"/>
              </a:rPr>
            </a:br>
            <a:r>
              <a:rPr lang="de-DE" dirty="0">
                <a:sym typeface="Wingdings" panose="05000000000000000000" pitchFamily="2" charset="2"/>
              </a:rPr>
              <a:t>File  „Save Flattened As…“</a:t>
            </a:r>
            <a:br>
              <a:rPr lang="de-DE" dirty="0">
                <a:sym typeface="Wingdings" panose="05000000000000000000" pitchFamily="2" charset="2"/>
              </a:rPr>
            </a:br>
            <a:r>
              <a:rPr lang="de-DE" dirty="0">
                <a:sym typeface="Wingdings" panose="05000000000000000000" pitchFamily="2" charset="2"/>
              </a:rPr>
              <a:t>Sollte dieses ausgegraut sein, vorerst „Save </a:t>
            </a:r>
            <a:r>
              <a:rPr lang="de-DE" dirty="0" err="1">
                <a:sym typeface="Wingdings" panose="05000000000000000000" pitchFamily="2" charset="2"/>
              </a:rPr>
              <a:t>as</a:t>
            </a:r>
            <a:r>
              <a:rPr lang="de-DE" dirty="0">
                <a:sym typeface="Wingdings" panose="05000000000000000000" pitchFamily="2" charset="2"/>
              </a:rPr>
              <a:t>…“</a:t>
            </a:r>
          </a:p>
          <a:p>
            <a:pPr marL="342900" indent="-342900">
              <a:buFont typeface="+mj-lt"/>
              <a:buAutoNum type="arabicPeriod"/>
            </a:pPr>
            <a:r>
              <a:rPr lang="de-DE" dirty="0">
                <a:sym typeface="Wingdings" panose="05000000000000000000" pitchFamily="2" charset="2"/>
              </a:rPr>
              <a:t>Nach öffnen des gespeicherten Modells sollten</a:t>
            </a:r>
            <a:br>
              <a:rPr lang="de-DE" dirty="0">
                <a:sym typeface="Wingdings" panose="05000000000000000000" pitchFamily="2" charset="2"/>
              </a:rPr>
            </a:br>
            <a:r>
              <a:rPr lang="de-DE" dirty="0">
                <a:sym typeface="Wingdings" panose="05000000000000000000" pitchFamily="2" charset="2"/>
              </a:rPr>
              <a:t>die Farben übernommen worden sein</a:t>
            </a:r>
          </a:p>
          <a:p>
            <a:pPr marL="342900" indent="-342900">
              <a:buFont typeface="+mj-lt"/>
              <a:buAutoNum type="arabicPeriod"/>
            </a:pPr>
            <a:r>
              <a:rPr lang="de-DE" b="1" dirty="0">
                <a:sym typeface="Wingdings" panose="05000000000000000000" pitchFamily="2" charset="2"/>
              </a:rPr>
              <a:t>Wichtig: </a:t>
            </a:r>
            <a:r>
              <a:rPr lang="de-DE" dirty="0">
                <a:sym typeface="Wingdings" panose="05000000000000000000" pitchFamily="2" charset="2"/>
              </a:rPr>
              <a:t>Im Stage Bereich dürfen weder blaue- </a:t>
            </a:r>
            <a:br>
              <a:rPr lang="de-DE" dirty="0">
                <a:sym typeface="Wingdings" panose="05000000000000000000" pitchFamily="2" charset="2"/>
              </a:rPr>
            </a:br>
            <a:r>
              <a:rPr lang="de-DE" dirty="0">
                <a:sym typeface="Wingdings" panose="05000000000000000000" pitchFamily="2" charset="2"/>
              </a:rPr>
              <a:t>noch orangefarbene Pfeile an den Einträgen sein.</a:t>
            </a:r>
            <a:br>
              <a:rPr lang="de-DE" dirty="0">
                <a:sym typeface="Wingdings" panose="05000000000000000000" pitchFamily="2" charset="2"/>
              </a:rPr>
            </a:br>
            <a:r>
              <a:rPr lang="de-DE" b="1" dirty="0">
                <a:sym typeface="Wingdings" panose="05000000000000000000" pitchFamily="2" charset="2"/>
              </a:rPr>
              <a:t>Grund: </a:t>
            </a:r>
            <a:r>
              <a:rPr lang="de-DE" dirty="0">
                <a:sym typeface="Wingdings" panose="05000000000000000000" pitchFamily="2" charset="2"/>
              </a:rPr>
              <a:t>Das würde bedeuten, dass dieses </a:t>
            </a:r>
            <a:br>
              <a:rPr lang="de-DE" dirty="0">
                <a:sym typeface="Wingdings" panose="05000000000000000000" pitchFamily="2" charset="2"/>
              </a:rPr>
            </a:br>
            <a:r>
              <a:rPr lang="de-DE" dirty="0">
                <a:sym typeface="Wingdings" panose="05000000000000000000" pitchFamily="2" charset="2"/>
              </a:rPr>
              <a:t>Teil mit einer Datei außerhalb des Projektes </a:t>
            </a:r>
            <a:br>
              <a:rPr lang="de-DE" dirty="0">
                <a:sym typeface="Wingdings" panose="05000000000000000000" pitchFamily="2" charset="2"/>
              </a:rPr>
            </a:br>
            <a:r>
              <a:rPr lang="de-DE" dirty="0">
                <a:sym typeface="Wingdings" panose="05000000000000000000" pitchFamily="2" charset="2"/>
              </a:rPr>
              <a:t>synchronisiert ist und nicht veränderbar ist.</a:t>
            </a:r>
            <a:br>
              <a:rPr lang="de-DE" dirty="0">
                <a:sym typeface="Wingdings" panose="05000000000000000000" pitchFamily="2" charset="2"/>
              </a:rPr>
            </a:br>
            <a:r>
              <a:rPr lang="de-DE" b="1" dirty="0">
                <a:sym typeface="Wingdings" panose="05000000000000000000" pitchFamily="2" charset="2"/>
              </a:rPr>
              <a:t>Prüfen: </a:t>
            </a:r>
            <a:r>
              <a:rPr lang="de-DE" dirty="0">
                <a:sym typeface="Wingdings" panose="05000000000000000000" pitchFamily="2" charset="2"/>
              </a:rPr>
              <a:t>Der Name sollte änderbar sein</a:t>
            </a:r>
            <a:br>
              <a:rPr lang="de-DE" dirty="0">
                <a:sym typeface="Wingdings" panose="05000000000000000000" pitchFamily="2" charset="2"/>
              </a:rPr>
            </a:br>
            <a:r>
              <a:rPr lang="de-DE" dirty="0">
                <a:sym typeface="Wingdings" panose="05000000000000000000" pitchFamily="2" charset="2"/>
              </a:rPr>
              <a:t>Dieses Skript-Editor Skript entfernt </a:t>
            </a:r>
            <a:br>
              <a:rPr lang="de-DE" dirty="0">
                <a:sym typeface="Wingdings" panose="05000000000000000000" pitchFamily="2" charset="2"/>
              </a:rPr>
            </a:br>
            <a:r>
              <a:rPr lang="de-DE" dirty="0">
                <a:sym typeface="Wingdings" panose="05000000000000000000" pitchFamily="2" charset="2"/>
              </a:rPr>
              <a:t>alle orangefarbenen Haken </a:t>
            </a:r>
            <a:br>
              <a:rPr lang="de-DE" dirty="0">
                <a:sym typeface="Wingdings" panose="05000000000000000000" pitchFamily="2" charset="2"/>
              </a:rPr>
            </a:br>
            <a:endParaRPr lang="de-DE" dirty="0"/>
          </a:p>
        </p:txBody>
      </p:sp>
      <p:pic>
        <p:nvPicPr>
          <p:cNvPr id="6" name="Grafik 5">
            <a:extLst>
              <a:ext uri="{FF2B5EF4-FFF2-40B4-BE49-F238E27FC236}">
                <a16:creationId xmlns:a16="http://schemas.microsoft.com/office/drawing/2014/main" id="{C1B36960-8159-4D07-9ABE-07B7AD492C28}"/>
              </a:ext>
            </a:extLst>
          </p:cNvPr>
          <p:cNvPicPr>
            <a:picLocks noChangeAspect="1"/>
          </p:cNvPicPr>
          <p:nvPr/>
        </p:nvPicPr>
        <p:blipFill>
          <a:blip r:embed="rId2"/>
          <a:stretch>
            <a:fillRect/>
          </a:stretch>
        </p:blipFill>
        <p:spPr>
          <a:xfrm>
            <a:off x="7345680" y="4943696"/>
            <a:ext cx="2850509" cy="1996631"/>
          </a:xfrm>
          <a:prstGeom prst="rect">
            <a:avLst/>
          </a:prstGeom>
        </p:spPr>
      </p:pic>
      <p:pic>
        <p:nvPicPr>
          <p:cNvPr id="7" name="Grafik 6">
            <a:extLst>
              <a:ext uri="{FF2B5EF4-FFF2-40B4-BE49-F238E27FC236}">
                <a16:creationId xmlns:a16="http://schemas.microsoft.com/office/drawing/2014/main" id="{34C7F9E7-9064-45FF-8322-C8F65EE317BA}"/>
              </a:ext>
            </a:extLst>
          </p:cNvPr>
          <p:cNvPicPr>
            <a:picLocks noChangeAspect="1"/>
          </p:cNvPicPr>
          <p:nvPr/>
        </p:nvPicPr>
        <p:blipFill>
          <a:blip r:embed="rId3"/>
          <a:stretch>
            <a:fillRect/>
          </a:stretch>
        </p:blipFill>
        <p:spPr>
          <a:xfrm>
            <a:off x="6293796" y="724937"/>
            <a:ext cx="3902393" cy="2837589"/>
          </a:xfrm>
          <a:prstGeom prst="rect">
            <a:avLst/>
          </a:prstGeom>
        </p:spPr>
      </p:pic>
      <p:sp>
        <p:nvSpPr>
          <p:cNvPr id="8" name="Rechteck 7">
            <a:extLst>
              <a:ext uri="{FF2B5EF4-FFF2-40B4-BE49-F238E27FC236}">
                <a16:creationId xmlns:a16="http://schemas.microsoft.com/office/drawing/2014/main" id="{B7EBFED9-F918-4888-9A9C-8F6E4F241D5B}"/>
              </a:ext>
            </a:extLst>
          </p:cNvPr>
          <p:cNvSpPr/>
          <p:nvPr/>
        </p:nvSpPr>
        <p:spPr bwMode="auto">
          <a:xfrm>
            <a:off x="8001000" y="1458278"/>
            <a:ext cx="797560" cy="167958"/>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pic>
        <p:nvPicPr>
          <p:cNvPr id="5" name="Grafik 4">
            <a:extLst>
              <a:ext uri="{FF2B5EF4-FFF2-40B4-BE49-F238E27FC236}">
                <a16:creationId xmlns:a16="http://schemas.microsoft.com/office/drawing/2014/main" id="{8B7ECF65-5509-47E0-8E68-507A88A5EADA}"/>
              </a:ext>
            </a:extLst>
          </p:cNvPr>
          <p:cNvPicPr>
            <a:picLocks noChangeAspect="1"/>
          </p:cNvPicPr>
          <p:nvPr/>
        </p:nvPicPr>
        <p:blipFill>
          <a:blip r:embed="rId4"/>
          <a:stretch>
            <a:fillRect/>
          </a:stretch>
        </p:blipFill>
        <p:spPr>
          <a:xfrm>
            <a:off x="7252522" y="2467160"/>
            <a:ext cx="2943667" cy="2628530"/>
          </a:xfrm>
          <a:prstGeom prst="rect">
            <a:avLst/>
          </a:prstGeom>
        </p:spPr>
      </p:pic>
      <p:pic>
        <p:nvPicPr>
          <p:cNvPr id="9" name="Grafik 8">
            <a:extLst>
              <a:ext uri="{FF2B5EF4-FFF2-40B4-BE49-F238E27FC236}">
                <a16:creationId xmlns:a16="http://schemas.microsoft.com/office/drawing/2014/main" id="{E9A832FD-09C9-42A3-B741-8B34B6A9AE81}"/>
              </a:ext>
            </a:extLst>
          </p:cNvPr>
          <p:cNvPicPr>
            <a:picLocks noChangeAspect="1"/>
          </p:cNvPicPr>
          <p:nvPr/>
        </p:nvPicPr>
        <p:blipFill>
          <a:blip r:embed="rId5"/>
          <a:stretch>
            <a:fillRect/>
          </a:stretch>
        </p:blipFill>
        <p:spPr>
          <a:xfrm>
            <a:off x="5952941" y="5102811"/>
            <a:ext cx="1296216" cy="1768794"/>
          </a:xfrm>
          <a:prstGeom prst="rect">
            <a:avLst/>
          </a:prstGeom>
        </p:spPr>
      </p:pic>
      <p:sp>
        <p:nvSpPr>
          <p:cNvPr id="10" name="Rechteck 9">
            <a:extLst>
              <a:ext uri="{FF2B5EF4-FFF2-40B4-BE49-F238E27FC236}">
                <a16:creationId xmlns:a16="http://schemas.microsoft.com/office/drawing/2014/main" id="{A43B07B9-4C1D-4977-9CF4-9761B4BE5307}"/>
              </a:ext>
            </a:extLst>
          </p:cNvPr>
          <p:cNvSpPr/>
          <p:nvPr/>
        </p:nvSpPr>
        <p:spPr bwMode="auto">
          <a:xfrm>
            <a:off x="7355840" y="4459648"/>
            <a:ext cx="1002986" cy="134876"/>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1" name="Rechteck 10">
            <a:extLst>
              <a:ext uri="{FF2B5EF4-FFF2-40B4-BE49-F238E27FC236}">
                <a16:creationId xmlns:a16="http://schemas.microsoft.com/office/drawing/2014/main" id="{A144A522-174D-459C-B275-C9DA19A74544}"/>
              </a:ext>
            </a:extLst>
          </p:cNvPr>
          <p:cNvSpPr/>
          <p:nvPr/>
        </p:nvSpPr>
        <p:spPr bwMode="auto">
          <a:xfrm>
            <a:off x="4431964" y="6125574"/>
            <a:ext cx="1128390" cy="746031"/>
          </a:xfrm>
          <a:prstGeom prst="rect">
            <a:avLst/>
          </a:prstGeom>
          <a:solidFill>
            <a:schemeClr val="tx1">
              <a:lumMod val="75000"/>
              <a:lumOff val="25000"/>
            </a:scheme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algn="l"/>
            <a:r>
              <a:rPr lang="de-DE" sz="400" dirty="0" err="1"/>
              <a:t>import</a:t>
            </a:r>
            <a:r>
              <a:rPr lang="de-DE" sz="400" dirty="0"/>
              <a:t> </a:t>
            </a:r>
            <a:r>
              <a:rPr lang="de-DE" sz="400" dirty="0" err="1"/>
              <a:t>omni.usd</a:t>
            </a:r>
            <a:endParaRPr lang="de-DE" sz="400" dirty="0"/>
          </a:p>
          <a:p>
            <a:pPr algn="l"/>
            <a:r>
              <a:rPr lang="de-DE" sz="400" dirty="0" err="1"/>
              <a:t>from</a:t>
            </a:r>
            <a:r>
              <a:rPr lang="de-DE" sz="400" dirty="0"/>
              <a:t> </a:t>
            </a:r>
            <a:r>
              <a:rPr lang="de-DE" sz="400" dirty="0" err="1"/>
              <a:t>pxr</a:t>
            </a:r>
            <a:r>
              <a:rPr lang="de-DE" sz="400" dirty="0"/>
              <a:t> </a:t>
            </a:r>
            <a:r>
              <a:rPr lang="de-DE" sz="400" dirty="0" err="1"/>
              <a:t>import</a:t>
            </a:r>
            <a:r>
              <a:rPr lang="de-DE" sz="400" dirty="0"/>
              <a:t> </a:t>
            </a:r>
            <a:r>
              <a:rPr lang="de-DE" sz="400" dirty="0" err="1"/>
              <a:t>Usd</a:t>
            </a:r>
            <a:endParaRPr lang="de-DE" sz="400" dirty="0"/>
          </a:p>
          <a:p>
            <a:pPr algn="l"/>
            <a:endParaRPr lang="de-DE" sz="400" dirty="0"/>
          </a:p>
          <a:p>
            <a:pPr algn="l"/>
            <a:r>
              <a:rPr lang="de-DE" sz="400" dirty="0"/>
              <a:t># Hole die aktuelle Stage</a:t>
            </a:r>
          </a:p>
          <a:p>
            <a:pPr algn="l"/>
            <a:r>
              <a:rPr lang="de-DE" sz="400" dirty="0" err="1"/>
              <a:t>stage</a:t>
            </a:r>
            <a:r>
              <a:rPr lang="de-DE" sz="400" dirty="0"/>
              <a:t> = </a:t>
            </a:r>
            <a:r>
              <a:rPr lang="de-DE" sz="400" dirty="0" err="1"/>
              <a:t>omni.usd.get_context</a:t>
            </a:r>
            <a:r>
              <a:rPr lang="de-DE" sz="400" dirty="0"/>
              <a:t>().</a:t>
            </a:r>
            <a:r>
              <a:rPr lang="de-DE" sz="400" dirty="0" err="1"/>
              <a:t>get_stage</a:t>
            </a:r>
            <a:r>
              <a:rPr lang="de-DE" sz="400" dirty="0"/>
              <a:t>()</a:t>
            </a:r>
          </a:p>
          <a:p>
            <a:pPr algn="l"/>
            <a:endParaRPr lang="de-DE" sz="400" dirty="0"/>
          </a:p>
          <a:p>
            <a:pPr algn="l"/>
            <a:r>
              <a:rPr lang="de-DE" sz="400" dirty="0"/>
              <a:t># Gehe durch alle </a:t>
            </a:r>
            <a:r>
              <a:rPr lang="de-DE" sz="400" dirty="0" err="1"/>
              <a:t>Prims</a:t>
            </a:r>
            <a:r>
              <a:rPr lang="de-DE" sz="400" dirty="0"/>
              <a:t> der Szene</a:t>
            </a:r>
          </a:p>
          <a:p>
            <a:pPr algn="l"/>
            <a:r>
              <a:rPr lang="de-DE" sz="400" dirty="0" err="1"/>
              <a:t>for</a:t>
            </a:r>
            <a:r>
              <a:rPr lang="de-DE" sz="400" dirty="0"/>
              <a:t> prim in </a:t>
            </a:r>
            <a:r>
              <a:rPr lang="de-DE" sz="400" dirty="0" err="1"/>
              <a:t>stage.Traverse</a:t>
            </a:r>
            <a:r>
              <a:rPr lang="de-DE" sz="400" dirty="0"/>
              <a:t>():</a:t>
            </a:r>
          </a:p>
          <a:p>
            <a:pPr algn="l"/>
            <a:r>
              <a:rPr lang="de-DE" sz="400" dirty="0"/>
              <a:t>    </a:t>
            </a:r>
            <a:r>
              <a:rPr lang="de-DE" sz="400" dirty="0" err="1"/>
              <a:t>if</a:t>
            </a:r>
            <a:r>
              <a:rPr lang="de-DE" sz="400" dirty="0"/>
              <a:t> </a:t>
            </a:r>
            <a:r>
              <a:rPr lang="de-DE" sz="400" dirty="0" err="1"/>
              <a:t>prim.IsInstanceable</a:t>
            </a:r>
            <a:r>
              <a:rPr lang="de-DE" sz="400" dirty="0"/>
              <a:t>():</a:t>
            </a:r>
          </a:p>
          <a:p>
            <a:pPr algn="l"/>
            <a:r>
              <a:rPr lang="de-DE" sz="400" dirty="0"/>
              <a:t>        </a:t>
            </a:r>
            <a:r>
              <a:rPr lang="de-DE" sz="400" dirty="0" err="1"/>
              <a:t>prim.SetInstanceable</a:t>
            </a:r>
            <a:r>
              <a:rPr lang="de-DE" sz="400" dirty="0"/>
              <a:t>(</a:t>
            </a:r>
            <a:r>
              <a:rPr lang="de-DE" sz="400" dirty="0" err="1"/>
              <a:t>False</a:t>
            </a:r>
            <a:r>
              <a:rPr lang="de-DE" sz="400" dirty="0"/>
              <a:t>)</a:t>
            </a:r>
          </a:p>
          <a:p>
            <a:pPr algn="l"/>
            <a:endParaRPr lang="de-DE" sz="400" dirty="0"/>
          </a:p>
          <a:p>
            <a:pPr algn="l"/>
            <a:r>
              <a:rPr lang="de-DE" sz="400" dirty="0" err="1"/>
              <a:t>print</a:t>
            </a:r>
            <a:r>
              <a:rPr lang="de-DE" sz="400" dirty="0"/>
              <a:t>("Alle Instanz-Haken wurden entfernt.")</a:t>
            </a:r>
            <a:endParaRPr kumimoji="0" lang="de-DE" sz="4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2151267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9223EB-DAD1-43A2-8204-ADEC9B831E52}"/>
              </a:ext>
            </a:extLst>
          </p:cNvPr>
          <p:cNvSpPr>
            <a:spLocks noGrp="1"/>
          </p:cNvSpPr>
          <p:nvPr>
            <p:ph type="title"/>
          </p:nvPr>
        </p:nvSpPr>
        <p:spPr/>
        <p:txBody>
          <a:bodyPr/>
          <a:lstStyle/>
          <a:p>
            <a:r>
              <a:rPr lang="de-DE" dirty="0"/>
              <a:t>Starre Gelenkteile am Bsp. Magazin Glasplatte</a:t>
            </a:r>
          </a:p>
        </p:txBody>
      </p:sp>
      <p:sp>
        <p:nvSpPr>
          <p:cNvPr id="3" name="Foliennummernplatzhalter 2">
            <a:extLst>
              <a:ext uri="{FF2B5EF4-FFF2-40B4-BE49-F238E27FC236}">
                <a16:creationId xmlns:a16="http://schemas.microsoft.com/office/drawing/2014/main" id="{FC1E39C7-DAB1-4549-95FA-658A8C25F29C}"/>
              </a:ext>
            </a:extLst>
          </p:cNvPr>
          <p:cNvSpPr>
            <a:spLocks noGrp="1"/>
          </p:cNvSpPr>
          <p:nvPr>
            <p:ph type="sldNum" sz="quarter" idx="10"/>
          </p:nvPr>
        </p:nvSpPr>
        <p:spPr/>
        <p:txBody>
          <a:bodyPr/>
          <a:lstStyle/>
          <a:p>
            <a:r>
              <a:rPr lang="de-DE"/>
              <a:t>Seite </a:t>
            </a:r>
            <a:fld id="{40192516-3A96-4AF1-ACCE-4FA25417AC18}" type="slidenum">
              <a:rPr lang="de-DE" smtClean="0"/>
              <a:pPr/>
              <a:t>14</a:t>
            </a:fld>
            <a:endParaRPr lang="de-DE"/>
          </a:p>
        </p:txBody>
      </p:sp>
      <p:sp>
        <p:nvSpPr>
          <p:cNvPr id="4" name="Textplatzhalter 3">
            <a:extLst>
              <a:ext uri="{FF2B5EF4-FFF2-40B4-BE49-F238E27FC236}">
                <a16:creationId xmlns:a16="http://schemas.microsoft.com/office/drawing/2014/main" id="{F5EFC434-D014-43CD-98DE-667341D0D74D}"/>
              </a:ext>
            </a:extLst>
          </p:cNvPr>
          <p:cNvSpPr>
            <a:spLocks noGrp="1"/>
          </p:cNvSpPr>
          <p:nvPr>
            <p:ph type="body" sz="quarter" idx="11"/>
          </p:nvPr>
        </p:nvSpPr>
        <p:spPr/>
        <p:txBody>
          <a:bodyPr/>
          <a:lstStyle/>
          <a:p>
            <a:pPr marL="342900" indent="-342900">
              <a:buFont typeface="+mj-lt"/>
              <a:buAutoNum type="arabicPeriod"/>
            </a:pPr>
            <a:r>
              <a:rPr lang="de-DE" dirty="0"/>
              <a:t>Alle Teile auswählen die starr sein sollen</a:t>
            </a:r>
          </a:p>
          <a:p>
            <a:pPr marL="342900" indent="-342900">
              <a:buFont typeface="+mj-lt"/>
              <a:buAutoNum type="arabicPeriod"/>
            </a:pPr>
            <a:r>
              <a:rPr lang="de-DE" dirty="0"/>
              <a:t>Rechtklick auf eines der Teile und „Group Selected“ auswählen</a:t>
            </a:r>
          </a:p>
          <a:p>
            <a:pPr marL="342900" indent="-342900">
              <a:buFont typeface="+mj-lt"/>
              <a:buAutoNum type="arabicPeriod"/>
            </a:pPr>
            <a:r>
              <a:rPr lang="de-DE" dirty="0"/>
              <a:t>Die erstellte Gruppe „</a:t>
            </a:r>
            <a:r>
              <a:rPr lang="de-DE" dirty="0" err="1"/>
              <a:t>Magazin_Glasplatte_fix</a:t>
            </a:r>
            <a:r>
              <a:rPr lang="de-DE" dirty="0"/>
              <a:t>“ benennen</a:t>
            </a:r>
          </a:p>
          <a:p>
            <a:pPr marL="342900" indent="-342900">
              <a:buFont typeface="+mj-lt"/>
              <a:buAutoNum type="arabicPeriod"/>
            </a:pPr>
            <a:r>
              <a:rPr lang="de-DE" dirty="0"/>
              <a:t>Die finale Ordnerstruktur sollte wie folgt aussehen:</a:t>
            </a:r>
          </a:p>
        </p:txBody>
      </p:sp>
      <p:pic>
        <p:nvPicPr>
          <p:cNvPr id="5" name="Grafik 4">
            <a:extLst>
              <a:ext uri="{FF2B5EF4-FFF2-40B4-BE49-F238E27FC236}">
                <a16:creationId xmlns:a16="http://schemas.microsoft.com/office/drawing/2014/main" id="{9B2346CC-4B46-4EB0-9EE2-BEC894EAD513}"/>
              </a:ext>
            </a:extLst>
          </p:cNvPr>
          <p:cNvPicPr>
            <a:picLocks noChangeAspect="1"/>
          </p:cNvPicPr>
          <p:nvPr/>
        </p:nvPicPr>
        <p:blipFill>
          <a:blip r:embed="rId2"/>
          <a:stretch>
            <a:fillRect/>
          </a:stretch>
        </p:blipFill>
        <p:spPr>
          <a:xfrm>
            <a:off x="634048" y="3596277"/>
            <a:ext cx="4383313" cy="3185444"/>
          </a:xfrm>
          <a:prstGeom prst="rect">
            <a:avLst/>
          </a:prstGeom>
        </p:spPr>
      </p:pic>
      <p:pic>
        <p:nvPicPr>
          <p:cNvPr id="6" name="Grafik 5">
            <a:extLst>
              <a:ext uri="{FF2B5EF4-FFF2-40B4-BE49-F238E27FC236}">
                <a16:creationId xmlns:a16="http://schemas.microsoft.com/office/drawing/2014/main" id="{10DE1191-7C91-42FC-A0C8-B6397AE48935}"/>
              </a:ext>
            </a:extLst>
          </p:cNvPr>
          <p:cNvPicPr>
            <a:picLocks noChangeAspect="1"/>
          </p:cNvPicPr>
          <p:nvPr/>
        </p:nvPicPr>
        <p:blipFill>
          <a:blip r:embed="rId3"/>
          <a:stretch>
            <a:fillRect/>
          </a:stretch>
        </p:blipFill>
        <p:spPr>
          <a:xfrm>
            <a:off x="6106159" y="3273452"/>
            <a:ext cx="4260421" cy="1015946"/>
          </a:xfrm>
          <a:prstGeom prst="rect">
            <a:avLst/>
          </a:prstGeom>
        </p:spPr>
      </p:pic>
    </p:spTree>
    <p:extLst>
      <p:ext uri="{BB962C8B-B14F-4D97-AF65-F5344CB8AC3E}">
        <p14:creationId xmlns:p14="http://schemas.microsoft.com/office/powerpoint/2010/main" val="949214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9223EB-DAD1-43A2-8204-ADEC9B831E52}"/>
              </a:ext>
            </a:extLst>
          </p:cNvPr>
          <p:cNvSpPr>
            <a:spLocks noGrp="1"/>
          </p:cNvSpPr>
          <p:nvPr>
            <p:ph type="title"/>
          </p:nvPr>
        </p:nvSpPr>
        <p:spPr/>
        <p:txBody>
          <a:bodyPr/>
          <a:lstStyle/>
          <a:p>
            <a:r>
              <a:rPr lang="de-DE" dirty="0"/>
              <a:t>Bewegliche Gelenkteile am Bsp. Magazin Glasplatte</a:t>
            </a:r>
          </a:p>
        </p:txBody>
      </p:sp>
      <p:sp>
        <p:nvSpPr>
          <p:cNvPr id="3" name="Foliennummernplatzhalter 2">
            <a:extLst>
              <a:ext uri="{FF2B5EF4-FFF2-40B4-BE49-F238E27FC236}">
                <a16:creationId xmlns:a16="http://schemas.microsoft.com/office/drawing/2014/main" id="{FC1E39C7-DAB1-4549-95FA-658A8C25F29C}"/>
              </a:ext>
            </a:extLst>
          </p:cNvPr>
          <p:cNvSpPr>
            <a:spLocks noGrp="1"/>
          </p:cNvSpPr>
          <p:nvPr>
            <p:ph type="sldNum" sz="quarter" idx="10"/>
          </p:nvPr>
        </p:nvSpPr>
        <p:spPr/>
        <p:txBody>
          <a:bodyPr/>
          <a:lstStyle/>
          <a:p>
            <a:r>
              <a:rPr lang="de-DE"/>
              <a:t>Seite </a:t>
            </a:r>
            <a:fld id="{40192516-3A96-4AF1-ACCE-4FA25417AC18}" type="slidenum">
              <a:rPr lang="de-DE" smtClean="0"/>
              <a:pPr/>
              <a:t>15</a:t>
            </a:fld>
            <a:endParaRPr lang="de-DE"/>
          </a:p>
        </p:txBody>
      </p:sp>
      <p:sp>
        <p:nvSpPr>
          <p:cNvPr id="4" name="Textplatzhalter 3">
            <a:extLst>
              <a:ext uri="{FF2B5EF4-FFF2-40B4-BE49-F238E27FC236}">
                <a16:creationId xmlns:a16="http://schemas.microsoft.com/office/drawing/2014/main" id="{F5EFC434-D014-43CD-98DE-667341D0D74D}"/>
              </a:ext>
            </a:extLst>
          </p:cNvPr>
          <p:cNvSpPr>
            <a:spLocks noGrp="1"/>
          </p:cNvSpPr>
          <p:nvPr>
            <p:ph type="body" sz="quarter" idx="11"/>
          </p:nvPr>
        </p:nvSpPr>
        <p:spPr/>
        <p:txBody>
          <a:bodyPr/>
          <a:lstStyle/>
          <a:p>
            <a:pPr marL="342900" indent="-342900">
              <a:buFont typeface="+mj-lt"/>
              <a:buAutoNum type="arabicPeriod"/>
            </a:pPr>
            <a:r>
              <a:rPr lang="de-DE" dirty="0"/>
              <a:t>Strg-Taste halten und alle beweglichen Teile im Modell auswählen</a:t>
            </a:r>
          </a:p>
          <a:p>
            <a:pPr marL="342900" indent="-342900">
              <a:buFont typeface="+mj-lt"/>
              <a:buAutoNum type="arabicPeriod"/>
            </a:pPr>
            <a:r>
              <a:rPr lang="de-DE" dirty="0"/>
              <a:t>Rechtklick auf eines der Teile und „Group Selected“ auswählen</a:t>
            </a:r>
          </a:p>
          <a:p>
            <a:pPr marL="342900" indent="-342900">
              <a:buFont typeface="+mj-lt"/>
              <a:buAutoNum type="arabicPeriod"/>
            </a:pPr>
            <a:r>
              <a:rPr lang="de-DE" dirty="0"/>
              <a:t>Die erstellte Gruppe „</a:t>
            </a:r>
            <a:r>
              <a:rPr lang="de-DE" dirty="0" err="1"/>
              <a:t>Magazin_Glasplatte_move</a:t>
            </a:r>
            <a:r>
              <a:rPr lang="de-DE" dirty="0"/>
              <a:t>“ benennen</a:t>
            </a:r>
          </a:p>
          <a:p>
            <a:pPr marL="342900" indent="-342900">
              <a:buFont typeface="+mj-lt"/>
              <a:buAutoNum type="arabicPeriod"/>
            </a:pPr>
            <a:endParaRPr lang="de-DE" dirty="0"/>
          </a:p>
        </p:txBody>
      </p:sp>
      <p:grpSp>
        <p:nvGrpSpPr>
          <p:cNvPr id="10" name="Gruppieren 9">
            <a:extLst>
              <a:ext uri="{FF2B5EF4-FFF2-40B4-BE49-F238E27FC236}">
                <a16:creationId xmlns:a16="http://schemas.microsoft.com/office/drawing/2014/main" id="{3213BB0E-890E-4C93-AC98-231B48D93DE6}"/>
              </a:ext>
            </a:extLst>
          </p:cNvPr>
          <p:cNvGrpSpPr/>
          <p:nvPr/>
        </p:nvGrpSpPr>
        <p:grpSpPr>
          <a:xfrm>
            <a:off x="1746250" y="3284048"/>
            <a:ext cx="6935168" cy="3505689"/>
            <a:chOff x="3235944" y="3385648"/>
            <a:chExt cx="6935168" cy="3505689"/>
          </a:xfrm>
        </p:grpSpPr>
        <p:pic>
          <p:nvPicPr>
            <p:cNvPr id="7" name="Grafik 6">
              <a:extLst>
                <a:ext uri="{FF2B5EF4-FFF2-40B4-BE49-F238E27FC236}">
                  <a16:creationId xmlns:a16="http://schemas.microsoft.com/office/drawing/2014/main" id="{EDF3E265-2B91-4900-85E1-4083EDB37E27}"/>
                </a:ext>
              </a:extLst>
            </p:cNvPr>
            <p:cNvPicPr>
              <a:picLocks noChangeAspect="1"/>
            </p:cNvPicPr>
            <p:nvPr/>
          </p:nvPicPr>
          <p:blipFill>
            <a:blip r:embed="rId2"/>
            <a:stretch>
              <a:fillRect/>
            </a:stretch>
          </p:blipFill>
          <p:spPr>
            <a:xfrm>
              <a:off x="3235944" y="3385648"/>
              <a:ext cx="6935168" cy="3505689"/>
            </a:xfrm>
            <a:prstGeom prst="rect">
              <a:avLst/>
            </a:prstGeom>
          </p:spPr>
        </p:pic>
        <p:sp>
          <p:nvSpPr>
            <p:cNvPr id="9" name="Rechteck 8">
              <a:extLst>
                <a:ext uri="{FF2B5EF4-FFF2-40B4-BE49-F238E27FC236}">
                  <a16:creationId xmlns:a16="http://schemas.microsoft.com/office/drawing/2014/main" id="{76CCC28E-D9F7-478E-996A-20738FCE96C1}"/>
                </a:ext>
              </a:extLst>
            </p:cNvPr>
            <p:cNvSpPr/>
            <p:nvPr/>
          </p:nvSpPr>
          <p:spPr bwMode="auto">
            <a:xfrm>
              <a:off x="8737600" y="4735774"/>
              <a:ext cx="1026160" cy="191826"/>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grpSp>
    </p:spTree>
    <p:extLst>
      <p:ext uri="{BB962C8B-B14F-4D97-AF65-F5344CB8AC3E}">
        <p14:creationId xmlns:p14="http://schemas.microsoft.com/office/powerpoint/2010/main" val="1699569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4DC35D-C078-4516-9209-42AA5C55E22D}"/>
              </a:ext>
            </a:extLst>
          </p:cNvPr>
          <p:cNvSpPr>
            <a:spLocks noGrp="1"/>
          </p:cNvSpPr>
          <p:nvPr>
            <p:ph type="title"/>
          </p:nvPr>
        </p:nvSpPr>
        <p:spPr/>
        <p:txBody>
          <a:bodyPr/>
          <a:lstStyle/>
          <a:p>
            <a:r>
              <a:rPr lang="de-DE" dirty="0"/>
              <a:t>Physikalische Eigenschaften starrer Gelenkteile</a:t>
            </a:r>
          </a:p>
        </p:txBody>
      </p:sp>
      <p:sp>
        <p:nvSpPr>
          <p:cNvPr id="3" name="Foliennummernplatzhalter 2">
            <a:extLst>
              <a:ext uri="{FF2B5EF4-FFF2-40B4-BE49-F238E27FC236}">
                <a16:creationId xmlns:a16="http://schemas.microsoft.com/office/drawing/2014/main" id="{363FF5E8-E380-432A-8D1C-8BAA0A0AAB03}"/>
              </a:ext>
            </a:extLst>
          </p:cNvPr>
          <p:cNvSpPr>
            <a:spLocks noGrp="1"/>
          </p:cNvSpPr>
          <p:nvPr>
            <p:ph type="sldNum" sz="quarter" idx="10"/>
          </p:nvPr>
        </p:nvSpPr>
        <p:spPr/>
        <p:txBody>
          <a:bodyPr/>
          <a:lstStyle/>
          <a:p>
            <a:r>
              <a:rPr lang="de-DE"/>
              <a:t>Seite </a:t>
            </a:r>
            <a:fld id="{40192516-3A96-4AF1-ACCE-4FA25417AC18}" type="slidenum">
              <a:rPr lang="de-DE" smtClean="0"/>
              <a:pPr/>
              <a:t>16</a:t>
            </a:fld>
            <a:endParaRPr lang="de-DE"/>
          </a:p>
        </p:txBody>
      </p:sp>
      <p:sp>
        <p:nvSpPr>
          <p:cNvPr id="4" name="Textplatzhalter 3">
            <a:extLst>
              <a:ext uri="{FF2B5EF4-FFF2-40B4-BE49-F238E27FC236}">
                <a16:creationId xmlns:a16="http://schemas.microsoft.com/office/drawing/2014/main" id="{4ADD5543-D8AC-47B1-92CB-6419E8320581}"/>
              </a:ext>
            </a:extLst>
          </p:cNvPr>
          <p:cNvSpPr>
            <a:spLocks noGrp="1"/>
          </p:cNvSpPr>
          <p:nvPr>
            <p:ph type="body" sz="quarter" idx="11"/>
          </p:nvPr>
        </p:nvSpPr>
        <p:spPr/>
        <p:txBody>
          <a:bodyPr/>
          <a:lstStyle/>
          <a:p>
            <a:pPr marL="342900" indent="-342900">
              <a:buFont typeface="+mj-lt"/>
              <a:buAutoNum type="arabicPeriod"/>
            </a:pPr>
            <a:r>
              <a:rPr lang="de-DE" dirty="0"/>
              <a:t>Rechtsklick auf bewegliche Gruppe „Add“ </a:t>
            </a:r>
            <a:r>
              <a:rPr lang="de-DE" dirty="0">
                <a:sym typeface="Wingdings" panose="05000000000000000000" pitchFamily="2" charset="2"/>
              </a:rPr>
              <a:t> „Physics“  „Rigid Body“</a:t>
            </a:r>
          </a:p>
          <a:p>
            <a:pPr marL="342900" indent="-342900">
              <a:buFont typeface="+mj-lt"/>
              <a:buAutoNum type="arabicPeriod"/>
            </a:pPr>
            <a:r>
              <a:rPr lang="de-DE" dirty="0">
                <a:sym typeface="Wingdings" panose="05000000000000000000" pitchFamily="2" charset="2"/>
              </a:rPr>
              <a:t>In Property unter „Rigid Body“ „</a:t>
            </a:r>
            <a:r>
              <a:rPr lang="de-DE" dirty="0" err="1">
                <a:sym typeface="Wingdings" panose="05000000000000000000" pitchFamily="2" charset="2"/>
              </a:rPr>
              <a:t>Kinematic</a:t>
            </a:r>
            <a:r>
              <a:rPr lang="de-DE" dirty="0">
                <a:sym typeface="Wingdings" panose="05000000000000000000" pitchFamily="2" charset="2"/>
              </a:rPr>
              <a:t> Enabled“ aktivieren </a:t>
            </a:r>
            <a:br>
              <a:rPr lang="de-DE" dirty="0">
                <a:sym typeface="Wingdings" panose="05000000000000000000" pitchFamily="2" charset="2"/>
              </a:rPr>
            </a:br>
            <a:r>
              <a:rPr lang="de-DE" dirty="0">
                <a:sym typeface="Wingdings" panose="05000000000000000000" pitchFamily="2" charset="2"/>
              </a:rPr>
              <a:t>(So bleibt der Körper am Ort und fällt nicht durch die Grundplatte</a:t>
            </a:r>
          </a:p>
          <a:p>
            <a:pPr marL="342900" indent="-342900">
              <a:buFont typeface="+mj-lt"/>
              <a:buAutoNum type="arabicPeriod"/>
            </a:pPr>
            <a:endParaRPr lang="de-DE" dirty="0"/>
          </a:p>
        </p:txBody>
      </p:sp>
      <p:grpSp>
        <p:nvGrpSpPr>
          <p:cNvPr id="8" name="Gruppieren 7">
            <a:extLst>
              <a:ext uri="{FF2B5EF4-FFF2-40B4-BE49-F238E27FC236}">
                <a16:creationId xmlns:a16="http://schemas.microsoft.com/office/drawing/2014/main" id="{380E6367-38E4-47D7-BA71-B055A9E0E274}"/>
              </a:ext>
            </a:extLst>
          </p:cNvPr>
          <p:cNvGrpSpPr/>
          <p:nvPr/>
        </p:nvGrpSpPr>
        <p:grpSpPr>
          <a:xfrm>
            <a:off x="471902" y="3938175"/>
            <a:ext cx="4874798" cy="2953162"/>
            <a:chOff x="4045682" y="3499964"/>
            <a:chExt cx="6125430" cy="3391373"/>
          </a:xfrm>
        </p:grpSpPr>
        <p:pic>
          <p:nvPicPr>
            <p:cNvPr id="6" name="Grafik 5">
              <a:extLst>
                <a:ext uri="{FF2B5EF4-FFF2-40B4-BE49-F238E27FC236}">
                  <a16:creationId xmlns:a16="http://schemas.microsoft.com/office/drawing/2014/main" id="{9A776E52-C883-4E18-AE7F-F46C45CF23F3}"/>
                </a:ext>
              </a:extLst>
            </p:cNvPr>
            <p:cNvPicPr>
              <a:picLocks noChangeAspect="1"/>
            </p:cNvPicPr>
            <p:nvPr/>
          </p:nvPicPr>
          <p:blipFill>
            <a:blip r:embed="rId2"/>
            <a:stretch>
              <a:fillRect/>
            </a:stretch>
          </p:blipFill>
          <p:spPr>
            <a:xfrm>
              <a:off x="4045682" y="3499964"/>
              <a:ext cx="6125430" cy="3391373"/>
            </a:xfrm>
            <a:prstGeom prst="rect">
              <a:avLst/>
            </a:prstGeom>
          </p:spPr>
        </p:pic>
        <p:sp>
          <p:nvSpPr>
            <p:cNvPr id="7" name="Rechteck 6">
              <a:extLst>
                <a:ext uri="{FF2B5EF4-FFF2-40B4-BE49-F238E27FC236}">
                  <a16:creationId xmlns:a16="http://schemas.microsoft.com/office/drawing/2014/main" id="{409FA3E6-3A4F-4686-9E60-1B4C2C484A7C}"/>
                </a:ext>
              </a:extLst>
            </p:cNvPr>
            <p:cNvSpPr/>
            <p:nvPr/>
          </p:nvSpPr>
          <p:spPr bwMode="auto">
            <a:xfrm>
              <a:off x="6461760" y="6381694"/>
              <a:ext cx="1859280" cy="201986"/>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grpSp>
      <p:pic>
        <p:nvPicPr>
          <p:cNvPr id="9" name="Grafik 8">
            <a:extLst>
              <a:ext uri="{FF2B5EF4-FFF2-40B4-BE49-F238E27FC236}">
                <a16:creationId xmlns:a16="http://schemas.microsoft.com/office/drawing/2014/main" id="{61E379B3-7012-41AB-B17E-348B5636A48C}"/>
              </a:ext>
            </a:extLst>
          </p:cNvPr>
          <p:cNvPicPr>
            <a:picLocks noChangeAspect="1"/>
          </p:cNvPicPr>
          <p:nvPr/>
        </p:nvPicPr>
        <p:blipFill>
          <a:blip r:embed="rId3"/>
          <a:stretch>
            <a:fillRect/>
          </a:stretch>
        </p:blipFill>
        <p:spPr>
          <a:xfrm>
            <a:off x="5570758" y="3926451"/>
            <a:ext cx="4600354" cy="2964885"/>
          </a:xfrm>
          <a:prstGeom prst="rect">
            <a:avLst/>
          </a:prstGeom>
        </p:spPr>
      </p:pic>
      <p:sp>
        <p:nvSpPr>
          <p:cNvPr id="13" name="Rechteck 12">
            <a:extLst>
              <a:ext uri="{FF2B5EF4-FFF2-40B4-BE49-F238E27FC236}">
                <a16:creationId xmlns:a16="http://schemas.microsoft.com/office/drawing/2014/main" id="{1E1C7C37-FF0D-4B2C-918F-0C40F9B8A594}"/>
              </a:ext>
            </a:extLst>
          </p:cNvPr>
          <p:cNvSpPr/>
          <p:nvPr/>
        </p:nvSpPr>
        <p:spPr bwMode="auto">
          <a:xfrm>
            <a:off x="5669280" y="6125594"/>
            <a:ext cx="1930400" cy="234566"/>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Tree>
    <p:extLst>
      <p:ext uri="{BB962C8B-B14F-4D97-AF65-F5344CB8AC3E}">
        <p14:creationId xmlns:p14="http://schemas.microsoft.com/office/powerpoint/2010/main" val="1123008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4DC35D-C078-4516-9209-42AA5C55E22D}"/>
              </a:ext>
            </a:extLst>
          </p:cNvPr>
          <p:cNvSpPr>
            <a:spLocks noGrp="1"/>
          </p:cNvSpPr>
          <p:nvPr>
            <p:ph type="title"/>
          </p:nvPr>
        </p:nvSpPr>
        <p:spPr/>
        <p:txBody>
          <a:bodyPr/>
          <a:lstStyle/>
          <a:p>
            <a:r>
              <a:rPr lang="de-DE" dirty="0"/>
              <a:t>Physikalische Eigenschaften beweglicher Körper</a:t>
            </a:r>
          </a:p>
        </p:txBody>
      </p:sp>
      <p:sp>
        <p:nvSpPr>
          <p:cNvPr id="3" name="Foliennummernplatzhalter 2">
            <a:extLst>
              <a:ext uri="{FF2B5EF4-FFF2-40B4-BE49-F238E27FC236}">
                <a16:creationId xmlns:a16="http://schemas.microsoft.com/office/drawing/2014/main" id="{363FF5E8-E380-432A-8D1C-8BAA0A0AAB03}"/>
              </a:ext>
            </a:extLst>
          </p:cNvPr>
          <p:cNvSpPr>
            <a:spLocks noGrp="1"/>
          </p:cNvSpPr>
          <p:nvPr>
            <p:ph type="sldNum" sz="quarter" idx="10"/>
          </p:nvPr>
        </p:nvSpPr>
        <p:spPr/>
        <p:txBody>
          <a:bodyPr/>
          <a:lstStyle/>
          <a:p>
            <a:r>
              <a:rPr lang="de-DE"/>
              <a:t>Seite </a:t>
            </a:r>
            <a:fld id="{40192516-3A96-4AF1-ACCE-4FA25417AC18}" type="slidenum">
              <a:rPr lang="de-DE" smtClean="0"/>
              <a:pPr/>
              <a:t>17</a:t>
            </a:fld>
            <a:endParaRPr lang="de-DE"/>
          </a:p>
        </p:txBody>
      </p:sp>
      <p:sp>
        <p:nvSpPr>
          <p:cNvPr id="4" name="Textplatzhalter 3">
            <a:extLst>
              <a:ext uri="{FF2B5EF4-FFF2-40B4-BE49-F238E27FC236}">
                <a16:creationId xmlns:a16="http://schemas.microsoft.com/office/drawing/2014/main" id="{4ADD5543-D8AC-47B1-92CB-6419E8320581}"/>
              </a:ext>
            </a:extLst>
          </p:cNvPr>
          <p:cNvSpPr>
            <a:spLocks noGrp="1"/>
          </p:cNvSpPr>
          <p:nvPr>
            <p:ph type="body" sz="quarter" idx="11"/>
          </p:nvPr>
        </p:nvSpPr>
        <p:spPr>
          <a:xfrm>
            <a:off x="549543" y="1508514"/>
            <a:ext cx="9733791" cy="4559300"/>
          </a:xfrm>
        </p:spPr>
        <p:txBody>
          <a:bodyPr/>
          <a:lstStyle/>
          <a:p>
            <a:pPr marL="342900" indent="-342900">
              <a:buFont typeface="+mj-lt"/>
              <a:buAutoNum type="arabicPeriod"/>
            </a:pPr>
            <a:r>
              <a:rPr lang="de-DE" dirty="0"/>
              <a:t>Rechtsklick auf bewegliche Gruppe „Add“ </a:t>
            </a:r>
            <a:r>
              <a:rPr lang="de-DE" dirty="0">
                <a:sym typeface="Wingdings" panose="05000000000000000000" pitchFamily="2" charset="2"/>
              </a:rPr>
              <a:t> „Physics“  „Rigid Body </a:t>
            </a:r>
            <a:r>
              <a:rPr lang="de-DE" dirty="0" err="1">
                <a:sym typeface="Wingdings" panose="05000000000000000000" pitchFamily="2" charset="2"/>
              </a:rPr>
              <a:t>with</a:t>
            </a:r>
            <a:r>
              <a:rPr lang="de-DE" dirty="0">
                <a:sym typeface="Wingdings" panose="05000000000000000000" pitchFamily="2" charset="2"/>
              </a:rPr>
              <a:t> Collider </a:t>
            </a:r>
            <a:r>
              <a:rPr lang="de-DE" dirty="0" err="1">
                <a:sym typeface="Wingdings" panose="05000000000000000000" pitchFamily="2" charset="2"/>
              </a:rPr>
              <a:t>presets</a:t>
            </a:r>
            <a:r>
              <a:rPr lang="de-DE" dirty="0">
                <a:sym typeface="Wingdings" panose="05000000000000000000" pitchFamily="2" charset="2"/>
              </a:rPr>
              <a:t>“</a:t>
            </a:r>
          </a:p>
          <a:p>
            <a:pPr marL="342900" indent="-342900">
              <a:buFont typeface="+mj-lt"/>
              <a:buAutoNum type="arabicPeriod"/>
            </a:pPr>
            <a:r>
              <a:rPr lang="de-DE" dirty="0">
                <a:sym typeface="Wingdings" panose="05000000000000000000" pitchFamily="2" charset="2"/>
              </a:rPr>
              <a:t>Der „Collider“ beschreibt die Hülle die um das Mesh gelegt wird und bei Berührung mit anderen Körpern zur Berechnung verwendet wird und kann unter „Physics“ der jeweiligen „Mesh Datei“ eingesehen werden.</a:t>
            </a:r>
          </a:p>
          <a:p>
            <a:pPr marL="342900" indent="-342900">
              <a:buFont typeface="+mj-lt"/>
              <a:buAutoNum type="arabicPeriod"/>
            </a:pPr>
            <a:r>
              <a:rPr lang="de-DE" dirty="0">
                <a:sym typeface="Wingdings" panose="05000000000000000000" pitchFamily="2" charset="2"/>
              </a:rPr>
              <a:t>Für die höchste Genauigkeit empfiehlt sich „SDF Mesh“ oder „</a:t>
            </a:r>
            <a:r>
              <a:rPr lang="de-DE" dirty="0" err="1">
                <a:sym typeface="Wingdings" panose="05000000000000000000" pitchFamily="2" charset="2"/>
              </a:rPr>
              <a:t>Convex</a:t>
            </a:r>
            <a:r>
              <a:rPr lang="de-DE" dirty="0">
                <a:sym typeface="Wingdings" panose="05000000000000000000" pitchFamily="2" charset="2"/>
              </a:rPr>
              <a:t> </a:t>
            </a:r>
            <a:r>
              <a:rPr lang="de-DE" dirty="0" err="1">
                <a:sym typeface="Wingdings" panose="05000000000000000000" pitchFamily="2" charset="2"/>
              </a:rPr>
              <a:t>Decomposition</a:t>
            </a:r>
            <a:r>
              <a:rPr lang="de-DE" dirty="0">
                <a:sym typeface="Wingdings" panose="05000000000000000000" pitchFamily="2" charset="2"/>
              </a:rPr>
              <a:t>“ </a:t>
            </a:r>
            <a:br>
              <a:rPr lang="de-DE" dirty="0">
                <a:sym typeface="Wingdings" panose="05000000000000000000" pitchFamily="2" charset="2"/>
              </a:rPr>
            </a:br>
            <a:r>
              <a:rPr lang="de-DE" dirty="0">
                <a:sym typeface="Wingdings" panose="05000000000000000000" pitchFamily="2" charset="2"/>
              </a:rPr>
              <a:t>im Feld „Approximation“ auszuwählen.</a:t>
            </a:r>
          </a:p>
          <a:p>
            <a:pPr marL="342900" indent="-342900">
              <a:buFont typeface="+mj-lt"/>
              <a:buAutoNum type="arabicPeriod"/>
            </a:pPr>
            <a:r>
              <a:rPr lang="de-DE" dirty="0">
                <a:sym typeface="Wingdings" panose="05000000000000000000" pitchFamily="2" charset="2"/>
              </a:rPr>
              <a:t>Dies gilt ebenfalls für frei bewegliche Körper wie der Deckel.</a:t>
            </a:r>
          </a:p>
          <a:p>
            <a:pPr marL="342900" indent="-342900">
              <a:buFont typeface="+mj-lt"/>
              <a:buAutoNum type="arabicPeriod"/>
            </a:pPr>
            <a:endParaRPr lang="de-DE" dirty="0">
              <a:sym typeface="Wingdings" panose="05000000000000000000" pitchFamily="2" charset="2"/>
            </a:endParaRPr>
          </a:p>
          <a:p>
            <a:pPr marL="342900" indent="-342900">
              <a:buFont typeface="+mj-lt"/>
              <a:buAutoNum type="arabicPeriod"/>
            </a:pPr>
            <a:endParaRPr lang="de-DE" dirty="0"/>
          </a:p>
        </p:txBody>
      </p:sp>
      <p:grpSp>
        <p:nvGrpSpPr>
          <p:cNvPr id="8" name="Gruppieren 7">
            <a:extLst>
              <a:ext uri="{FF2B5EF4-FFF2-40B4-BE49-F238E27FC236}">
                <a16:creationId xmlns:a16="http://schemas.microsoft.com/office/drawing/2014/main" id="{728EEBD5-9EB0-4476-9AFC-3B6E31624823}"/>
              </a:ext>
            </a:extLst>
          </p:cNvPr>
          <p:cNvGrpSpPr/>
          <p:nvPr/>
        </p:nvGrpSpPr>
        <p:grpSpPr>
          <a:xfrm>
            <a:off x="437322" y="3945835"/>
            <a:ext cx="4482095" cy="2893909"/>
            <a:chOff x="3978457" y="3278474"/>
            <a:chExt cx="6192655" cy="3639058"/>
          </a:xfrm>
        </p:grpSpPr>
        <p:pic>
          <p:nvPicPr>
            <p:cNvPr id="5" name="Grafik 4">
              <a:extLst>
                <a:ext uri="{FF2B5EF4-FFF2-40B4-BE49-F238E27FC236}">
                  <a16:creationId xmlns:a16="http://schemas.microsoft.com/office/drawing/2014/main" id="{6053C1C3-215E-4269-9148-6F94FD1B7742}"/>
                </a:ext>
              </a:extLst>
            </p:cNvPr>
            <p:cNvPicPr>
              <a:picLocks noChangeAspect="1"/>
            </p:cNvPicPr>
            <p:nvPr/>
          </p:nvPicPr>
          <p:blipFill rotWithShape="1">
            <a:blip r:embed="rId2"/>
            <a:srcRect l="4544"/>
            <a:stretch/>
          </p:blipFill>
          <p:spPr>
            <a:xfrm>
              <a:off x="3978457" y="3278474"/>
              <a:ext cx="6192655" cy="3639058"/>
            </a:xfrm>
            <a:prstGeom prst="rect">
              <a:avLst/>
            </a:prstGeom>
          </p:spPr>
        </p:pic>
        <p:sp>
          <p:nvSpPr>
            <p:cNvPr id="7" name="Rechteck 6">
              <a:extLst>
                <a:ext uri="{FF2B5EF4-FFF2-40B4-BE49-F238E27FC236}">
                  <a16:creationId xmlns:a16="http://schemas.microsoft.com/office/drawing/2014/main" id="{0BBB25D7-6C33-44DA-B4A7-ACDEB43480BA}"/>
                </a:ext>
              </a:extLst>
            </p:cNvPr>
            <p:cNvSpPr/>
            <p:nvPr/>
          </p:nvSpPr>
          <p:spPr bwMode="auto">
            <a:xfrm>
              <a:off x="6377571" y="6151954"/>
              <a:ext cx="1813529" cy="18806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grpSp>
      <p:pic>
        <p:nvPicPr>
          <p:cNvPr id="6" name="Grafik 5">
            <a:extLst>
              <a:ext uri="{FF2B5EF4-FFF2-40B4-BE49-F238E27FC236}">
                <a16:creationId xmlns:a16="http://schemas.microsoft.com/office/drawing/2014/main" id="{1CCB5F0B-E818-4216-A193-B8A7EE753B42}"/>
              </a:ext>
            </a:extLst>
          </p:cNvPr>
          <p:cNvPicPr>
            <a:picLocks noChangeAspect="1"/>
          </p:cNvPicPr>
          <p:nvPr/>
        </p:nvPicPr>
        <p:blipFill>
          <a:blip r:embed="rId3"/>
          <a:stretch>
            <a:fillRect/>
          </a:stretch>
        </p:blipFill>
        <p:spPr>
          <a:xfrm>
            <a:off x="5312988" y="3945835"/>
            <a:ext cx="4830869" cy="2893909"/>
          </a:xfrm>
          <a:prstGeom prst="rect">
            <a:avLst/>
          </a:prstGeom>
        </p:spPr>
      </p:pic>
      <p:sp>
        <p:nvSpPr>
          <p:cNvPr id="9" name="Rechteck 8">
            <a:extLst>
              <a:ext uri="{FF2B5EF4-FFF2-40B4-BE49-F238E27FC236}">
                <a16:creationId xmlns:a16="http://schemas.microsoft.com/office/drawing/2014/main" id="{719AA30C-788B-45DA-91EF-A6FC0DE940EE}"/>
              </a:ext>
            </a:extLst>
          </p:cNvPr>
          <p:cNvSpPr/>
          <p:nvPr/>
        </p:nvSpPr>
        <p:spPr bwMode="auto">
          <a:xfrm>
            <a:off x="6649665" y="5985764"/>
            <a:ext cx="1312589" cy="149552"/>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0" name="Rechteck 9">
            <a:extLst>
              <a:ext uri="{FF2B5EF4-FFF2-40B4-BE49-F238E27FC236}">
                <a16:creationId xmlns:a16="http://schemas.microsoft.com/office/drawing/2014/main" id="{2DAC5F8B-366B-4996-AF1F-AA50DD01BAEE}"/>
              </a:ext>
            </a:extLst>
          </p:cNvPr>
          <p:cNvSpPr/>
          <p:nvPr/>
        </p:nvSpPr>
        <p:spPr bwMode="auto">
          <a:xfrm>
            <a:off x="6262038" y="4353943"/>
            <a:ext cx="1312589" cy="149552"/>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Tree>
    <p:extLst>
      <p:ext uri="{BB962C8B-B14F-4D97-AF65-F5344CB8AC3E}">
        <p14:creationId xmlns:p14="http://schemas.microsoft.com/office/powerpoint/2010/main" val="2253962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5F4495-708B-417A-A081-9530623209F6}"/>
              </a:ext>
            </a:extLst>
          </p:cNvPr>
          <p:cNvSpPr>
            <a:spLocks noGrp="1"/>
          </p:cNvSpPr>
          <p:nvPr>
            <p:ph type="title"/>
          </p:nvPr>
        </p:nvSpPr>
        <p:spPr/>
        <p:txBody>
          <a:bodyPr/>
          <a:lstStyle/>
          <a:p>
            <a:r>
              <a:rPr lang="de-DE" dirty="0"/>
              <a:t>Gelenk (Joint) hinzufügen</a:t>
            </a:r>
          </a:p>
        </p:txBody>
      </p:sp>
      <p:sp>
        <p:nvSpPr>
          <p:cNvPr id="3" name="Foliennummernplatzhalter 2">
            <a:extLst>
              <a:ext uri="{FF2B5EF4-FFF2-40B4-BE49-F238E27FC236}">
                <a16:creationId xmlns:a16="http://schemas.microsoft.com/office/drawing/2014/main" id="{21AAA090-A0AD-4274-87EA-3CCF1567D293}"/>
              </a:ext>
            </a:extLst>
          </p:cNvPr>
          <p:cNvSpPr>
            <a:spLocks noGrp="1"/>
          </p:cNvSpPr>
          <p:nvPr>
            <p:ph type="sldNum" sz="quarter" idx="10"/>
          </p:nvPr>
        </p:nvSpPr>
        <p:spPr/>
        <p:txBody>
          <a:bodyPr/>
          <a:lstStyle/>
          <a:p>
            <a:r>
              <a:rPr lang="de-DE"/>
              <a:t>Seite </a:t>
            </a:r>
            <a:fld id="{40192516-3A96-4AF1-ACCE-4FA25417AC18}" type="slidenum">
              <a:rPr lang="de-DE" smtClean="0"/>
              <a:pPr/>
              <a:t>18</a:t>
            </a:fld>
            <a:endParaRPr lang="de-DE"/>
          </a:p>
        </p:txBody>
      </p:sp>
      <p:sp>
        <p:nvSpPr>
          <p:cNvPr id="4" name="Textplatzhalter 3">
            <a:extLst>
              <a:ext uri="{FF2B5EF4-FFF2-40B4-BE49-F238E27FC236}">
                <a16:creationId xmlns:a16="http://schemas.microsoft.com/office/drawing/2014/main" id="{2446EBB6-C539-4715-81F6-0A299C8A4534}"/>
              </a:ext>
            </a:extLst>
          </p:cNvPr>
          <p:cNvSpPr>
            <a:spLocks noGrp="1"/>
          </p:cNvSpPr>
          <p:nvPr>
            <p:ph type="body" sz="quarter" idx="11"/>
          </p:nvPr>
        </p:nvSpPr>
        <p:spPr>
          <a:xfrm>
            <a:off x="522287" y="2109788"/>
            <a:ext cx="9795897" cy="4559300"/>
          </a:xfrm>
        </p:spPr>
        <p:txBody>
          <a:bodyPr/>
          <a:lstStyle/>
          <a:p>
            <a:pPr marL="342900" indent="-342900">
              <a:buFont typeface="+mj-lt"/>
              <a:buAutoNum type="arabicPeriod"/>
            </a:pPr>
            <a:r>
              <a:rPr lang="de-DE" dirty="0"/>
              <a:t>Beide Unterordner auswählen (_</a:t>
            </a:r>
            <a:r>
              <a:rPr lang="de-DE" dirty="0" err="1"/>
              <a:t>move</a:t>
            </a:r>
            <a:r>
              <a:rPr lang="de-DE" dirty="0"/>
              <a:t> &amp; _fix) </a:t>
            </a:r>
            <a:r>
              <a:rPr lang="de-DE" dirty="0">
                <a:sym typeface="Wingdings" panose="05000000000000000000" pitchFamily="2" charset="2"/>
              </a:rPr>
              <a:t> Rechtsklick  Create Physics </a:t>
            </a:r>
            <a:br>
              <a:rPr lang="de-DE" dirty="0">
                <a:sym typeface="Wingdings" panose="05000000000000000000" pitchFamily="2" charset="2"/>
              </a:rPr>
            </a:br>
            <a:r>
              <a:rPr lang="de-DE" dirty="0">
                <a:sym typeface="Wingdings" panose="05000000000000000000" pitchFamily="2" charset="2"/>
              </a:rPr>
              <a:t> Joint  </a:t>
            </a:r>
            <a:r>
              <a:rPr lang="de-DE" dirty="0" err="1">
                <a:sym typeface="Wingdings" panose="05000000000000000000" pitchFamily="2" charset="2"/>
              </a:rPr>
              <a:t>Prismatic</a:t>
            </a:r>
            <a:r>
              <a:rPr lang="de-DE" dirty="0">
                <a:sym typeface="Wingdings" panose="05000000000000000000" pitchFamily="2" charset="2"/>
              </a:rPr>
              <a:t> Joint</a:t>
            </a:r>
          </a:p>
          <a:p>
            <a:pPr marL="342900" indent="-342900">
              <a:buFont typeface="+mj-lt"/>
              <a:buAutoNum type="arabicPeriod"/>
            </a:pPr>
            <a:r>
              <a:rPr lang="de-DE" dirty="0"/>
              <a:t>Joint Eintrag per Drag and Drop in Hauptordner ablegen</a:t>
            </a:r>
          </a:p>
          <a:p>
            <a:pPr marL="342900" indent="-342900">
              <a:buFont typeface="+mj-lt"/>
              <a:buAutoNum type="arabicPeriod"/>
            </a:pPr>
            <a:r>
              <a:rPr lang="de-DE" dirty="0"/>
              <a:t>Bei Auswahl des Joints sollte das Modell wie hier farblich markiert werden</a:t>
            </a:r>
          </a:p>
          <a:p>
            <a:pPr marL="342900" indent="-342900">
              <a:buFont typeface="+mj-lt"/>
              <a:buAutoNum type="arabicPeriod"/>
            </a:pPr>
            <a:endParaRPr lang="de-DE" dirty="0"/>
          </a:p>
        </p:txBody>
      </p:sp>
      <p:pic>
        <p:nvPicPr>
          <p:cNvPr id="5" name="Grafik 4">
            <a:extLst>
              <a:ext uri="{FF2B5EF4-FFF2-40B4-BE49-F238E27FC236}">
                <a16:creationId xmlns:a16="http://schemas.microsoft.com/office/drawing/2014/main" id="{35563E93-BBF3-46E6-B5F0-B610B2B36EEE}"/>
              </a:ext>
            </a:extLst>
          </p:cNvPr>
          <p:cNvPicPr>
            <a:picLocks noChangeAspect="1"/>
          </p:cNvPicPr>
          <p:nvPr/>
        </p:nvPicPr>
        <p:blipFill>
          <a:blip r:embed="rId2"/>
          <a:stretch>
            <a:fillRect/>
          </a:stretch>
        </p:blipFill>
        <p:spPr>
          <a:xfrm>
            <a:off x="522287" y="3616960"/>
            <a:ext cx="4327308" cy="3436610"/>
          </a:xfrm>
          <a:prstGeom prst="rect">
            <a:avLst/>
          </a:prstGeom>
        </p:spPr>
      </p:pic>
      <p:pic>
        <p:nvPicPr>
          <p:cNvPr id="6" name="Grafik 5">
            <a:extLst>
              <a:ext uri="{FF2B5EF4-FFF2-40B4-BE49-F238E27FC236}">
                <a16:creationId xmlns:a16="http://schemas.microsoft.com/office/drawing/2014/main" id="{5B7CE52E-018C-4F4A-AD19-05A998EADE6E}"/>
              </a:ext>
            </a:extLst>
          </p:cNvPr>
          <p:cNvPicPr>
            <a:picLocks noChangeAspect="1"/>
          </p:cNvPicPr>
          <p:nvPr/>
        </p:nvPicPr>
        <p:blipFill>
          <a:blip r:embed="rId3"/>
          <a:stretch>
            <a:fillRect/>
          </a:stretch>
        </p:blipFill>
        <p:spPr>
          <a:xfrm>
            <a:off x="4996667" y="3616960"/>
            <a:ext cx="3962953" cy="781159"/>
          </a:xfrm>
          <a:prstGeom prst="rect">
            <a:avLst/>
          </a:prstGeom>
        </p:spPr>
      </p:pic>
      <p:pic>
        <p:nvPicPr>
          <p:cNvPr id="7" name="Grafik 6">
            <a:extLst>
              <a:ext uri="{FF2B5EF4-FFF2-40B4-BE49-F238E27FC236}">
                <a16:creationId xmlns:a16="http://schemas.microsoft.com/office/drawing/2014/main" id="{4557406F-CCDF-4B4E-BC29-85E865DBFB9E}"/>
              </a:ext>
            </a:extLst>
          </p:cNvPr>
          <p:cNvPicPr>
            <a:picLocks noChangeAspect="1"/>
          </p:cNvPicPr>
          <p:nvPr/>
        </p:nvPicPr>
        <p:blipFill>
          <a:blip r:embed="rId4"/>
          <a:stretch>
            <a:fillRect/>
          </a:stretch>
        </p:blipFill>
        <p:spPr>
          <a:xfrm>
            <a:off x="4996667" y="4532157"/>
            <a:ext cx="3962953" cy="1183952"/>
          </a:xfrm>
          <a:prstGeom prst="rect">
            <a:avLst/>
          </a:prstGeom>
        </p:spPr>
      </p:pic>
    </p:spTree>
    <p:extLst>
      <p:ext uri="{BB962C8B-B14F-4D97-AF65-F5344CB8AC3E}">
        <p14:creationId xmlns:p14="http://schemas.microsoft.com/office/powerpoint/2010/main" val="3212345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8A5F32-4BF8-45CB-9BE2-924E2EE7EA7E}"/>
              </a:ext>
            </a:extLst>
          </p:cNvPr>
          <p:cNvSpPr>
            <a:spLocks noGrp="1"/>
          </p:cNvSpPr>
          <p:nvPr>
            <p:ph type="title"/>
          </p:nvPr>
        </p:nvSpPr>
        <p:spPr/>
        <p:txBody>
          <a:bodyPr/>
          <a:lstStyle/>
          <a:p>
            <a:r>
              <a:rPr lang="de-DE" dirty="0"/>
              <a:t>Antrieb einfügen</a:t>
            </a:r>
          </a:p>
        </p:txBody>
      </p:sp>
      <p:sp>
        <p:nvSpPr>
          <p:cNvPr id="3" name="Foliennummernplatzhalter 2">
            <a:extLst>
              <a:ext uri="{FF2B5EF4-FFF2-40B4-BE49-F238E27FC236}">
                <a16:creationId xmlns:a16="http://schemas.microsoft.com/office/drawing/2014/main" id="{E1B1CF30-60C5-4622-AB35-FB5DA9DA814A}"/>
              </a:ext>
            </a:extLst>
          </p:cNvPr>
          <p:cNvSpPr>
            <a:spLocks noGrp="1"/>
          </p:cNvSpPr>
          <p:nvPr>
            <p:ph type="sldNum" sz="quarter" idx="10"/>
          </p:nvPr>
        </p:nvSpPr>
        <p:spPr/>
        <p:txBody>
          <a:bodyPr/>
          <a:lstStyle/>
          <a:p>
            <a:r>
              <a:rPr lang="de-DE"/>
              <a:t>Seite </a:t>
            </a:r>
            <a:fld id="{40192516-3A96-4AF1-ACCE-4FA25417AC18}" type="slidenum">
              <a:rPr lang="de-DE" smtClean="0"/>
              <a:pPr/>
              <a:t>19</a:t>
            </a:fld>
            <a:endParaRPr lang="de-DE"/>
          </a:p>
        </p:txBody>
      </p:sp>
      <p:sp>
        <p:nvSpPr>
          <p:cNvPr id="4" name="Textplatzhalter 3">
            <a:extLst>
              <a:ext uri="{FF2B5EF4-FFF2-40B4-BE49-F238E27FC236}">
                <a16:creationId xmlns:a16="http://schemas.microsoft.com/office/drawing/2014/main" id="{0A3C3E69-C762-40A7-80F4-8C423C28565F}"/>
              </a:ext>
            </a:extLst>
          </p:cNvPr>
          <p:cNvSpPr>
            <a:spLocks noGrp="1"/>
          </p:cNvSpPr>
          <p:nvPr>
            <p:ph type="body" sz="quarter" idx="11"/>
          </p:nvPr>
        </p:nvSpPr>
        <p:spPr/>
        <p:txBody>
          <a:bodyPr/>
          <a:lstStyle/>
          <a:p>
            <a:pPr marL="342900" indent="-342900">
              <a:buFont typeface="+mj-lt"/>
              <a:buAutoNum type="arabicPeriod"/>
            </a:pPr>
            <a:r>
              <a:rPr lang="de-DE" dirty="0"/>
              <a:t>Rechtklick auf Joint </a:t>
            </a:r>
            <a:r>
              <a:rPr lang="de-DE" dirty="0">
                <a:sym typeface="Wingdings" panose="05000000000000000000" pitchFamily="2" charset="2"/>
              </a:rPr>
              <a:t> „Add“  „Physics“  „Linear Drive“</a:t>
            </a:r>
          </a:p>
          <a:p>
            <a:pPr marL="342900" indent="-342900">
              <a:buFont typeface="+mj-lt"/>
              <a:buAutoNum type="arabicPeriod"/>
            </a:pPr>
            <a:r>
              <a:rPr lang="de-DE" dirty="0">
                <a:sym typeface="Wingdings" panose="05000000000000000000" pitchFamily="2" charset="2"/>
              </a:rPr>
              <a:t>In Property unter „Drive“ Werte wie im Bild übernehmen und ggf. anpassen</a:t>
            </a:r>
          </a:p>
          <a:p>
            <a:pPr marL="342900" indent="-342900">
              <a:buFont typeface="+mj-lt"/>
              <a:buAutoNum type="arabicPeriod"/>
            </a:pPr>
            <a:r>
              <a:rPr lang="de-DE" dirty="0">
                <a:sym typeface="Wingdings" panose="05000000000000000000" pitchFamily="2" charset="2"/>
              </a:rPr>
              <a:t>Funktion mit Play-Symbol oder Leertaste Testen</a:t>
            </a:r>
          </a:p>
          <a:p>
            <a:endParaRPr lang="de-DE" dirty="0"/>
          </a:p>
        </p:txBody>
      </p:sp>
      <p:pic>
        <p:nvPicPr>
          <p:cNvPr id="5" name="Grafik 4">
            <a:extLst>
              <a:ext uri="{FF2B5EF4-FFF2-40B4-BE49-F238E27FC236}">
                <a16:creationId xmlns:a16="http://schemas.microsoft.com/office/drawing/2014/main" id="{1A9277A1-97AF-46B9-B426-420A21DC12B5}"/>
              </a:ext>
            </a:extLst>
          </p:cNvPr>
          <p:cNvPicPr>
            <a:picLocks noChangeAspect="1"/>
          </p:cNvPicPr>
          <p:nvPr/>
        </p:nvPicPr>
        <p:blipFill>
          <a:blip r:embed="rId2"/>
          <a:stretch>
            <a:fillRect/>
          </a:stretch>
        </p:blipFill>
        <p:spPr>
          <a:xfrm>
            <a:off x="1240772" y="3230155"/>
            <a:ext cx="4070301" cy="3821607"/>
          </a:xfrm>
          <a:prstGeom prst="rect">
            <a:avLst/>
          </a:prstGeom>
        </p:spPr>
      </p:pic>
      <p:pic>
        <p:nvPicPr>
          <p:cNvPr id="6" name="Grafik 5">
            <a:extLst>
              <a:ext uri="{FF2B5EF4-FFF2-40B4-BE49-F238E27FC236}">
                <a16:creationId xmlns:a16="http://schemas.microsoft.com/office/drawing/2014/main" id="{38E2403B-C9A8-4C56-A378-E864B6211BB2}"/>
              </a:ext>
            </a:extLst>
          </p:cNvPr>
          <p:cNvPicPr>
            <a:picLocks noChangeAspect="1"/>
          </p:cNvPicPr>
          <p:nvPr/>
        </p:nvPicPr>
        <p:blipFill>
          <a:blip r:embed="rId3"/>
          <a:stretch>
            <a:fillRect/>
          </a:stretch>
        </p:blipFill>
        <p:spPr>
          <a:xfrm>
            <a:off x="6065184" y="3230155"/>
            <a:ext cx="4105928" cy="3821607"/>
          </a:xfrm>
          <a:prstGeom prst="rect">
            <a:avLst/>
          </a:prstGeom>
        </p:spPr>
      </p:pic>
    </p:spTree>
    <p:extLst>
      <p:ext uri="{BB962C8B-B14F-4D97-AF65-F5344CB8AC3E}">
        <p14:creationId xmlns:p14="http://schemas.microsoft.com/office/powerpoint/2010/main" val="2407714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791F23-F42B-439D-9F98-6DCA90D1A5D7}"/>
              </a:ext>
            </a:extLst>
          </p:cNvPr>
          <p:cNvSpPr>
            <a:spLocks noGrp="1"/>
          </p:cNvSpPr>
          <p:nvPr>
            <p:ph type="title"/>
          </p:nvPr>
        </p:nvSpPr>
        <p:spPr/>
        <p:txBody>
          <a:bodyPr/>
          <a:lstStyle/>
          <a:p>
            <a:r>
              <a:rPr lang="de-DE" dirty="0"/>
              <a:t>Verschachtelte Gelenke</a:t>
            </a:r>
          </a:p>
        </p:txBody>
      </p:sp>
      <p:sp>
        <p:nvSpPr>
          <p:cNvPr id="3" name="Foliennummernplatzhalter 2">
            <a:extLst>
              <a:ext uri="{FF2B5EF4-FFF2-40B4-BE49-F238E27FC236}">
                <a16:creationId xmlns:a16="http://schemas.microsoft.com/office/drawing/2014/main" id="{A6E46EE4-6D2E-4E2E-BF2A-7BA34D3E752F}"/>
              </a:ext>
            </a:extLst>
          </p:cNvPr>
          <p:cNvSpPr>
            <a:spLocks noGrp="1"/>
          </p:cNvSpPr>
          <p:nvPr>
            <p:ph type="sldNum" sz="quarter" idx="10"/>
          </p:nvPr>
        </p:nvSpPr>
        <p:spPr/>
        <p:txBody>
          <a:bodyPr/>
          <a:lstStyle/>
          <a:p>
            <a:r>
              <a:rPr lang="de-DE"/>
              <a:t>Seite </a:t>
            </a:r>
            <a:fld id="{40192516-3A96-4AF1-ACCE-4FA25417AC18}" type="slidenum">
              <a:rPr lang="de-DE" smtClean="0"/>
              <a:pPr/>
              <a:t>20</a:t>
            </a:fld>
            <a:endParaRPr lang="de-DE"/>
          </a:p>
        </p:txBody>
      </p:sp>
      <p:sp>
        <p:nvSpPr>
          <p:cNvPr id="4" name="Textplatzhalter 3">
            <a:extLst>
              <a:ext uri="{FF2B5EF4-FFF2-40B4-BE49-F238E27FC236}">
                <a16:creationId xmlns:a16="http://schemas.microsoft.com/office/drawing/2014/main" id="{D1EF27CC-26C5-47A0-819A-188D23B76A3A}"/>
              </a:ext>
            </a:extLst>
          </p:cNvPr>
          <p:cNvSpPr>
            <a:spLocks noGrp="1"/>
          </p:cNvSpPr>
          <p:nvPr>
            <p:ph type="body" sz="quarter" idx="11"/>
          </p:nvPr>
        </p:nvSpPr>
        <p:spPr/>
        <p:txBody>
          <a:bodyPr/>
          <a:lstStyle/>
          <a:p>
            <a:pPr marL="342900" indent="-342900">
              <a:buFont typeface="+mj-lt"/>
              <a:buAutoNum type="arabicPeriod"/>
            </a:pPr>
            <a:r>
              <a:rPr lang="de-DE" dirty="0"/>
              <a:t>Für Verschachtelte Gelenke gibt es Details die beachtet werden müssen</a:t>
            </a:r>
          </a:p>
          <a:p>
            <a:pPr marL="342900" indent="-342900">
              <a:buFont typeface="+mj-lt"/>
              <a:buAutoNum type="arabicPeriod"/>
            </a:pPr>
            <a:r>
              <a:rPr lang="de-DE" dirty="0"/>
              <a:t>Diese werden im Folgenden am Beispiel des Sauggreifer Gelenkarms aufgezeigt</a:t>
            </a:r>
          </a:p>
          <a:p>
            <a:pPr marL="342900" indent="-342900">
              <a:buFont typeface="+mj-lt"/>
              <a:buAutoNum type="arabicPeriod"/>
            </a:pPr>
            <a:r>
              <a:rPr lang="de-DE" dirty="0"/>
              <a:t>Dieser verfügt über ein Drehgelenk im oberen Teil und ein Schubgelenk für den oberen Aufbau mit der entsprechenden Ordnerstruktur</a:t>
            </a:r>
          </a:p>
        </p:txBody>
      </p:sp>
      <p:pic>
        <p:nvPicPr>
          <p:cNvPr id="5" name="Grafik 4">
            <a:extLst>
              <a:ext uri="{FF2B5EF4-FFF2-40B4-BE49-F238E27FC236}">
                <a16:creationId xmlns:a16="http://schemas.microsoft.com/office/drawing/2014/main" id="{EC77F183-D2B2-42DB-9995-6BD5197BF9D2}"/>
              </a:ext>
            </a:extLst>
          </p:cNvPr>
          <p:cNvPicPr>
            <a:picLocks noChangeAspect="1"/>
          </p:cNvPicPr>
          <p:nvPr/>
        </p:nvPicPr>
        <p:blipFill>
          <a:blip r:embed="rId2"/>
          <a:stretch>
            <a:fillRect/>
          </a:stretch>
        </p:blipFill>
        <p:spPr>
          <a:xfrm>
            <a:off x="932286" y="3535909"/>
            <a:ext cx="2777865" cy="3265618"/>
          </a:xfrm>
          <a:prstGeom prst="rect">
            <a:avLst/>
          </a:prstGeom>
        </p:spPr>
      </p:pic>
      <p:pic>
        <p:nvPicPr>
          <p:cNvPr id="6" name="Grafik 5">
            <a:extLst>
              <a:ext uri="{FF2B5EF4-FFF2-40B4-BE49-F238E27FC236}">
                <a16:creationId xmlns:a16="http://schemas.microsoft.com/office/drawing/2014/main" id="{AB447BD9-2B4B-4F0E-A7B9-2EF4C87CB01A}"/>
              </a:ext>
            </a:extLst>
          </p:cNvPr>
          <p:cNvPicPr>
            <a:picLocks noChangeAspect="1"/>
          </p:cNvPicPr>
          <p:nvPr/>
        </p:nvPicPr>
        <p:blipFill>
          <a:blip r:embed="rId3"/>
          <a:stretch>
            <a:fillRect/>
          </a:stretch>
        </p:blipFill>
        <p:spPr>
          <a:xfrm>
            <a:off x="4309242" y="4120274"/>
            <a:ext cx="4322755" cy="1736598"/>
          </a:xfrm>
          <a:prstGeom prst="rect">
            <a:avLst/>
          </a:prstGeom>
        </p:spPr>
      </p:pic>
    </p:spTree>
    <p:extLst>
      <p:ext uri="{BB962C8B-B14F-4D97-AF65-F5344CB8AC3E}">
        <p14:creationId xmlns:p14="http://schemas.microsoft.com/office/powerpoint/2010/main" val="1686881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76858B-16FB-4C72-8F32-0F9657C60674}"/>
              </a:ext>
            </a:extLst>
          </p:cNvPr>
          <p:cNvSpPr>
            <a:spLocks noGrp="1"/>
          </p:cNvSpPr>
          <p:nvPr>
            <p:ph type="title"/>
          </p:nvPr>
        </p:nvSpPr>
        <p:spPr/>
        <p:txBody>
          <a:bodyPr/>
          <a:lstStyle/>
          <a:p>
            <a:r>
              <a:rPr lang="de-DE" dirty="0"/>
              <a:t>Verschachtelte Gelenke</a:t>
            </a:r>
          </a:p>
        </p:txBody>
      </p:sp>
      <p:sp>
        <p:nvSpPr>
          <p:cNvPr id="3" name="Foliennummernplatzhalter 2">
            <a:extLst>
              <a:ext uri="{FF2B5EF4-FFF2-40B4-BE49-F238E27FC236}">
                <a16:creationId xmlns:a16="http://schemas.microsoft.com/office/drawing/2014/main" id="{D07690E3-4663-40FB-B940-E3066993F77B}"/>
              </a:ext>
            </a:extLst>
          </p:cNvPr>
          <p:cNvSpPr>
            <a:spLocks noGrp="1"/>
          </p:cNvSpPr>
          <p:nvPr>
            <p:ph type="sldNum" sz="quarter" idx="10"/>
          </p:nvPr>
        </p:nvSpPr>
        <p:spPr/>
        <p:txBody>
          <a:bodyPr/>
          <a:lstStyle/>
          <a:p>
            <a:r>
              <a:rPr lang="de-DE"/>
              <a:t>Seite </a:t>
            </a:r>
            <a:fld id="{40192516-3A96-4AF1-ACCE-4FA25417AC18}" type="slidenum">
              <a:rPr lang="de-DE" smtClean="0"/>
              <a:pPr/>
              <a:t>21</a:t>
            </a:fld>
            <a:endParaRPr lang="de-DE"/>
          </a:p>
        </p:txBody>
      </p:sp>
      <p:sp>
        <p:nvSpPr>
          <p:cNvPr id="4" name="Textplatzhalter 3">
            <a:extLst>
              <a:ext uri="{FF2B5EF4-FFF2-40B4-BE49-F238E27FC236}">
                <a16:creationId xmlns:a16="http://schemas.microsoft.com/office/drawing/2014/main" id="{17AA9B72-8ACC-4EC6-800A-D9C03A549E09}"/>
              </a:ext>
            </a:extLst>
          </p:cNvPr>
          <p:cNvSpPr>
            <a:spLocks noGrp="1"/>
          </p:cNvSpPr>
          <p:nvPr>
            <p:ph type="body" sz="quarter" idx="11"/>
          </p:nvPr>
        </p:nvSpPr>
        <p:spPr/>
        <p:txBody>
          <a:bodyPr/>
          <a:lstStyle/>
          <a:p>
            <a:pPr marL="342900" indent="-342900">
              <a:buFont typeface="+mj-lt"/>
              <a:buAutoNum type="arabicPeriod"/>
            </a:pPr>
            <a:r>
              <a:rPr lang="de-DE" dirty="0"/>
              <a:t>Für die Drehbewegung wird ein Gelenk zwischen beiden Baugruppen mit der Bezeichnung „</a:t>
            </a:r>
            <a:r>
              <a:rPr lang="de-DE" dirty="0" err="1"/>
              <a:t>move</a:t>
            </a:r>
            <a:r>
              <a:rPr lang="de-DE" dirty="0"/>
              <a:t>“ erstellt. </a:t>
            </a:r>
          </a:p>
          <a:p>
            <a:pPr marL="342900" indent="-342900">
              <a:buFont typeface="+mj-lt"/>
              <a:buAutoNum type="arabicPeriod"/>
            </a:pPr>
            <a:r>
              <a:rPr lang="de-DE" dirty="0"/>
              <a:t>Für die Schubbewegung darf ein Gelenk nur zwischen der „Base“ und der nicht drehenden Trägerbaugruppe erstellt werden.</a:t>
            </a:r>
          </a:p>
        </p:txBody>
      </p:sp>
      <p:pic>
        <p:nvPicPr>
          <p:cNvPr id="5" name="Grafik 4">
            <a:extLst>
              <a:ext uri="{FF2B5EF4-FFF2-40B4-BE49-F238E27FC236}">
                <a16:creationId xmlns:a16="http://schemas.microsoft.com/office/drawing/2014/main" id="{87AB1EFB-A20B-48C4-9CDC-7E2B5586CB99}"/>
              </a:ext>
            </a:extLst>
          </p:cNvPr>
          <p:cNvPicPr>
            <a:picLocks noChangeAspect="1"/>
          </p:cNvPicPr>
          <p:nvPr/>
        </p:nvPicPr>
        <p:blipFill>
          <a:blip r:embed="rId2"/>
          <a:stretch>
            <a:fillRect/>
          </a:stretch>
        </p:blipFill>
        <p:spPr>
          <a:xfrm>
            <a:off x="52551" y="3850495"/>
            <a:ext cx="5768484" cy="3085467"/>
          </a:xfrm>
          <a:prstGeom prst="rect">
            <a:avLst/>
          </a:prstGeom>
        </p:spPr>
      </p:pic>
      <p:pic>
        <p:nvPicPr>
          <p:cNvPr id="7" name="Grafik 6">
            <a:extLst>
              <a:ext uri="{FF2B5EF4-FFF2-40B4-BE49-F238E27FC236}">
                <a16:creationId xmlns:a16="http://schemas.microsoft.com/office/drawing/2014/main" id="{4B19B5E3-34DF-453C-B88E-164CBDC1172E}"/>
              </a:ext>
            </a:extLst>
          </p:cNvPr>
          <p:cNvPicPr>
            <a:picLocks noChangeAspect="1"/>
          </p:cNvPicPr>
          <p:nvPr/>
        </p:nvPicPr>
        <p:blipFill rotWithShape="1">
          <a:blip r:embed="rId3"/>
          <a:srcRect b="-7469"/>
          <a:stretch/>
        </p:blipFill>
        <p:spPr>
          <a:xfrm>
            <a:off x="5914096" y="3850495"/>
            <a:ext cx="4726753" cy="3315480"/>
          </a:xfrm>
          <a:prstGeom prst="rect">
            <a:avLst/>
          </a:prstGeom>
        </p:spPr>
      </p:pic>
    </p:spTree>
    <p:extLst>
      <p:ext uri="{BB962C8B-B14F-4D97-AF65-F5344CB8AC3E}">
        <p14:creationId xmlns:p14="http://schemas.microsoft.com/office/powerpoint/2010/main" val="2644906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76858B-16FB-4C72-8F32-0F9657C60674}"/>
              </a:ext>
            </a:extLst>
          </p:cNvPr>
          <p:cNvSpPr>
            <a:spLocks noGrp="1"/>
          </p:cNvSpPr>
          <p:nvPr>
            <p:ph type="title"/>
          </p:nvPr>
        </p:nvSpPr>
        <p:spPr/>
        <p:txBody>
          <a:bodyPr/>
          <a:lstStyle/>
          <a:p>
            <a:r>
              <a:rPr lang="de-DE" dirty="0"/>
              <a:t>Verschachtelte Gelenke</a:t>
            </a:r>
          </a:p>
        </p:txBody>
      </p:sp>
      <p:sp>
        <p:nvSpPr>
          <p:cNvPr id="3" name="Foliennummernplatzhalter 2">
            <a:extLst>
              <a:ext uri="{FF2B5EF4-FFF2-40B4-BE49-F238E27FC236}">
                <a16:creationId xmlns:a16="http://schemas.microsoft.com/office/drawing/2014/main" id="{D07690E3-4663-40FB-B940-E3066993F77B}"/>
              </a:ext>
            </a:extLst>
          </p:cNvPr>
          <p:cNvSpPr>
            <a:spLocks noGrp="1"/>
          </p:cNvSpPr>
          <p:nvPr>
            <p:ph type="sldNum" sz="quarter" idx="10"/>
          </p:nvPr>
        </p:nvSpPr>
        <p:spPr/>
        <p:txBody>
          <a:bodyPr/>
          <a:lstStyle/>
          <a:p>
            <a:r>
              <a:rPr lang="de-DE"/>
              <a:t>Seite </a:t>
            </a:r>
            <a:fld id="{40192516-3A96-4AF1-ACCE-4FA25417AC18}" type="slidenum">
              <a:rPr lang="de-DE" smtClean="0"/>
              <a:pPr/>
              <a:t>22</a:t>
            </a:fld>
            <a:endParaRPr lang="de-DE"/>
          </a:p>
        </p:txBody>
      </p:sp>
      <p:sp>
        <p:nvSpPr>
          <p:cNvPr id="4" name="Textplatzhalter 3">
            <a:extLst>
              <a:ext uri="{FF2B5EF4-FFF2-40B4-BE49-F238E27FC236}">
                <a16:creationId xmlns:a16="http://schemas.microsoft.com/office/drawing/2014/main" id="{17AA9B72-8ACC-4EC6-800A-D9C03A549E09}"/>
              </a:ext>
            </a:extLst>
          </p:cNvPr>
          <p:cNvSpPr>
            <a:spLocks noGrp="1"/>
          </p:cNvSpPr>
          <p:nvPr>
            <p:ph type="body" sz="quarter" idx="11"/>
          </p:nvPr>
        </p:nvSpPr>
        <p:spPr>
          <a:xfrm>
            <a:off x="522288" y="2109788"/>
            <a:ext cx="5663104" cy="4559300"/>
          </a:xfrm>
        </p:spPr>
        <p:txBody>
          <a:bodyPr/>
          <a:lstStyle/>
          <a:p>
            <a:pPr marL="342900" indent="-342900">
              <a:buFont typeface="+mj-lt"/>
              <a:buAutoNum type="arabicPeriod"/>
            </a:pPr>
            <a:r>
              <a:rPr lang="de-DE" dirty="0"/>
              <a:t>Das Mesh eines Körpers wird von der </a:t>
            </a:r>
            <a:r>
              <a:rPr lang="de-DE" dirty="0" err="1"/>
              <a:t>Physx</a:t>
            </a:r>
            <a:r>
              <a:rPr lang="de-DE" dirty="0"/>
              <a:t> Engine</a:t>
            </a:r>
            <a:br>
              <a:rPr lang="de-DE" dirty="0"/>
            </a:br>
            <a:r>
              <a:rPr lang="de-DE" dirty="0"/>
              <a:t>Approximiert.</a:t>
            </a:r>
          </a:p>
          <a:p>
            <a:pPr marL="342900" indent="-342900">
              <a:buFont typeface="+mj-lt"/>
              <a:buAutoNum type="arabicPeriod"/>
            </a:pPr>
            <a:r>
              <a:rPr lang="de-DE" dirty="0"/>
              <a:t>„</a:t>
            </a:r>
            <a:r>
              <a:rPr lang="de-DE" dirty="0" err="1"/>
              <a:t>convexDecomposition</a:t>
            </a:r>
            <a:r>
              <a:rPr lang="de-DE" dirty="0"/>
              <a:t>“ löst das Mesh sehr genau auf und verhindert somit Kollisionen zwischen ungenauen Körpern welche über ihre Maße hinaus Approximiert wurden.</a:t>
            </a:r>
          </a:p>
        </p:txBody>
      </p:sp>
      <p:pic>
        <p:nvPicPr>
          <p:cNvPr id="6" name="Grafik 5">
            <a:extLst>
              <a:ext uri="{FF2B5EF4-FFF2-40B4-BE49-F238E27FC236}">
                <a16:creationId xmlns:a16="http://schemas.microsoft.com/office/drawing/2014/main" id="{46F2C14A-30CC-464B-9A6D-9749EE9575EE}"/>
              </a:ext>
            </a:extLst>
          </p:cNvPr>
          <p:cNvPicPr>
            <a:picLocks noChangeAspect="1"/>
          </p:cNvPicPr>
          <p:nvPr/>
        </p:nvPicPr>
        <p:blipFill>
          <a:blip r:embed="rId2"/>
          <a:stretch>
            <a:fillRect/>
          </a:stretch>
        </p:blipFill>
        <p:spPr>
          <a:xfrm>
            <a:off x="6185392" y="364332"/>
            <a:ext cx="4124325" cy="6553200"/>
          </a:xfrm>
          <a:prstGeom prst="rect">
            <a:avLst/>
          </a:prstGeom>
        </p:spPr>
      </p:pic>
    </p:spTree>
    <p:extLst>
      <p:ext uri="{BB962C8B-B14F-4D97-AF65-F5344CB8AC3E}">
        <p14:creationId xmlns:p14="http://schemas.microsoft.com/office/powerpoint/2010/main" val="10259644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6C7C78-1E55-47BB-A46A-ADD55E37EEF4}"/>
              </a:ext>
            </a:extLst>
          </p:cNvPr>
          <p:cNvSpPr>
            <a:spLocks noGrp="1"/>
          </p:cNvSpPr>
          <p:nvPr>
            <p:ph type="title"/>
          </p:nvPr>
        </p:nvSpPr>
        <p:spPr/>
        <p:txBody>
          <a:bodyPr/>
          <a:lstStyle/>
          <a:p>
            <a:r>
              <a:rPr lang="de-DE" dirty="0"/>
              <a:t>Extension Einleitung</a:t>
            </a:r>
          </a:p>
        </p:txBody>
      </p:sp>
      <p:sp>
        <p:nvSpPr>
          <p:cNvPr id="3" name="Foliennummernplatzhalter 2">
            <a:extLst>
              <a:ext uri="{FF2B5EF4-FFF2-40B4-BE49-F238E27FC236}">
                <a16:creationId xmlns:a16="http://schemas.microsoft.com/office/drawing/2014/main" id="{E1EB24EF-8D3C-4B3B-9F98-192277790145}"/>
              </a:ext>
            </a:extLst>
          </p:cNvPr>
          <p:cNvSpPr>
            <a:spLocks noGrp="1"/>
          </p:cNvSpPr>
          <p:nvPr>
            <p:ph type="sldNum" sz="quarter" idx="10"/>
          </p:nvPr>
        </p:nvSpPr>
        <p:spPr/>
        <p:txBody>
          <a:bodyPr/>
          <a:lstStyle/>
          <a:p>
            <a:r>
              <a:rPr lang="de-DE"/>
              <a:t>Seite </a:t>
            </a:r>
            <a:fld id="{40192516-3A96-4AF1-ACCE-4FA25417AC18}" type="slidenum">
              <a:rPr lang="de-DE" smtClean="0"/>
              <a:pPr/>
              <a:t>23</a:t>
            </a:fld>
            <a:endParaRPr lang="de-DE"/>
          </a:p>
        </p:txBody>
      </p:sp>
      <p:sp>
        <p:nvSpPr>
          <p:cNvPr id="4" name="Textplatzhalter 3">
            <a:extLst>
              <a:ext uri="{FF2B5EF4-FFF2-40B4-BE49-F238E27FC236}">
                <a16:creationId xmlns:a16="http://schemas.microsoft.com/office/drawing/2014/main" id="{38B6200D-A296-40E9-BA3A-22C2DD532411}"/>
              </a:ext>
            </a:extLst>
          </p:cNvPr>
          <p:cNvSpPr>
            <a:spLocks noGrp="1"/>
          </p:cNvSpPr>
          <p:nvPr>
            <p:ph type="body" sz="quarter" idx="11"/>
          </p:nvPr>
        </p:nvSpPr>
        <p:spPr>
          <a:xfrm>
            <a:off x="321120" y="1756002"/>
            <a:ext cx="9066212" cy="5248302"/>
          </a:xfrm>
        </p:spPr>
        <p:txBody>
          <a:bodyPr/>
          <a:lstStyle/>
          <a:p>
            <a:pPr algn="just"/>
            <a:r>
              <a:rPr lang="de-DE" dirty="0"/>
              <a:t>Diese Extension ermöglicht den bidirektionalen Datenaustausch zwischen SPS und digitalem Zwilling in Isaac Sim zur Sicherstellung der Konformität der Aktorik. Über den direkten Zugriff auf Prim-Pfade der USD-Struktur werden komplexe Signale, wie inkrementelle Drehschritte oder getriggerte Baugruppen-Sequenzen, im Zwilling abgebildet. Eine Benutzeroberfläche bereitet die Prozessdaten auf und macht alle Funktionen manuell bedienbar.</a:t>
            </a:r>
          </a:p>
          <a:p>
            <a:pPr algn="just"/>
            <a:r>
              <a:rPr lang="de-DE" dirty="0"/>
              <a:t>Grundsätzlich kann die Extension sämtliche Operationen der Isaac Sim Oberfläche (z. B. Gelenkerstellung, Kollisionsprüfung) übernehmen, also jegliche Vorgänge die auch per Mausklick realisiert werden. Darüber hinaus können weitere, nicht Isaac Sim angehörige Komponenten hinzugefügt werden. Dazu zählen z.B. Verbindungen zu Webservern. Ergänzend ermöglicht ein Skript-Editor die direkte Code-Ausführung in der Szene für Einmal-Operationen, zu Testzwecken oder das Debugging. Ziel ist die Identifikation systemischer Problematiken beim Betrieb funktionaler Zwillinge, weit über die rein visuelle Darstellung hinaus. Im weiteren wird die Inbetriebnahme der Extension für die Maze Runner Anlage erklärt. Um diese auf eine andere Anlage übertragen zu können muss die Extension verstanden werden. Hier sind Large Language Modelle von großer Hilfe. Dabei sollte jedoch auf ein tiefgehendes Verständnis hingearbeitet werden, anstatt nur Anforderungen zu erfüllen.</a:t>
            </a:r>
          </a:p>
        </p:txBody>
      </p:sp>
    </p:spTree>
    <p:extLst>
      <p:ext uri="{BB962C8B-B14F-4D97-AF65-F5344CB8AC3E}">
        <p14:creationId xmlns:p14="http://schemas.microsoft.com/office/powerpoint/2010/main" val="3564602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144928-A6C9-4302-A742-31FAE8ABCDB8}"/>
              </a:ext>
            </a:extLst>
          </p:cNvPr>
          <p:cNvSpPr>
            <a:spLocks noGrp="1"/>
          </p:cNvSpPr>
          <p:nvPr>
            <p:ph type="title"/>
          </p:nvPr>
        </p:nvSpPr>
        <p:spPr/>
        <p:txBody>
          <a:bodyPr/>
          <a:lstStyle/>
          <a:p>
            <a:r>
              <a:rPr lang="de-DE" dirty="0"/>
              <a:t>constants.py</a:t>
            </a:r>
          </a:p>
        </p:txBody>
      </p:sp>
      <p:sp>
        <p:nvSpPr>
          <p:cNvPr id="3" name="Foliennummernplatzhalter 2">
            <a:extLst>
              <a:ext uri="{FF2B5EF4-FFF2-40B4-BE49-F238E27FC236}">
                <a16:creationId xmlns:a16="http://schemas.microsoft.com/office/drawing/2014/main" id="{3B313145-26D8-4CFE-800B-9F6E092B66DA}"/>
              </a:ext>
            </a:extLst>
          </p:cNvPr>
          <p:cNvSpPr>
            <a:spLocks noGrp="1"/>
          </p:cNvSpPr>
          <p:nvPr>
            <p:ph type="sldNum" sz="quarter" idx="10"/>
          </p:nvPr>
        </p:nvSpPr>
        <p:spPr/>
        <p:txBody>
          <a:bodyPr/>
          <a:lstStyle/>
          <a:p>
            <a:r>
              <a:rPr lang="de-DE"/>
              <a:t>Seite </a:t>
            </a:r>
            <a:fld id="{40192516-3A96-4AF1-ACCE-4FA25417AC18}" type="slidenum">
              <a:rPr lang="de-DE" smtClean="0"/>
              <a:pPr/>
              <a:t>24</a:t>
            </a:fld>
            <a:endParaRPr lang="de-DE"/>
          </a:p>
        </p:txBody>
      </p:sp>
      <p:sp>
        <p:nvSpPr>
          <p:cNvPr id="4" name="Textplatzhalter 3">
            <a:extLst>
              <a:ext uri="{FF2B5EF4-FFF2-40B4-BE49-F238E27FC236}">
                <a16:creationId xmlns:a16="http://schemas.microsoft.com/office/drawing/2014/main" id="{54260C5F-40C3-42A4-B204-1D6F785E7466}"/>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a:t>Zentrale Konfigurationsdatei</a:t>
            </a:r>
          </a:p>
          <a:p>
            <a:pPr marL="285750" indent="-285750">
              <a:buFont typeface="Arial" panose="020B0604020202020204" pitchFamily="34" charset="0"/>
              <a:buChar char="•"/>
            </a:pPr>
            <a:r>
              <a:rPr lang="de-DE" dirty="0"/>
              <a:t>Farben für UI (Hintergrund, Akzent, Status)</a:t>
            </a:r>
          </a:p>
          <a:p>
            <a:pPr marL="285750" indent="-285750">
              <a:buFont typeface="Arial" panose="020B0604020202020204" pitchFamily="34" charset="0"/>
              <a:buChar char="•"/>
            </a:pPr>
            <a:r>
              <a:rPr lang="de-DE" dirty="0"/>
              <a:t>USD-Pfade (Deckel, Greifer, Joint, Maze)</a:t>
            </a:r>
          </a:p>
          <a:p>
            <a:pPr marL="285750" indent="-285750">
              <a:buFont typeface="Arial" panose="020B0604020202020204" pitchFamily="34" charset="0"/>
              <a:buChar char="•"/>
            </a:pPr>
            <a:r>
              <a:rPr lang="de-DE" dirty="0"/>
              <a:t>MQTT-Broker, Port, </a:t>
            </a:r>
            <a:r>
              <a:rPr lang="de-DE" dirty="0" err="1"/>
              <a:t>Keepalive</a:t>
            </a:r>
            <a:endParaRPr lang="de-DE" dirty="0"/>
          </a:p>
          <a:p>
            <a:pPr marL="285750" indent="-285750">
              <a:buFont typeface="Arial" panose="020B0604020202020204" pitchFamily="34" charset="0"/>
              <a:buChar char="•"/>
            </a:pPr>
            <a:r>
              <a:rPr lang="de-DE" dirty="0"/>
              <a:t>API-URLs und API-Key</a:t>
            </a:r>
          </a:p>
          <a:p>
            <a:pPr marL="285750" indent="-285750">
              <a:buFont typeface="Arial" panose="020B0604020202020204" pitchFamily="34" charset="0"/>
              <a:buChar char="•"/>
            </a:pPr>
            <a:r>
              <a:rPr lang="de-DE" dirty="0"/>
              <a:t>Geometrie-Offsets (Deckelhöhe, Sicherheitsabstand)</a:t>
            </a:r>
          </a:p>
          <a:p>
            <a:pPr marL="285750" indent="-285750">
              <a:buFont typeface="Arial" panose="020B0604020202020204" pitchFamily="34" charset="0"/>
              <a:buChar char="•"/>
            </a:pPr>
            <a:r>
              <a:rPr lang="de-DE" dirty="0"/>
              <a:t>MAX_LOG_LINES = 80</a:t>
            </a:r>
          </a:p>
        </p:txBody>
      </p:sp>
    </p:spTree>
    <p:extLst>
      <p:ext uri="{BB962C8B-B14F-4D97-AF65-F5344CB8AC3E}">
        <p14:creationId xmlns:p14="http://schemas.microsoft.com/office/powerpoint/2010/main" val="3057405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B49BF5-488E-48D5-9621-AF190631640F}"/>
              </a:ext>
            </a:extLst>
          </p:cNvPr>
          <p:cNvSpPr>
            <a:spLocks noGrp="1"/>
          </p:cNvSpPr>
          <p:nvPr>
            <p:ph type="title"/>
          </p:nvPr>
        </p:nvSpPr>
        <p:spPr/>
        <p:txBody>
          <a:bodyPr/>
          <a:lstStyle/>
          <a:p>
            <a:r>
              <a:rPr lang="de-DE" dirty="0"/>
              <a:t>logger.py</a:t>
            </a:r>
          </a:p>
        </p:txBody>
      </p:sp>
      <p:sp>
        <p:nvSpPr>
          <p:cNvPr id="3" name="Foliennummernplatzhalter 2">
            <a:extLst>
              <a:ext uri="{FF2B5EF4-FFF2-40B4-BE49-F238E27FC236}">
                <a16:creationId xmlns:a16="http://schemas.microsoft.com/office/drawing/2014/main" id="{39E29DF9-104F-418E-BA8A-EAD565A987CF}"/>
              </a:ext>
            </a:extLst>
          </p:cNvPr>
          <p:cNvSpPr>
            <a:spLocks noGrp="1"/>
          </p:cNvSpPr>
          <p:nvPr>
            <p:ph type="sldNum" sz="quarter" idx="10"/>
          </p:nvPr>
        </p:nvSpPr>
        <p:spPr/>
        <p:txBody>
          <a:bodyPr/>
          <a:lstStyle/>
          <a:p>
            <a:r>
              <a:rPr lang="de-DE"/>
              <a:t>Seite </a:t>
            </a:r>
            <a:fld id="{40192516-3A96-4AF1-ACCE-4FA25417AC18}" type="slidenum">
              <a:rPr lang="de-DE" smtClean="0"/>
              <a:pPr/>
              <a:t>25</a:t>
            </a:fld>
            <a:endParaRPr lang="de-DE"/>
          </a:p>
        </p:txBody>
      </p:sp>
      <p:sp>
        <p:nvSpPr>
          <p:cNvPr id="4" name="Textplatzhalter 3">
            <a:extLst>
              <a:ext uri="{FF2B5EF4-FFF2-40B4-BE49-F238E27FC236}">
                <a16:creationId xmlns:a16="http://schemas.microsoft.com/office/drawing/2014/main" id="{8BCFE65E-41AE-48F6-89F5-47A943A1FA7C}"/>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a:t>__</a:t>
            </a:r>
            <a:r>
              <a:rPr lang="de-DE" dirty="0" err="1"/>
              <a:t>init</a:t>
            </a:r>
            <a:r>
              <a:rPr lang="de-DE" dirty="0"/>
              <a:t>__(</a:t>
            </a:r>
            <a:r>
              <a:rPr lang="de-DE" dirty="0" err="1"/>
              <a:t>log_container</a:t>
            </a:r>
            <a:r>
              <a:rPr lang="de-DE" dirty="0"/>
              <a:t>, loop) → Bindet UI-Container und Event-Loop</a:t>
            </a:r>
          </a:p>
          <a:p>
            <a:pPr marL="285750" indent="-285750">
              <a:buFont typeface="Arial" panose="020B0604020202020204" pitchFamily="34" charset="0"/>
              <a:buChar char="•"/>
            </a:pPr>
            <a:r>
              <a:rPr lang="de-DE" dirty="0"/>
              <a:t>log(</a:t>
            </a:r>
            <a:r>
              <a:rPr lang="de-DE" dirty="0" err="1"/>
              <a:t>message</a:t>
            </a:r>
            <a:r>
              <a:rPr lang="de-DE" dirty="0"/>
              <a:t>, </a:t>
            </a:r>
            <a:r>
              <a:rPr lang="de-DE" dirty="0" err="1"/>
              <a:t>level</a:t>
            </a:r>
            <a:r>
              <a:rPr lang="de-DE" dirty="0"/>
              <a:t>) → Fügt Zeile hinzu, thread-sicher</a:t>
            </a:r>
          </a:p>
          <a:p>
            <a:pPr marL="285750" indent="-285750">
              <a:buFont typeface="Arial" panose="020B0604020202020204" pitchFamily="34" charset="0"/>
              <a:buChar char="•"/>
            </a:pPr>
            <a:r>
              <a:rPr lang="de-DE" dirty="0"/>
              <a:t>_</a:t>
            </a:r>
            <a:r>
              <a:rPr lang="de-DE" dirty="0" err="1"/>
              <a:t>rebuild</a:t>
            </a:r>
            <a:r>
              <a:rPr lang="de-DE" dirty="0"/>
              <a:t>() → Zeichnet alle Log-Zeilen neu im UI</a:t>
            </a:r>
          </a:p>
          <a:p>
            <a:pPr marL="285750" indent="-285750">
              <a:buFont typeface="Arial" panose="020B0604020202020204" pitchFamily="34" charset="0"/>
              <a:buChar char="•"/>
            </a:pPr>
            <a:r>
              <a:rPr lang="de-DE" dirty="0" err="1"/>
              <a:t>clear</a:t>
            </a:r>
            <a:r>
              <a:rPr lang="de-DE" dirty="0"/>
              <a:t>() → Leert die </a:t>
            </a:r>
            <a:r>
              <a:rPr lang="de-DE" dirty="0" err="1"/>
              <a:t>Logliste</a:t>
            </a:r>
            <a:endParaRPr lang="de-DE" dirty="0"/>
          </a:p>
          <a:p>
            <a:pPr marL="285750" indent="-285750">
              <a:buFont typeface="Arial" panose="020B0604020202020204" pitchFamily="34" charset="0"/>
              <a:buChar char="•"/>
            </a:pPr>
            <a:r>
              <a:rPr lang="de-DE" dirty="0"/>
              <a:t>Farben pro Level: log/</a:t>
            </a:r>
            <a:r>
              <a:rPr lang="de-DE" dirty="0" err="1"/>
              <a:t>info</a:t>
            </a:r>
            <a:r>
              <a:rPr lang="de-DE" dirty="0"/>
              <a:t>/</a:t>
            </a:r>
            <a:r>
              <a:rPr lang="de-DE" dirty="0" err="1"/>
              <a:t>error</a:t>
            </a:r>
            <a:r>
              <a:rPr lang="de-DE" dirty="0"/>
              <a:t>/ok</a:t>
            </a:r>
          </a:p>
          <a:p>
            <a:pPr marL="285750" indent="-285750">
              <a:buFont typeface="Arial" panose="020B0604020202020204" pitchFamily="34" charset="0"/>
              <a:buChar char="•"/>
            </a:pPr>
            <a:r>
              <a:rPr lang="de-DE" dirty="0"/>
              <a:t>Begrenzte </a:t>
            </a:r>
            <a:r>
              <a:rPr lang="de-DE" dirty="0" err="1"/>
              <a:t>Logtiefe</a:t>
            </a:r>
            <a:r>
              <a:rPr lang="de-DE" dirty="0"/>
              <a:t> (FIFO)</a:t>
            </a:r>
          </a:p>
        </p:txBody>
      </p:sp>
    </p:spTree>
    <p:extLst>
      <p:ext uri="{BB962C8B-B14F-4D97-AF65-F5344CB8AC3E}">
        <p14:creationId xmlns:p14="http://schemas.microsoft.com/office/powerpoint/2010/main" val="2456427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F19663-15D0-450B-B5B6-7AF99E608ACA}"/>
              </a:ext>
            </a:extLst>
          </p:cNvPr>
          <p:cNvSpPr>
            <a:spLocks noGrp="1"/>
          </p:cNvSpPr>
          <p:nvPr>
            <p:ph type="title"/>
          </p:nvPr>
        </p:nvSpPr>
        <p:spPr/>
        <p:txBody>
          <a:bodyPr/>
          <a:lstStyle/>
          <a:p>
            <a:r>
              <a:rPr lang="de-DE" dirty="0"/>
              <a:t>suction_gripper.py</a:t>
            </a:r>
          </a:p>
        </p:txBody>
      </p:sp>
      <p:sp>
        <p:nvSpPr>
          <p:cNvPr id="3" name="Foliennummernplatzhalter 2">
            <a:extLst>
              <a:ext uri="{FF2B5EF4-FFF2-40B4-BE49-F238E27FC236}">
                <a16:creationId xmlns:a16="http://schemas.microsoft.com/office/drawing/2014/main" id="{C3DCD65D-A37E-4A7A-8074-CFF9FD184ACF}"/>
              </a:ext>
            </a:extLst>
          </p:cNvPr>
          <p:cNvSpPr>
            <a:spLocks noGrp="1"/>
          </p:cNvSpPr>
          <p:nvPr>
            <p:ph type="sldNum" sz="quarter" idx="10"/>
          </p:nvPr>
        </p:nvSpPr>
        <p:spPr/>
        <p:txBody>
          <a:bodyPr/>
          <a:lstStyle/>
          <a:p>
            <a:r>
              <a:rPr lang="de-DE"/>
              <a:t>Seite </a:t>
            </a:r>
            <a:fld id="{40192516-3A96-4AF1-ACCE-4FA25417AC18}" type="slidenum">
              <a:rPr lang="de-DE" smtClean="0"/>
              <a:pPr/>
              <a:t>26</a:t>
            </a:fld>
            <a:endParaRPr lang="de-DE"/>
          </a:p>
        </p:txBody>
      </p:sp>
      <p:sp>
        <p:nvSpPr>
          <p:cNvPr id="4" name="Textplatzhalter 3">
            <a:extLst>
              <a:ext uri="{FF2B5EF4-FFF2-40B4-BE49-F238E27FC236}">
                <a16:creationId xmlns:a16="http://schemas.microsoft.com/office/drawing/2014/main" id="{527FE3F5-C5DC-442B-9110-2824AFEE7E74}"/>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attach</a:t>
            </a:r>
            <a:r>
              <a:rPr lang="de-DE" dirty="0"/>
              <a:t>() / </a:t>
            </a:r>
            <a:r>
              <a:rPr lang="de-DE" dirty="0" err="1"/>
              <a:t>detach</a:t>
            </a:r>
            <a:r>
              <a:rPr lang="de-DE" dirty="0"/>
              <a:t>() / </a:t>
            </a:r>
            <a:r>
              <a:rPr lang="de-DE" dirty="0" err="1"/>
              <a:t>toggle</a:t>
            </a:r>
            <a:r>
              <a:rPr lang="de-DE" dirty="0"/>
              <a:t>() → </a:t>
            </a:r>
            <a:r>
              <a:rPr lang="de-DE" dirty="0" err="1"/>
              <a:t>Greiferzustand</a:t>
            </a:r>
            <a:endParaRPr lang="de-DE" dirty="0"/>
          </a:p>
          <a:p>
            <a:pPr marL="285750" indent="-285750">
              <a:buFont typeface="Arial" panose="020B0604020202020204" pitchFamily="34" charset="0"/>
              <a:buChar char="•"/>
            </a:pPr>
            <a:r>
              <a:rPr lang="de-DE" dirty="0" err="1"/>
              <a:t>hold_on_maze</a:t>
            </a:r>
            <a:r>
              <a:rPr lang="de-DE" dirty="0"/>
              <a:t>() → Deckel über Maze fixieren</a:t>
            </a:r>
          </a:p>
          <a:p>
            <a:pPr marL="285750" indent="-285750">
              <a:buFont typeface="Arial" panose="020B0604020202020204" pitchFamily="34" charset="0"/>
              <a:buChar char="•"/>
            </a:pPr>
            <a:r>
              <a:rPr lang="de-DE" dirty="0" err="1"/>
              <a:t>update_hold_position</a:t>
            </a:r>
            <a:r>
              <a:rPr lang="de-DE" dirty="0"/>
              <a:t>() → Pro Frame nachführen</a:t>
            </a:r>
          </a:p>
          <a:p>
            <a:pPr marL="285750" indent="-285750">
              <a:buFont typeface="Arial" panose="020B0604020202020204" pitchFamily="34" charset="0"/>
              <a:buChar char="•"/>
            </a:pPr>
            <a:r>
              <a:rPr lang="de-DE" dirty="0" err="1"/>
              <a:t>press_down</a:t>
            </a:r>
            <a:r>
              <a:rPr lang="de-DE" dirty="0"/>
              <a:t>(</a:t>
            </a:r>
            <a:r>
              <a:rPr lang="de-DE" dirty="0" err="1"/>
              <a:t>z_down</a:t>
            </a:r>
            <a:r>
              <a:rPr lang="de-DE" dirty="0"/>
              <a:t>) → Deckel absenken (Press-Logik)</a:t>
            </a:r>
          </a:p>
          <a:p>
            <a:pPr marL="285750" indent="-285750">
              <a:buFont typeface="Arial" panose="020B0604020202020204" pitchFamily="34" charset="0"/>
              <a:buChar char="•"/>
            </a:pPr>
            <a:r>
              <a:rPr lang="de-DE" dirty="0" err="1"/>
              <a:t>wait_and_press_if_ready</a:t>
            </a:r>
            <a:r>
              <a:rPr lang="de-DE" dirty="0"/>
              <a:t>(...) → Auto-Press bei erreichter Position</a:t>
            </a:r>
          </a:p>
          <a:p>
            <a:pPr marL="285750" indent="-285750">
              <a:buFont typeface="Arial" panose="020B0604020202020204" pitchFamily="34" charset="0"/>
              <a:buChar char="•"/>
            </a:pPr>
            <a:r>
              <a:rPr lang="de-DE" dirty="0" err="1"/>
              <a:t>release_dynamic</a:t>
            </a:r>
            <a:r>
              <a:rPr lang="de-DE" dirty="0"/>
              <a:t>() → Deckel wieder physikalisch</a:t>
            </a:r>
          </a:p>
          <a:p>
            <a:pPr marL="285750" indent="-285750">
              <a:buFont typeface="Arial" panose="020B0604020202020204" pitchFamily="34" charset="0"/>
              <a:buChar char="•"/>
            </a:pPr>
            <a:r>
              <a:rPr lang="de-DE" dirty="0" err="1"/>
              <a:t>reset</a:t>
            </a:r>
            <a:r>
              <a:rPr lang="de-DE" dirty="0"/>
              <a:t>() → Joint entfernen, Zustand löschen</a:t>
            </a:r>
          </a:p>
          <a:p>
            <a:pPr marL="285750" indent="-285750">
              <a:buFont typeface="Arial" panose="020B0604020202020204" pitchFamily="34" charset="0"/>
              <a:buChar char="•"/>
            </a:pPr>
            <a:r>
              <a:rPr lang="de-DE" dirty="0"/>
              <a:t>Helpers: _</a:t>
            </a:r>
            <a:r>
              <a:rPr lang="de-DE" dirty="0" err="1"/>
              <a:t>compute_maze_snap_world</a:t>
            </a:r>
            <a:r>
              <a:rPr lang="de-DE" dirty="0"/>
              <a:t>, _</a:t>
            </a:r>
            <a:r>
              <a:rPr lang="de-DE" dirty="0" err="1"/>
              <a:t>set_target_kinematic</a:t>
            </a:r>
            <a:r>
              <a:rPr lang="de-DE" dirty="0"/>
              <a:t>, _</a:t>
            </a:r>
            <a:r>
              <a:rPr lang="de-DE" dirty="0" err="1"/>
              <a:t>find_rigidbody_ancestor</a:t>
            </a:r>
            <a:endParaRPr lang="de-DE" dirty="0"/>
          </a:p>
        </p:txBody>
      </p:sp>
    </p:spTree>
    <p:extLst>
      <p:ext uri="{BB962C8B-B14F-4D97-AF65-F5344CB8AC3E}">
        <p14:creationId xmlns:p14="http://schemas.microsoft.com/office/powerpoint/2010/main" val="1658869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B782E2-5377-4F39-ABB5-748B0170DBE8}"/>
              </a:ext>
            </a:extLst>
          </p:cNvPr>
          <p:cNvSpPr>
            <a:spLocks noGrp="1"/>
          </p:cNvSpPr>
          <p:nvPr>
            <p:ph type="title"/>
          </p:nvPr>
        </p:nvSpPr>
        <p:spPr/>
        <p:txBody>
          <a:bodyPr/>
          <a:lstStyle/>
          <a:p>
            <a:r>
              <a:rPr lang="de-DE" dirty="0"/>
              <a:t>node_manager.py</a:t>
            </a:r>
          </a:p>
        </p:txBody>
      </p:sp>
      <p:sp>
        <p:nvSpPr>
          <p:cNvPr id="3" name="Foliennummernplatzhalter 2">
            <a:extLst>
              <a:ext uri="{FF2B5EF4-FFF2-40B4-BE49-F238E27FC236}">
                <a16:creationId xmlns:a16="http://schemas.microsoft.com/office/drawing/2014/main" id="{707172DA-318E-4F9C-A619-DA7ABE595731}"/>
              </a:ext>
            </a:extLst>
          </p:cNvPr>
          <p:cNvSpPr>
            <a:spLocks noGrp="1"/>
          </p:cNvSpPr>
          <p:nvPr>
            <p:ph type="sldNum" sz="quarter" idx="10"/>
          </p:nvPr>
        </p:nvSpPr>
        <p:spPr/>
        <p:txBody>
          <a:bodyPr/>
          <a:lstStyle/>
          <a:p>
            <a:r>
              <a:rPr lang="de-DE"/>
              <a:t>Seite </a:t>
            </a:r>
            <a:fld id="{40192516-3A96-4AF1-ACCE-4FA25417AC18}" type="slidenum">
              <a:rPr lang="de-DE" smtClean="0"/>
              <a:pPr/>
              <a:t>27</a:t>
            </a:fld>
            <a:endParaRPr lang="de-DE"/>
          </a:p>
        </p:txBody>
      </p:sp>
      <p:sp>
        <p:nvSpPr>
          <p:cNvPr id="4" name="Textplatzhalter 3">
            <a:extLst>
              <a:ext uri="{FF2B5EF4-FFF2-40B4-BE49-F238E27FC236}">
                <a16:creationId xmlns:a16="http://schemas.microsoft.com/office/drawing/2014/main" id="{A8561B23-B719-4938-A7DB-2E0277ED8FF0}"/>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load</a:t>
            </a:r>
            <a:r>
              <a:rPr lang="de-DE" dirty="0"/>
              <a:t>(</a:t>
            </a:r>
            <a:r>
              <a:rPr lang="de-DE" dirty="0" err="1"/>
              <a:t>on_button_clicked</a:t>
            </a:r>
            <a:r>
              <a:rPr lang="de-DE" dirty="0"/>
              <a:t>) → JSON laden, UI-Zeilen erzeugen</a:t>
            </a:r>
          </a:p>
          <a:p>
            <a:pPr marL="285750" indent="-285750">
              <a:buFont typeface="Arial" panose="020B0604020202020204" pitchFamily="34" charset="0"/>
              <a:buChar char="•"/>
            </a:pPr>
            <a:r>
              <a:rPr lang="de-DE" dirty="0"/>
              <a:t>find(</a:t>
            </a:r>
            <a:r>
              <a:rPr lang="de-DE" dirty="0" err="1"/>
              <a:t>node_id</a:t>
            </a:r>
            <a:r>
              <a:rPr lang="de-DE" dirty="0"/>
              <a:t>) → Liefert </a:t>
            </a:r>
            <a:r>
              <a:rPr lang="de-DE" dirty="0" err="1"/>
              <a:t>Node</a:t>
            </a:r>
            <a:r>
              <a:rPr lang="de-DE" dirty="0"/>
              <a:t>-Definition</a:t>
            </a:r>
          </a:p>
          <a:p>
            <a:pPr marL="285750" indent="-285750">
              <a:buFont typeface="Arial" panose="020B0604020202020204" pitchFamily="34" charset="0"/>
              <a:buChar char="•"/>
            </a:pPr>
            <a:r>
              <a:rPr lang="de-DE" dirty="0" err="1"/>
              <a:t>set_display</a:t>
            </a:r>
            <a:r>
              <a:rPr lang="de-DE" dirty="0"/>
              <a:t>(</a:t>
            </a:r>
            <a:r>
              <a:rPr lang="de-DE" dirty="0" err="1"/>
              <a:t>node_id</a:t>
            </a:r>
            <a:r>
              <a:rPr lang="de-DE" dirty="0"/>
              <a:t>, </a:t>
            </a:r>
            <a:r>
              <a:rPr lang="de-DE" dirty="0" err="1"/>
              <a:t>val</a:t>
            </a:r>
            <a:r>
              <a:rPr lang="de-DE" dirty="0"/>
              <a:t>) → Label aktualisieren + USD setzen</a:t>
            </a:r>
          </a:p>
          <a:p>
            <a:pPr marL="285750" indent="-285750">
              <a:buFont typeface="Arial" panose="020B0604020202020204" pitchFamily="34" charset="0"/>
              <a:buChar char="•"/>
            </a:pPr>
            <a:r>
              <a:rPr lang="de-DE" dirty="0" err="1"/>
              <a:t>apply_usd_for_node</a:t>
            </a:r>
            <a:r>
              <a:rPr lang="de-DE" dirty="0"/>
              <a:t>(</a:t>
            </a:r>
            <a:r>
              <a:rPr lang="de-DE" dirty="0" err="1"/>
              <a:t>node_id</a:t>
            </a:r>
            <a:r>
              <a:rPr lang="de-DE" dirty="0"/>
              <a:t>, </a:t>
            </a:r>
            <a:r>
              <a:rPr lang="de-DE" dirty="0" err="1"/>
              <a:t>val</a:t>
            </a:r>
            <a:r>
              <a:rPr lang="de-DE" dirty="0"/>
              <a:t>) → USD-Attribut bei </a:t>
            </a:r>
            <a:r>
              <a:rPr lang="de-DE" dirty="0" err="1"/>
              <a:t>Toggle</a:t>
            </a:r>
            <a:endParaRPr lang="de-DE" dirty="0"/>
          </a:p>
          <a:p>
            <a:pPr marL="285750" indent="-285750">
              <a:buFont typeface="Arial" panose="020B0604020202020204" pitchFamily="34" charset="0"/>
              <a:buChar char="•"/>
            </a:pPr>
            <a:r>
              <a:rPr lang="de-DE" dirty="0" err="1"/>
              <a:t>set_usd_attr</a:t>
            </a:r>
            <a:r>
              <a:rPr lang="de-DE" dirty="0"/>
              <a:t>(</a:t>
            </a:r>
            <a:r>
              <a:rPr lang="de-DE" dirty="0" err="1"/>
              <a:t>stage</a:t>
            </a:r>
            <a:r>
              <a:rPr lang="de-DE" dirty="0"/>
              <a:t>, </a:t>
            </a:r>
            <a:r>
              <a:rPr lang="de-DE" dirty="0" err="1"/>
              <a:t>node</a:t>
            </a:r>
            <a:r>
              <a:rPr lang="de-DE" dirty="0"/>
              <a:t>, </a:t>
            </a:r>
            <a:r>
              <a:rPr lang="de-DE" dirty="0" err="1"/>
              <a:t>value</a:t>
            </a:r>
            <a:r>
              <a:rPr lang="de-DE" dirty="0"/>
              <a:t>) → Schreibt USD-Attribut robust</a:t>
            </a:r>
          </a:p>
          <a:p>
            <a:pPr marL="285750" indent="-285750">
              <a:buFont typeface="Arial" panose="020B0604020202020204" pitchFamily="34" charset="0"/>
              <a:buChar char="•"/>
            </a:pPr>
            <a:r>
              <a:rPr lang="de-DE" dirty="0"/>
              <a:t>Datenfelder: </a:t>
            </a:r>
            <a:r>
              <a:rPr lang="de-DE" dirty="0" err="1"/>
              <a:t>nodes</a:t>
            </a:r>
            <a:r>
              <a:rPr lang="de-DE" dirty="0"/>
              <a:t>, </a:t>
            </a:r>
            <a:r>
              <a:rPr lang="de-DE" dirty="0" err="1"/>
              <a:t>node_values</a:t>
            </a:r>
            <a:r>
              <a:rPr lang="de-DE" dirty="0"/>
              <a:t>, </a:t>
            </a:r>
            <a:r>
              <a:rPr lang="de-DE" dirty="0" err="1"/>
              <a:t>node_labels</a:t>
            </a:r>
            <a:endParaRPr lang="de-DE" dirty="0"/>
          </a:p>
          <a:p>
            <a:pPr marL="285750" indent="-285750">
              <a:buFont typeface="Arial" panose="020B0604020202020204" pitchFamily="34" charset="0"/>
              <a:buChar char="•"/>
            </a:pPr>
            <a:r>
              <a:rPr lang="de-DE" dirty="0"/>
              <a:t>Sonderzustände für Impuls- und Velocity-Modi</a:t>
            </a:r>
          </a:p>
        </p:txBody>
      </p:sp>
    </p:spTree>
    <p:extLst>
      <p:ext uri="{BB962C8B-B14F-4D97-AF65-F5344CB8AC3E}">
        <p14:creationId xmlns:p14="http://schemas.microsoft.com/office/powerpoint/2010/main" val="9943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416E34-3027-482E-939E-92B4DCE9A6BD}"/>
              </a:ext>
            </a:extLst>
          </p:cNvPr>
          <p:cNvSpPr>
            <a:spLocks noGrp="1"/>
          </p:cNvSpPr>
          <p:nvPr>
            <p:ph type="title"/>
          </p:nvPr>
        </p:nvSpPr>
        <p:spPr/>
        <p:txBody>
          <a:bodyPr/>
          <a:lstStyle/>
          <a:p>
            <a:r>
              <a:rPr lang="de-DE" dirty="0"/>
              <a:t>api_client.py</a:t>
            </a:r>
          </a:p>
        </p:txBody>
      </p:sp>
      <p:sp>
        <p:nvSpPr>
          <p:cNvPr id="3" name="Foliennummernplatzhalter 2">
            <a:extLst>
              <a:ext uri="{FF2B5EF4-FFF2-40B4-BE49-F238E27FC236}">
                <a16:creationId xmlns:a16="http://schemas.microsoft.com/office/drawing/2014/main" id="{F6484DCD-1BA6-4978-BAF2-6E944F002BAC}"/>
              </a:ext>
            </a:extLst>
          </p:cNvPr>
          <p:cNvSpPr>
            <a:spLocks noGrp="1"/>
          </p:cNvSpPr>
          <p:nvPr>
            <p:ph type="sldNum" sz="quarter" idx="10"/>
          </p:nvPr>
        </p:nvSpPr>
        <p:spPr/>
        <p:txBody>
          <a:bodyPr/>
          <a:lstStyle/>
          <a:p>
            <a:r>
              <a:rPr lang="de-DE"/>
              <a:t>Seite </a:t>
            </a:r>
            <a:fld id="{40192516-3A96-4AF1-ACCE-4FA25417AC18}" type="slidenum">
              <a:rPr lang="de-DE" smtClean="0"/>
              <a:pPr/>
              <a:t>28</a:t>
            </a:fld>
            <a:endParaRPr lang="de-DE"/>
          </a:p>
        </p:txBody>
      </p:sp>
      <p:sp>
        <p:nvSpPr>
          <p:cNvPr id="4" name="Textplatzhalter 3">
            <a:extLst>
              <a:ext uri="{FF2B5EF4-FFF2-40B4-BE49-F238E27FC236}">
                <a16:creationId xmlns:a16="http://schemas.microsoft.com/office/drawing/2014/main" id="{8603FB12-DC43-498E-89B7-F64EFA368688}"/>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send_set</a:t>
            </a:r>
            <a:r>
              <a:rPr lang="de-DE" dirty="0"/>
              <a:t>(</a:t>
            </a:r>
            <a:r>
              <a:rPr lang="de-DE" dirty="0" err="1"/>
              <a:t>node_id</a:t>
            </a:r>
            <a:r>
              <a:rPr lang="de-DE" dirty="0"/>
              <a:t>, </a:t>
            </a:r>
            <a:r>
              <a:rPr lang="de-DE" dirty="0" err="1"/>
              <a:t>value</a:t>
            </a:r>
            <a:r>
              <a:rPr lang="de-DE" dirty="0"/>
              <a:t>, </a:t>
            </a:r>
            <a:r>
              <a:rPr lang="de-DE" dirty="0" err="1"/>
              <a:t>sim_mode</a:t>
            </a:r>
            <a:r>
              <a:rPr lang="de-DE" dirty="0"/>
              <a:t>) → Setzt </a:t>
            </a:r>
            <a:r>
              <a:rPr lang="de-DE" dirty="0" err="1"/>
              <a:t>Bool</a:t>
            </a:r>
            <a:r>
              <a:rPr lang="de-DE" dirty="0"/>
              <a:t> via REST</a:t>
            </a:r>
          </a:p>
          <a:p>
            <a:pPr marL="285750" indent="-285750">
              <a:buFont typeface="Arial" panose="020B0604020202020204" pitchFamily="34" charset="0"/>
              <a:buChar char="•"/>
            </a:pPr>
            <a:r>
              <a:rPr lang="de-DE" dirty="0" err="1"/>
              <a:t>send_impulse</a:t>
            </a:r>
            <a:r>
              <a:rPr lang="de-DE" dirty="0"/>
              <a:t>(</a:t>
            </a:r>
            <a:r>
              <a:rPr lang="de-DE" dirty="0" err="1"/>
              <a:t>node_id</a:t>
            </a:r>
            <a:r>
              <a:rPr lang="de-DE" dirty="0"/>
              <a:t>, </a:t>
            </a:r>
            <a:r>
              <a:rPr lang="de-DE" dirty="0" err="1"/>
              <a:t>sim_mode</a:t>
            </a:r>
            <a:r>
              <a:rPr lang="de-DE" dirty="0"/>
              <a:t>) → True → 300ms → </a:t>
            </a:r>
            <a:r>
              <a:rPr lang="de-DE" dirty="0" err="1"/>
              <a:t>False</a:t>
            </a:r>
            <a:endParaRPr lang="de-DE" dirty="0"/>
          </a:p>
          <a:p>
            <a:pPr marL="285750" indent="-285750">
              <a:buFont typeface="Arial" panose="020B0604020202020204" pitchFamily="34" charset="0"/>
              <a:buChar char="•"/>
            </a:pPr>
            <a:r>
              <a:rPr lang="de-DE" dirty="0" err="1"/>
              <a:t>initial_poll</a:t>
            </a:r>
            <a:r>
              <a:rPr lang="de-DE" dirty="0"/>
              <a:t>(</a:t>
            </a:r>
            <a:r>
              <a:rPr lang="de-DE" dirty="0" err="1"/>
              <a:t>sim_mode</a:t>
            </a:r>
            <a:r>
              <a:rPr lang="de-DE" dirty="0"/>
              <a:t>) → Alle Werte beim LIVE-Wechsel laden</a:t>
            </a:r>
          </a:p>
          <a:p>
            <a:pPr marL="285750" indent="-285750">
              <a:buFont typeface="Arial" panose="020B0604020202020204" pitchFamily="34" charset="0"/>
              <a:buChar char="•"/>
            </a:pPr>
            <a:r>
              <a:rPr lang="de-DE" dirty="0"/>
              <a:t>Im SIM-Modus nur lokale Updates</a:t>
            </a:r>
          </a:p>
          <a:p>
            <a:pPr marL="285750" indent="-285750">
              <a:buFont typeface="Arial" panose="020B0604020202020204" pitchFamily="34" charset="0"/>
              <a:buChar char="•"/>
            </a:pPr>
            <a:r>
              <a:rPr lang="de-DE" dirty="0"/>
              <a:t>Fehlerbehandlung mit </a:t>
            </a:r>
            <a:r>
              <a:rPr lang="de-DE" dirty="0" err="1"/>
              <a:t>Logging</a:t>
            </a:r>
            <a:endParaRPr lang="de-DE" dirty="0"/>
          </a:p>
          <a:p>
            <a:pPr marL="285750" indent="-285750">
              <a:buFont typeface="Arial" panose="020B0604020202020204" pitchFamily="34" charset="0"/>
              <a:buChar char="•"/>
            </a:pPr>
            <a:r>
              <a:rPr lang="de-DE" dirty="0"/>
              <a:t>Nutzt </a:t>
            </a:r>
            <a:r>
              <a:rPr lang="de-DE" dirty="0" err="1"/>
              <a:t>aiohttp</a:t>
            </a:r>
            <a:r>
              <a:rPr lang="de-DE" dirty="0"/>
              <a:t> asynchron</a:t>
            </a:r>
          </a:p>
        </p:txBody>
      </p:sp>
    </p:spTree>
    <p:extLst>
      <p:ext uri="{BB962C8B-B14F-4D97-AF65-F5344CB8AC3E}">
        <p14:creationId xmlns:p14="http://schemas.microsoft.com/office/powerpoint/2010/main" val="880142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6A1734-E5E5-44B0-97AE-E41C7F59BCDA}"/>
              </a:ext>
            </a:extLst>
          </p:cNvPr>
          <p:cNvSpPr>
            <a:spLocks noGrp="1"/>
          </p:cNvSpPr>
          <p:nvPr>
            <p:ph type="title"/>
          </p:nvPr>
        </p:nvSpPr>
        <p:spPr/>
        <p:txBody>
          <a:bodyPr/>
          <a:lstStyle/>
          <a:p>
            <a:r>
              <a:rPr lang="de-DE" dirty="0"/>
              <a:t>mqtt_handler.py</a:t>
            </a:r>
          </a:p>
        </p:txBody>
      </p:sp>
      <p:sp>
        <p:nvSpPr>
          <p:cNvPr id="3" name="Foliennummernplatzhalter 2">
            <a:extLst>
              <a:ext uri="{FF2B5EF4-FFF2-40B4-BE49-F238E27FC236}">
                <a16:creationId xmlns:a16="http://schemas.microsoft.com/office/drawing/2014/main" id="{0A4BD2CF-74D6-438A-8C0B-4A7B85FD07A6}"/>
              </a:ext>
            </a:extLst>
          </p:cNvPr>
          <p:cNvSpPr>
            <a:spLocks noGrp="1"/>
          </p:cNvSpPr>
          <p:nvPr>
            <p:ph type="sldNum" sz="quarter" idx="10"/>
          </p:nvPr>
        </p:nvSpPr>
        <p:spPr/>
        <p:txBody>
          <a:bodyPr/>
          <a:lstStyle/>
          <a:p>
            <a:r>
              <a:rPr lang="de-DE"/>
              <a:t>Seite </a:t>
            </a:r>
            <a:fld id="{40192516-3A96-4AF1-ACCE-4FA25417AC18}" type="slidenum">
              <a:rPr lang="de-DE" smtClean="0"/>
              <a:pPr/>
              <a:t>29</a:t>
            </a:fld>
            <a:endParaRPr lang="de-DE"/>
          </a:p>
        </p:txBody>
      </p:sp>
      <p:sp>
        <p:nvSpPr>
          <p:cNvPr id="4" name="Textplatzhalter 3">
            <a:extLst>
              <a:ext uri="{FF2B5EF4-FFF2-40B4-BE49-F238E27FC236}">
                <a16:creationId xmlns:a16="http://schemas.microsoft.com/office/drawing/2014/main" id="{2823E7CE-D87F-4D35-81FA-56E4042017DD}"/>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start</a:t>
            </a:r>
            <a:r>
              <a:rPr lang="de-DE" dirty="0"/>
              <a:t>() → Baut </a:t>
            </a:r>
            <a:r>
              <a:rPr lang="de-DE" dirty="0" err="1"/>
              <a:t>WebSocket</a:t>
            </a:r>
            <a:r>
              <a:rPr lang="de-DE" dirty="0"/>
              <a:t>-MQTT-Verbindung auf</a:t>
            </a:r>
          </a:p>
          <a:p>
            <a:pPr marL="285750" indent="-285750">
              <a:buFont typeface="Arial" panose="020B0604020202020204" pitchFamily="34" charset="0"/>
              <a:buChar char="•"/>
            </a:pPr>
            <a:r>
              <a:rPr lang="de-DE" dirty="0" err="1"/>
              <a:t>stop</a:t>
            </a:r>
            <a:r>
              <a:rPr lang="de-DE" dirty="0"/>
              <a:t>() → </a:t>
            </a:r>
            <a:r>
              <a:rPr lang="de-DE" dirty="0" err="1"/>
              <a:t>Disconnect</a:t>
            </a:r>
            <a:r>
              <a:rPr lang="de-DE" dirty="0"/>
              <a:t> + Statusupdate</a:t>
            </a:r>
          </a:p>
          <a:p>
            <a:pPr marL="285750" indent="-285750">
              <a:buFont typeface="Arial" panose="020B0604020202020204" pitchFamily="34" charset="0"/>
              <a:buChar char="•"/>
            </a:pPr>
            <a:r>
              <a:rPr lang="de-DE" dirty="0"/>
              <a:t>_</a:t>
            </a:r>
            <a:r>
              <a:rPr lang="de-DE" dirty="0" err="1"/>
              <a:t>on_message</a:t>
            </a:r>
            <a:r>
              <a:rPr lang="de-DE" dirty="0"/>
              <a:t>(</a:t>
            </a:r>
            <a:r>
              <a:rPr lang="de-DE" dirty="0" err="1"/>
              <a:t>topic</a:t>
            </a:r>
            <a:r>
              <a:rPr lang="de-DE" dirty="0"/>
              <a:t>, </a:t>
            </a:r>
            <a:r>
              <a:rPr lang="de-DE" dirty="0" err="1"/>
              <a:t>payload</a:t>
            </a:r>
            <a:r>
              <a:rPr lang="de-DE" dirty="0"/>
              <a:t>) → Thread-sicheres Routing in UI</a:t>
            </a:r>
          </a:p>
          <a:p>
            <a:pPr marL="285750" indent="-285750">
              <a:buFont typeface="Arial" panose="020B0604020202020204" pitchFamily="34" charset="0"/>
              <a:buChar char="•"/>
            </a:pPr>
            <a:r>
              <a:rPr lang="de-DE" dirty="0"/>
              <a:t>_</a:t>
            </a:r>
            <a:r>
              <a:rPr lang="de-DE" dirty="0" err="1"/>
              <a:t>stepper_increment</a:t>
            </a:r>
            <a:r>
              <a:rPr lang="de-DE" dirty="0"/>
              <a:t>() → Spezialfall Drehscheibe (-60° pro Trigger)</a:t>
            </a:r>
          </a:p>
          <a:p>
            <a:pPr marL="285750" indent="-285750">
              <a:buFont typeface="Arial" panose="020B0604020202020204" pitchFamily="34" charset="0"/>
              <a:buChar char="•"/>
            </a:pPr>
            <a:r>
              <a:rPr lang="de-DE" dirty="0" err="1"/>
              <a:t>Subscribed</a:t>
            </a:r>
            <a:r>
              <a:rPr lang="de-DE" dirty="0"/>
              <a:t> alle /</a:t>
            </a:r>
            <a:r>
              <a:rPr lang="de-DE" dirty="0" err="1"/>
              <a:t>PlcNode</a:t>
            </a:r>
            <a:r>
              <a:rPr lang="de-DE" dirty="0"/>
              <a:t>/</a:t>
            </a:r>
            <a:r>
              <a:rPr lang="de-DE" dirty="0" err="1"/>
              <a:t>Get</a:t>
            </a:r>
            <a:r>
              <a:rPr lang="de-DE" dirty="0"/>
              <a:t>/&lt;</a:t>
            </a:r>
            <a:r>
              <a:rPr lang="de-DE" dirty="0" err="1"/>
              <a:t>node_id</a:t>
            </a:r>
            <a:r>
              <a:rPr lang="de-DE" dirty="0"/>
              <a:t>&gt; Topics</a:t>
            </a:r>
          </a:p>
          <a:p>
            <a:pPr marL="285750" indent="-285750">
              <a:buFont typeface="Arial" panose="020B0604020202020204" pitchFamily="34" charset="0"/>
              <a:buChar char="•"/>
            </a:pPr>
            <a:r>
              <a:rPr lang="de-DE" dirty="0"/>
              <a:t>Bridge zwischen MQTT-Thread und </a:t>
            </a:r>
            <a:r>
              <a:rPr lang="de-DE" dirty="0" err="1"/>
              <a:t>asyncio</a:t>
            </a:r>
            <a:r>
              <a:rPr lang="de-DE" dirty="0"/>
              <a:t>-Loop</a:t>
            </a:r>
          </a:p>
        </p:txBody>
      </p:sp>
    </p:spTree>
    <p:extLst>
      <p:ext uri="{BB962C8B-B14F-4D97-AF65-F5344CB8AC3E}">
        <p14:creationId xmlns:p14="http://schemas.microsoft.com/office/powerpoint/2010/main" val="290967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161548-9415-4E1D-994A-51E202DFF9E0}"/>
              </a:ext>
            </a:extLst>
          </p:cNvPr>
          <p:cNvSpPr>
            <a:spLocks noGrp="1"/>
          </p:cNvSpPr>
          <p:nvPr>
            <p:ph type="title"/>
          </p:nvPr>
        </p:nvSpPr>
        <p:spPr/>
        <p:txBody>
          <a:bodyPr/>
          <a:lstStyle/>
          <a:p>
            <a:r>
              <a:rPr lang="de-DE" dirty="0"/>
              <a:t>timeline_handler.py</a:t>
            </a:r>
          </a:p>
        </p:txBody>
      </p:sp>
      <p:sp>
        <p:nvSpPr>
          <p:cNvPr id="3" name="Foliennummernplatzhalter 2">
            <a:extLst>
              <a:ext uri="{FF2B5EF4-FFF2-40B4-BE49-F238E27FC236}">
                <a16:creationId xmlns:a16="http://schemas.microsoft.com/office/drawing/2014/main" id="{F388790B-B93C-48A7-A34C-F4B6022A37D4}"/>
              </a:ext>
            </a:extLst>
          </p:cNvPr>
          <p:cNvSpPr>
            <a:spLocks noGrp="1"/>
          </p:cNvSpPr>
          <p:nvPr>
            <p:ph type="sldNum" sz="quarter" idx="10"/>
          </p:nvPr>
        </p:nvSpPr>
        <p:spPr/>
        <p:txBody>
          <a:bodyPr/>
          <a:lstStyle/>
          <a:p>
            <a:r>
              <a:rPr lang="de-DE"/>
              <a:t>Seite </a:t>
            </a:r>
            <a:fld id="{40192516-3A96-4AF1-ACCE-4FA25417AC18}" type="slidenum">
              <a:rPr lang="de-DE" smtClean="0"/>
              <a:pPr/>
              <a:t>30</a:t>
            </a:fld>
            <a:endParaRPr lang="de-DE"/>
          </a:p>
        </p:txBody>
      </p:sp>
      <p:sp>
        <p:nvSpPr>
          <p:cNvPr id="4" name="Textplatzhalter 3">
            <a:extLst>
              <a:ext uri="{FF2B5EF4-FFF2-40B4-BE49-F238E27FC236}">
                <a16:creationId xmlns:a16="http://schemas.microsoft.com/office/drawing/2014/main" id="{FA868FCE-105B-406A-B8CA-3A5557E593B5}"/>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subscribe</a:t>
            </a:r>
            <a:r>
              <a:rPr lang="de-DE" dirty="0"/>
              <a:t>() → Bindet Omniverse-Timeline-Events</a:t>
            </a:r>
          </a:p>
          <a:p>
            <a:pPr marL="285750" indent="-285750">
              <a:buFont typeface="Arial" panose="020B0604020202020204" pitchFamily="34" charset="0"/>
              <a:buChar char="•"/>
            </a:pPr>
            <a:r>
              <a:rPr lang="de-DE" dirty="0" err="1"/>
              <a:t>unsubscribe</a:t>
            </a:r>
            <a:r>
              <a:rPr lang="de-DE" dirty="0"/>
              <a:t>() → Lösen + SIM-Loop stoppen</a:t>
            </a:r>
          </a:p>
          <a:p>
            <a:pPr marL="285750" indent="-285750">
              <a:buFont typeface="Arial" panose="020B0604020202020204" pitchFamily="34" charset="0"/>
              <a:buChar char="•"/>
            </a:pPr>
            <a:r>
              <a:rPr lang="de-DE" dirty="0"/>
              <a:t>_</a:t>
            </a:r>
            <a:r>
              <a:rPr lang="de-DE" dirty="0" err="1"/>
              <a:t>on_event</a:t>
            </a:r>
            <a:r>
              <a:rPr lang="de-DE" dirty="0"/>
              <a:t>() → Reagiert auf PLAY / STOP</a:t>
            </a:r>
          </a:p>
          <a:p>
            <a:pPr marL="285750" indent="-285750">
              <a:buFont typeface="Arial" panose="020B0604020202020204" pitchFamily="34" charset="0"/>
              <a:buChar char="•"/>
            </a:pPr>
            <a:r>
              <a:rPr lang="de-DE" dirty="0"/>
              <a:t>_</a:t>
            </a:r>
            <a:r>
              <a:rPr lang="de-DE" dirty="0" err="1"/>
              <a:t>sim_loop</a:t>
            </a:r>
            <a:r>
              <a:rPr lang="de-DE" dirty="0"/>
              <a:t>() → 20Hz Loop: Deckel halten + Presse prüfen</a:t>
            </a:r>
          </a:p>
          <a:p>
            <a:pPr marL="285750" indent="-285750">
              <a:buFont typeface="Arial" panose="020B0604020202020204" pitchFamily="34" charset="0"/>
              <a:buChar char="•"/>
            </a:pPr>
            <a:r>
              <a:rPr lang="de-DE" dirty="0"/>
              <a:t>_</a:t>
            </a:r>
            <a:r>
              <a:rPr lang="de-DE" dirty="0" err="1"/>
              <a:t>reset_all_to_zero</a:t>
            </a:r>
            <a:r>
              <a:rPr lang="de-DE" dirty="0"/>
              <a:t>() → Setzt alle Werte/Anzeigen zurück</a:t>
            </a:r>
          </a:p>
          <a:p>
            <a:pPr marL="285750" indent="-285750">
              <a:buFont typeface="Arial" panose="020B0604020202020204" pitchFamily="34" charset="0"/>
              <a:buChar char="•"/>
            </a:pPr>
            <a:r>
              <a:rPr lang="de-DE" dirty="0"/>
              <a:t>Hält Greifer-Verhalten konsistent mit Timeline</a:t>
            </a:r>
          </a:p>
        </p:txBody>
      </p:sp>
    </p:spTree>
    <p:extLst>
      <p:ext uri="{BB962C8B-B14F-4D97-AF65-F5344CB8AC3E}">
        <p14:creationId xmlns:p14="http://schemas.microsoft.com/office/powerpoint/2010/main" val="1907457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5E523F-CAF1-4EB7-8790-F320F0CDFEE8}"/>
              </a:ext>
            </a:extLst>
          </p:cNvPr>
          <p:cNvSpPr>
            <a:spLocks noGrp="1"/>
          </p:cNvSpPr>
          <p:nvPr>
            <p:ph type="title"/>
          </p:nvPr>
        </p:nvSpPr>
        <p:spPr/>
        <p:txBody>
          <a:bodyPr/>
          <a:lstStyle/>
          <a:p>
            <a:r>
              <a:rPr lang="de-DE" dirty="0"/>
              <a:t>routines.py</a:t>
            </a:r>
          </a:p>
        </p:txBody>
      </p:sp>
      <p:sp>
        <p:nvSpPr>
          <p:cNvPr id="3" name="Foliennummernplatzhalter 2">
            <a:extLst>
              <a:ext uri="{FF2B5EF4-FFF2-40B4-BE49-F238E27FC236}">
                <a16:creationId xmlns:a16="http://schemas.microsoft.com/office/drawing/2014/main" id="{C7572368-5548-4FF6-BCC3-0E7D41ADEE9A}"/>
              </a:ext>
            </a:extLst>
          </p:cNvPr>
          <p:cNvSpPr>
            <a:spLocks noGrp="1"/>
          </p:cNvSpPr>
          <p:nvPr>
            <p:ph type="sldNum" sz="quarter" idx="10"/>
          </p:nvPr>
        </p:nvSpPr>
        <p:spPr/>
        <p:txBody>
          <a:bodyPr/>
          <a:lstStyle/>
          <a:p>
            <a:r>
              <a:rPr lang="de-DE"/>
              <a:t>Seite </a:t>
            </a:r>
            <a:fld id="{40192516-3A96-4AF1-ACCE-4FA25417AC18}" type="slidenum">
              <a:rPr lang="de-DE" smtClean="0"/>
              <a:pPr/>
              <a:t>31</a:t>
            </a:fld>
            <a:endParaRPr lang="de-DE"/>
          </a:p>
        </p:txBody>
      </p:sp>
      <p:sp>
        <p:nvSpPr>
          <p:cNvPr id="4" name="Textplatzhalter 3">
            <a:extLst>
              <a:ext uri="{FF2B5EF4-FFF2-40B4-BE49-F238E27FC236}">
                <a16:creationId xmlns:a16="http://schemas.microsoft.com/office/drawing/2014/main" id="{CC16D6A1-D0A4-4FB9-8C65-B3FB882E8F5E}"/>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start_gesamtprozess</a:t>
            </a:r>
            <a:r>
              <a:rPr lang="de-DE" dirty="0"/>
              <a:t>() → Startet Hauptablauf (UI-Button)</a:t>
            </a:r>
          </a:p>
          <a:p>
            <a:pPr marL="285750" indent="-285750">
              <a:buFont typeface="Arial" panose="020B0604020202020204" pitchFamily="34" charset="0"/>
              <a:buChar char="•"/>
            </a:pPr>
            <a:r>
              <a:rPr lang="de-DE" dirty="0"/>
              <a:t>_</a:t>
            </a:r>
            <a:r>
              <a:rPr lang="de-DE" dirty="0" err="1"/>
              <a:t>run_gesamtprozess</a:t>
            </a:r>
            <a:r>
              <a:rPr lang="de-DE" dirty="0"/>
              <a:t>() → 11 Phasen Choreografie</a:t>
            </a:r>
          </a:p>
          <a:p>
            <a:pPr marL="285750" indent="-285750">
              <a:buFont typeface="Arial" panose="020B0604020202020204" pitchFamily="34" charset="0"/>
              <a:buChar char="•"/>
            </a:pPr>
            <a:r>
              <a:rPr lang="de-DE" dirty="0"/>
              <a:t>_</a:t>
            </a:r>
            <a:r>
              <a:rPr lang="de-DE" dirty="0" err="1"/>
              <a:t>run_ba_start</a:t>
            </a:r>
            <a:r>
              <a:rPr lang="de-DE" dirty="0"/>
              <a:t>() → Schwenkarm-Sequenz (Pickup → Place)</a:t>
            </a:r>
          </a:p>
          <a:p>
            <a:pPr marL="285750" indent="-285750">
              <a:buFont typeface="Arial" panose="020B0604020202020204" pitchFamily="34" charset="0"/>
              <a:buChar char="•"/>
            </a:pPr>
            <a:r>
              <a:rPr lang="de-DE" dirty="0"/>
              <a:t>_</a:t>
            </a:r>
            <a:r>
              <a:rPr lang="de-DE" dirty="0" err="1"/>
              <a:t>step</a:t>
            </a:r>
            <a:r>
              <a:rPr lang="de-DE" dirty="0"/>
              <a:t>(</a:t>
            </a:r>
            <a:r>
              <a:rPr lang="de-DE" dirty="0" err="1"/>
              <a:t>description</a:t>
            </a:r>
            <a:r>
              <a:rPr lang="de-DE" dirty="0"/>
              <a:t>, </a:t>
            </a:r>
            <a:r>
              <a:rPr lang="de-DE" dirty="0" err="1"/>
              <a:t>delay</a:t>
            </a:r>
            <a:r>
              <a:rPr lang="de-DE" dirty="0"/>
              <a:t>) → Loggt + wartet</a:t>
            </a:r>
          </a:p>
          <a:p>
            <a:pPr marL="285750" indent="-285750">
              <a:buFont typeface="Arial" panose="020B0604020202020204" pitchFamily="34" charset="0"/>
              <a:buChar char="•"/>
            </a:pPr>
            <a:r>
              <a:rPr lang="de-DE" dirty="0"/>
              <a:t>_</a:t>
            </a:r>
            <a:r>
              <a:rPr lang="de-DE" dirty="0" err="1"/>
              <a:t>set</a:t>
            </a:r>
            <a:r>
              <a:rPr lang="de-DE" dirty="0"/>
              <a:t>(</a:t>
            </a:r>
            <a:r>
              <a:rPr lang="de-DE" dirty="0" err="1"/>
              <a:t>node_id</a:t>
            </a:r>
            <a:r>
              <a:rPr lang="de-DE" dirty="0"/>
              <a:t>, </a:t>
            </a:r>
            <a:r>
              <a:rPr lang="de-DE" dirty="0" err="1"/>
              <a:t>value</a:t>
            </a:r>
            <a:r>
              <a:rPr lang="de-DE" dirty="0"/>
              <a:t>) → Setzt </a:t>
            </a:r>
            <a:r>
              <a:rPr lang="de-DE" dirty="0" err="1"/>
              <a:t>Node</a:t>
            </a:r>
            <a:r>
              <a:rPr lang="de-DE" dirty="0"/>
              <a:t> (Sonderfall Sauggreifer)</a:t>
            </a:r>
          </a:p>
          <a:p>
            <a:pPr marL="285750" indent="-285750">
              <a:buFont typeface="Arial" panose="020B0604020202020204" pitchFamily="34" charset="0"/>
              <a:buChar char="•"/>
            </a:pPr>
            <a:r>
              <a:rPr lang="de-DE" dirty="0"/>
              <a:t>_</a:t>
            </a:r>
            <a:r>
              <a:rPr lang="de-DE" dirty="0" err="1"/>
              <a:t>impulse</a:t>
            </a:r>
            <a:r>
              <a:rPr lang="de-DE" dirty="0"/>
              <a:t>(</a:t>
            </a:r>
            <a:r>
              <a:rPr lang="de-DE" dirty="0" err="1"/>
              <a:t>node_id</a:t>
            </a:r>
            <a:r>
              <a:rPr lang="de-DE" dirty="0"/>
              <a:t>) → Triggert STEP-Impuls</a:t>
            </a:r>
          </a:p>
          <a:p>
            <a:pPr marL="285750" indent="-285750">
              <a:buFont typeface="Arial" panose="020B0604020202020204" pitchFamily="34" charset="0"/>
              <a:buChar char="•"/>
            </a:pPr>
            <a:r>
              <a:rPr lang="de-DE" dirty="0" err="1"/>
              <a:t>Race</a:t>
            </a:r>
            <a:r>
              <a:rPr lang="de-DE" dirty="0"/>
              <a:t>-Schutz: _</a:t>
            </a:r>
            <a:r>
              <a:rPr lang="de-DE" dirty="0" err="1"/>
              <a:t>gesamt_running</a:t>
            </a:r>
            <a:r>
              <a:rPr lang="de-DE" dirty="0"/>
              <a:t>, _</a:t>
            </a:r>
            <a:r>
              <a:rPr lang="de-DE" dirty="0" err="1"/>
              <a:t>ba_running</a:t>
            </a:r>
            <a:endParaRPr lang="de-DE" dirty="0"/>
          </a:p>
        </p:txBody>
      </p:sp>
    </p:spTree>
    <p:extLst>
      <p:ext uri="{BB962C8B-B14F-4D97-AF65-F5344CB8AC3E}">
        <p14:creationId xmlns:p14="http://schemas.microsoft.com/office/powerpoint/2010/main" val="3741358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448C65-4843-4A68-A36E-B7B4E0A00845}"/>
              </a:ext>
            </a:extLst>
          </p:cNvPr>
          <p:cNvSpPr>
            <a:spLocks noGrp="1"/>
          </p:cNvSpPr>
          <p:nvPr>
            <p:ph type="title"/>
          </p:nvPr>
        </p:nvSpPr>
        <p:spPr/>
        <p:txBody>
          <a:bodyPr/>
          <a:lstStyle/>
          <a:p>
            <a:r>
              <a:rPr lang="de-DE" dirty="0"/>
              <a:t>ui_builder.py</a:t>
            </a:r>
          </a:p>
        </p:txBody>
      </p:sp>
      <p:sp>
        <p:nvSpPr>
          <p:cNvPr id="3" name="Foliennummernplatzhalter 2">
            <a:extLst>
              <a:ext uri="{FF2B5EF4-FFF2-40B4-BE49-F238E27FC236}">
                <a16:creationId xmlns:a16="http://schemas.microsoft.com/office/drawing/2014/main" id="{0AF5C162-B905-43E2-AEC8-E8877C4324B9}"/>
              </a:ext>
            </a:extLst>
          </p:cNvPr>
          <p:cNvSpPr>
            <a:spLocks noGrp="1"/>
          </p:cNvSpPr>
          <p:nvPr>
            <p:ph type="sldNum" sz="quarter" idx="10"/>
          </p:nvPr>
        </p:nvSpPr>
        <p:spPr/>
        <p:txBody>
          <a:bodyPr/>
          <a:lstStyle/>
          <a:p>
            <a:r>
              <a:rPr lang="de-DE"/>
              <a:t>Seite </a:t>
            </a:r>
            <a:fld id="{40192516-3A96-4AF1-ACCE-4FA25417AC18}" type="slidenum">
              <a:rPr lang="de-DE" smtClean="0"/>
              <a:pPr/>
              <a:t>32</a:t>
            </a:fld>
            <a:endParaRPr lang="de-DE"/>
          </a:p>
        </p:txBody>
      </p:sp>
      <p:sp>
        <p:nvSpPr>
          <p:cNvPr id="4" name="Textplatzhalter 3">
            <a:extLst>
              <a:ext uri="{FF2B5EF4-FFF2-40B4-BE49-F238E27FC236}">
                <a16:creationId xmlns:a16="http://schemas.microsoft.com/office/drawing/2014/main" id="{B9524527-35A3-427D-BE7F-4A3F85F110DD}"/>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build</a:t>
            </a:r>
            <a:r>
              <a:rPr lang="de-DE" dirty="0"/>
              <a:t>(</a:t>
            </a:r>
            <a:r>
              <a:rPr lang="de-DE" dirty="0" err="1"/>
              <a:t>callbacks</a:t>
            </a:r>
            <a:r>
              <a:rPr lang="de-DE" dirty="0"/>
              <a:t>…) → Erzeugt Hauptfenster</a:t>
            </a:r>
          </a:p>
          <a:p>
            <a:pPr marL="285750" indent="-285750">
              <a:buFont typeface="Arial" panose="020B0604020202020204" pitchFamily="34" charset="0"/>
              <a:buChar char="•"/>
            </a:pPr>
            <a:r>
              <a:rPr lang="de-DE" dirty="0"/>
              <a:t>_</a:t>
            </a:r>
            <a:r>
              <a:rPr lang="de-DE" dirty="0" err="1"/>
              <a:t>build_header</a:t>
            </a:r>
            <a:r>
              <a:rPr lang="de-DE" dirty="0"/>
              <a:t>() → Titel + Statusanzeige</a:t>
            </a:r>
          </a:p>
          <a:p>
            <a:pPr marL="285750" indent="-285750">
              <a:buFont typeface="Arial" panose="020B0604020202020204" pitchFamily="34" charset="0"/>
              <a:buChar char="•"/>
            </a:pPr>
            <a:r>
              <a:rPr lang="de-DE" dirty="0"/>
              <a:t>_</a:t>
            </a:r>
            <a:r>
              <a:rPr lang="de-DE" dirty="0" err="1"/>
              <a:t>build_toolbar</a:t>
            </a:r>
            <a:r>
              <a:rPr lang="de-DE" dirty="0"/>
              <a:t>() → Refresh / Restart / SIM↔LIVE</a:t>
            </a:r>
          </a:p>
          <a:p>
            <a:pPr marL="285750" indent="-285750">
              <a:buFont typeface="Arial" panose="020B0604020202020204" pitchFamily="34" charset="0"/>
              <a:buChar char="•"/>
            </a:pPr>
            <a:r>
              <a:rPr lang="de-DE" dirty="0"/>
              <a:t>_</a:t>
            </a:r>
            <a:r>
              <a:rPr lang="de-DE" dirty="0" err="1"/>
              <a:t>build_column_headers</a:t>
            </a:r>
            <a:r>
              <a:rPr lang="de-DE" dirty="0"/>
              <a:t>() → Spaltenüberschriften</a:t>
            </a:r>
          </a:p>
          <a:p>
            <a:pPr marL="285750" indent="-285750">
              <a:buFont typeface="Arial" panose="020B0604020202020204" pitchFamily="34" charset="0"/>
              <a:buChar char="•"/>
            </a:pPr>
            <a:r>
              <a:rPr lang="de-DE" dirty="0"/>
              <a:t>_</a:t>
            </a:r>
            <a:r>
              <a:rPr lang="de-DE" dirty="0" err="1"/>
              <a:t>build_gesamt_button</a:t>
            </a:r>
            <a:r>
              <a:rPr lang="de-DE" dirty="0"/>
              <a:t>() → Großer Prozess-Start-Button</a:t>
            </a:r>
          </a:p>
          <a:p>
            <a:pPr marL="285750" indent="-285750">
              <a:buFont typeface="Arial" panose="020B0604020202020204" pitchFamily="34" charset="0"/>
              <a:buChar char="•"/>
            </a:pPr>
            <a:r>
              <a:rPr lang="de-DE" dirty="0"/>
              <a:t>_</a:t>
            </a:r>
            <a:r>
              <a:rPr lang="de-DE" dirty="0" err="1"/>
              <a:t>build_log_header</a:t>
            </a:r>
            <a:r>
              <a:rPr lang="de-DE" dirty="0"/>
              <a:t>() → Log-Bereich mit Clear-Button</a:t>
            </a:r>
          </a:p>
          <a:p>
            <a:pPr marL="285750" indent="-285750">
              <a:buFont typeface="Arial" panose="020B0604020202020204" pitchFamily="34" charset="0"/>
              <a:buChar char="•"/>
            </a:pPr>
            <a:r>
              <a:rPr lang="de-DE" dirty="0"/>
              <a:t>Liefert Referenzen für externen Logik-Controller</a:t>
            </a:r>
          </a:p>
        </p:txBody>
      </p:sp>
    </p:spTree>
    <p:extLst>
      <p:ext uri="{BB962C8B-B14F-4D97-AF65-F5344CB8AC3E}">
        <p14:creationId xmlns:p14="http://schemas.microsoft.com/office/powerpoint/2010/main" val="4285754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63945D-05E7-4871-8230-1E34A8B473A4}"/>
              </a:ext>
            </a:extLst>
          </p:cNvPr>
          <p:cNvSpPr>
            <a:spLocks noGrp="1"/>
          </p:cNvSpPr>
          <p:nvPr>
            <p:ph type="title"/>
          </p:nvPr>
        </p:nvSpPr>
        <p:spPr/>
        <p:txBody>
          <a:bodyPr/>
          <a:lstStyle/>
          <a:p>
            <a:r>
              <a:rPr lang="de-DE" dirty="0"/>
              <a:t>extension.py</a:t>
            </a:r>
          </a:p>
        </p:txBody>
      </p:sp>
      <p:sp>
        <p:nvSpPr>
          <p:cNvPr id="3" name="Foliennummernplatzhalter 2">
            <a:extLst>
              <a:ext uri="{FF2B5EF4-FFF2-40B4-BE49-F238E27FC236}">
                <a16:creationId xmlns:a16="http://schemas.microsoft.com/office/drawing/2014/main" id="{3A933072-0964-4C08-881D-22F6A35F52FF}"/>
              </a:ext>
            </a:extLst>
          </p:cNvPr>
          <p:cNvSpPr>
            <a:spLocks noGrp="1"/>
          </p:cNvSpPr>
          <p:nvPr>
            <p:ph type="sldNum" sz="quarter" idx="10"/>
          </p:nvPr>
        </p:nvSpPr>
        <p:spPr/>
        <p:txBody>
          <a:bodyPr/>
          <a:lstStyle/>
          <a:p>
            <a:r>
              <a:rPr lang="de-DE"/>
              <a:t>Seite </a:t>
            </a:r>
            <a:fld id="{40192516-3A96-4AF1-ACCE-4FA25417AC18}" type="slidenum">
              <a:rPr lang="de-DE" smtClean="0"/>
              <a:pPr/>
              <a:t>33</a:t>
            </a:fld>
            <a:endParaRPr lang="de-DE"/>
          </a:p>
        </p:txBody>
      </p:sp>
      <p:sp>
        <p:nvSpPr>
          <p:cNvPr id="4" name="Textplatzhalter 3">
            <a:extLst>
              <a:ext uri="{FF2B5EF4-FFF2-40B4-BE49-F238E27FC236}">
                <a16:creationId xmlns:a16="http://schemas.microsoft.com/office/drawing/2014/main" id="{780F5468-0B96-4575-A926-9E0275B066ED}"/>
              </a:ext>
            </a:extLst>
          </p:cNvPr>
          <p:cNvSpPr>
            <a:spLocks noGrp="1"/>
          </p:cNvSpPr>
          <p:nvPr>
            <p:ph type="body" sz="quarter" idx="11"/>
          </p:nvPr>
        </p:nvSpPr>
        <p:spPr>
          <a:xfrm>
            <a:off x="522288" y="2109788"/>
            <a:ext cx="6981598" cy="4559300"/>
          </a:xfrm>
        </p:spPr>
        <p:txBody>
          <a:bodyPr/>
          <a:lstStyle/>
          <a:p>
            <a:pPr marL="285750" indent="-285750">
              <a:buFont typeface="Arial" panose="020B0604020202020204" pitchFamily="34" charset="0"/>
              <a:buChar char="•"/>
            </a:pPr>
            <a:r>
              <a:rPr lang="de-DE" dirty="0" err="1"/>
              <a:t>on_startup</a:t>
            </a:r>
            <a:r>
              <a:rPr lang="de-DE" dirty="0"/>
              <a:t>(</a:t>
            </a:r>
            <a:r>
              <a:rPr lang="de-DE" dirty="0" err="1"/>
              <a:t>ext_id</a:t>
            </a:r>
            <a:r>
              <a:rPr lang="de-DE" dirty="0"/>
              <a:t>) → Initialisiert alle Komponenten</a:t>
            </a:r>
          </a:p>
          <a:p>
            <a:pPr marL="285750" indent="-285750">
              <a:buFont typeface="Arial" panose="020B0604020202020204" pitchFamily="34" charset="0"/>
              <a:buChar char="•"/>
            </a:pPr>
            <a:r>
              <a:rPr lang="de-DE" dirty="0" err="1"/>
              <a:t>on_shutdown</a:t>
            </a:r>
            <a:r>
              <a:rPr lang="de-DE" dirty="0"/>
              <a:t>() → Sauberes Aufräumen, Tasks killen</a:t>
            </a:r>
          </a:p>
          <a:p>
            <a:pPr marL="285750" indent="-285750">
              <a:buFont typeface="Arial" panose="020B0604020202020204" pitchFamily="34" charset="0"/>
              <a:buChar char="•"/>
            </a:pPr>
            <a:r>
              <a:rPr lang="de-DE" dirty="0"/>
              <a:t>_</a:t>
            </a:r>
            <a:r>
              <a:rPr lang="de-DE" dirty="0" err="1"/>
              <a:t>refresh_nodes</a:t>
            </a:r>
            <a:r>
              <a:rPr lang="de-DE" dirty="0"/>
              <a:t>() → Lädt JSON neu</a:t>
            </a:r>
          </a:p>
          <a:p>
            <a:pPr marL="285750" indent="-285750">
              <a:buFont typeface="Arial" panose="020B0604020202020204" pitchFamily="34" charset="0"/>
              <a:buChar char="•"/>
            </a:pPr>
            <a:r>
              <a:rPr lang="de-DE" dirty="0"/>
              <a:t>_</a:t>
            </a:r>
            <a:r>
              <a:rPr lang="de-DE" dirty="0" err="1"/>
              <a:t>restart_extension</a:t>
            </a:r>
            <a:r>
              <a:rPr lang="de-DE" dirty="0"/>
              <a:t>() → Extension neu starten</a:t>
            </a:r>
          </a:p>
          <a:p>
            <a:pPr marL="285750" indent="-285750">
              <a:buFont typeface="Arial" panose="020B0604020202020204" pitchFamily="34" charset="0"/>
              <a:buChar char="•"/>
            </a:pPr>
            <a:r>
              <a:rPr lang="de-DE" dirty="0"/>
              <a:t>_</a:t>
            </a:r>
            <a:r>
              <a:rPr lang="de-DE" dirty="0" err="1"/>
              <a:t>toggle_sim_mode</a:t>
            </a:r>
            <a:r>
              <a:rPr lang="de-DE" dirty="0"/>
              <a:t>() → Wechsel SIM ↔ LIVE</a:t>
            </a:r>
          </a:p>
          <a:p>
            <a:pPr marL="285750" indent="-285750">
              <a:buFont typeface="Arial" panose="020B0604020202020204" pitchFamily="34" charset="0"/>
              <a:buChar char="•"/>
            </a:pPr>
            <a:r>
              <a:rPr lang="de-DE" dirty="0"/>
              <a:t>_</a:t>
            </a:r>
            <a:r>
              <a:rPr lang="de-DE" dirty="0" err="1"/>
              <a:t>on_control_clicked</a:t>
            </a:r>
            <a:r>
              <a:rPr lang="de-DE" dirty="0"/>
              <a:t>(</a:t>
            </a:r>
            <a:r>
              <a:rPr lang="de-DE" dirty="0" err="1"/>
              <a:t>node_id</a:t>
            </a:r>
            <a:r>
              <a:rPr lang="de-DE" dirty="0"/>
              <a:t>) → Routet </a:t>
            </a:r>
            <a:r>
              <a:rPr lang="de-DE" dirty="0" err="1"/>
              <a:t>Toggle</a:t>
            </a:r>
            <a:r>
              <a:rPr lang="de-DE" dirty="0"/>
              <a:t>/</a:t>
            </a:r>
            <a:r>
              <a:rPr lang="de-DE" dirty="0" err="1"/>
              <a:t>Step</a:t>
            </a:r>
            <a:r>
              <a:rPr lang="de-DE" dirty="0"/>
              <a:t>/Velocity</a:t>
            </a:r>
          </a:p>
          <a:p>
            <a:pPr marL="285750" indent="-285750">
              <a:buFont typeface="Arial" panose="020B0604020202020204" pitchFamily="34" charset="0"/>
              <a:buChar char="•"/>
            </a:pPr>
            <a:r>
              <a:rPr lang="de-DE" dirty="0" err="1"/>
              <a:t>execute_step_impulse</a:t>
            </a:r>
            <a:r>
              <a:rPr lang="de-DE" dirty="0"/>
              <a:t>(</a:t>
            </a:r>
            <a:r>
              <a:rPr lang="de-DE" dirty="0" err="1"/>
              <a:t>node_id</a:t>
            </a:r>
            <a:r>
              <a:rPr lang="de-DE" dirty="0"/>
              <a:t>, </a:t>
            </a:r>
            <a:r>
              <a:rPr lang="de-DE" dirty="0" err="1"/>
              <a:t>node</a:t>
            </a:r>
            <a:r>
              <a:rPr lang="de-DE" dirty="0"/>
              <a:t>) → </a:t>
            </a:r>
            <a:r>
              <a:rPr lang="de-DE" dirty="0" err="1"/>
              <a:t>Step</a:t>
            </a:r>
            <a:r>
              <a:rPr lang="de-DE" dirty="0"/>
              <a:t>-Impuls ausführen</a:t>
            </a:r>
          </a:p>
          <a:p>
            <a:pPr marL="285750" indent="-285750">
              <a:buFont typeface="Arial" panose="020B0604020202020204" pitchFamily="34" charset="0"/>
              <a:buChar char="•"/>
            </a:pPr>
            <a:r>
              <a:rPr lang="de-DE" dirty="0"/>
              <a:t>_</a:t>
            </a:r>
            <a:r>
              <a:rPr lang="de-DE" dirty="0" err="1"/>
              <a:t>execute_velocity_impulse</a:t>
            </a:r>
            <a:r>
              <a:rPr lang="de-DE" dirty="0"/>
              <a:t>(</a:t>
            </a:r>
            <a:r>
              <a:rPr lang="de-DE" dirty="0" err="1"/>
              <a:t>node_id</a:t>
            </a:r>
            <a:r>
              <a:rPr lang="de-DE" dirty="0"/>
              <a:t>, </a:t>
            </a:r>
            <a:r>
              <a:rPr lang="de-DE" dirty="0" err="1"/>
              <a:t>node</a:t>
            </a:r>
            <a:r>
              <a:rPr lang="de-DE" dirty="0"/>
              <a:t>) → </a:t>
            </a:r>
            <a:r>
              <a:rPr lang="de-DE" dirty="0" err="1"/>
              <a:t>Async</a:t>
            </a:r>
            <a:r>
              <a:rPr lang="de-DE" dirty="0"/>
              <a:t> Velocity-Impuls</a:t>
            </a:r>
          </a:p>
          <a:p>
            <a:pPr marL="285750" indent="-285750">
              <a:buFont typeface="Arial" panose="020B0604020202020204" pitchFamily="34" charset="0"/>
              <a:buChar char="•"/>
            </a:pPr>
            <a:r>
              <a:rPr lang="de-DE" dirty="0"/>
              <a:t>_</a:t>
            </a:r>
            <a:r>
              <a:rPr lang="de-DE" dirty="0" err="1"/>
              <a:t>set_status_text</a:t>
            </a:r>
            <a:r>
              <a:rPr lang="de-DE" dirty="0"/>
              <a:t>(</a:t>
            </a:r>
            <a:r>
              <a:rPr lang="de-DE" dirty="0" err="1"/>
              <a:t>text</a:t>
            </a:r>
            <a:r>
              <a:rPr lang="de-DE" dirty="0"/>
              <a:t>, </a:t>
            </a:r>
            <a:r>
              <a:rPr lang="de-DE" dirty="0" err="1"/>
              <a:t>color</a:t>
            </a:r>
            <a:r>
              <a:rPr lang="de-DE" dirty="0"/>
              <a:t>) → Statusbar oben rechts</a:t>
            </a:r>
          </a:p>
          <a:p>
            <a:pPr marL="285750" indent="-285750">
              <a:buFont typeface="Arial" panose="020B0604020202020204" pitchFamily="34" charset="0"/>
              <a:buChar char="•"/>
            </a:pPr>
            <a:r>
              <a:rPr lang="de-DE" dirty="0"/>
              <a:t>Zentraler Controller, der alle Module verbindet</a:t>
            </a:r>
          </a:p>
        </p:txBody>
      </p:sp>
    </p:spTree>
    <p:extLst>
      <p:ext uri="{BB962C8B-B14F-4D97-AF65-F5344CB8AC3E}">
        <p14:creationId xmlns:p14="http://schemas.microsoft.com/office/powerpoint/2010/main" val="23615306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ECAFE8-4E61-4D6A-8826-3CB493D87BDE}"/>
              </a:ext>
            </a:extLst>
          </p:cNvPr>
          <p:cNvSpPr>
            <a:spLocks noGrp="1"/>
          </p:cNvSpPr>
          <p:nvPr>
            <p:ph type="title"/>
          </p:nvPr>
        </p:nvSpPr>
        <p:spPr/>
        <p:txBody>
          <a:bodyPr/>
          <a:lstStyle/>
          <a:p>
            <a:r>
              <a:rPr lang="de-DE" dirty="0" err="1"/>
              <a:t>Nodes_db.json</a:t>
            </a:r>
            <a:r>
              <a:rPr lang="de-DE" dirty="0"/>
              <a:t> </a:t>
            </a:r>
          </a:p>
        </p:txBody>
      </p:sp>
      <p:sp>
        <p:nvSpPr>
          <p:cNvPr id="3" name="Foliennummernplatzhalter 2">
            <a:extLst>
              <a:ext uri="{FF2B5EF4-FFF2-40B4-BE49-F238E27FC236}">
                <a16:creationId xmlns:a16="http://schemas.microsoft.com/office/drawing/2014/main" id="{923685E5-8595-4AED-9511-930FE00507DF}"/>
              </a:ext>
            </a:extLst>
          </p:cNvPr>
          <p:cNvSpPr>
            <a:spLocks noGrp="1"/>
          </p:cNvSpPr>
          <p:nvPr>
            <p:ph type="sldNum" sz="quarter" idx="10"/>
          </p:nvPr>
        </p:nvSpPr>
        <p:spPr/>
        <p:txBody>
          <a:bodyPr/>
          <a:lstStyle/>
          <a:p>
            <a:r>
              <a:rPr lang="de-DE"/>
              <a:t>Seite </a:t>
            </a:r>
            <a:fld id="{40192516-3A96-4AF1-ACCE-4FA25417AC18}" type="slidenum">
              <a:rPr lang="de-DE" smtClean="0"/>
              <a:pPr/>
              <a:t>34</a:t>
            </a:fld>
            <a:endParaRPr lang="de-DE"/>
          </a:p>
        </p:txBody>
      </p:sp>
      <p:sp>
        <p:nvSpPr>
          <p:cNvPr id="4" name="Textplatzhalter 3">
            <a:extLst>
              <a:ext uri="{FF2B5EF4-FFF2-40B4-BE49-F238E27FC236}">
                <a16:creationId xmlns:a16="http://schemas.microsoft.com/office/drawing/2014/main" id="{E8D05AEA-2262-48BE-896F-21308C4A91DF}"/>
              </a:ext>
            </a:extLst>
          </p:cNvPr>
          <p:cNvSpPr>
            <a:spLocks noGrp="1"/>
          </p:cNvSpPr>
          <p:nvPr>
            <p:ph type="body" sz="quarter" idx="11"/>
          </p:nvPr>
        </p:nvSpPr>
        <p:spPr/>
        <p:txBody>
          <a:bodyPr/>
          <a:lstStyle/>
          <a:p>
            <a:pPr marL="342900" indent="-342900">
              <a:buFont typeface="+mj-lt"/>
              <a:buAutoNum type="arabicPeriod" startAt="6"/>
            </a:pPr>
            <a:r>
              <a:rPr lang="de-DE" dirty="0"/>
              <a:t>Neben der </a:t>
            </a:r>
            <a:r>
              <a:rPr lang="de-DE" dirty="0" err="1"/>
              <a:t>extension.toml</a:t>
            </a:r>
            <a:r>
              <a:rPr lang="de-DE" dirty="0"/>
              <a:t> liegen unter dem Pfad </a:t>
            </a:r>
            <a:br>
              <a:rPr lang="de-DE" dirty="0"/>
            </a:br>
            <a:r>
              <a:rPr lang="de-DE" dirty="0" err="1"/>
              <a:t>omni</a:t>
            </a:r>
            <a:r>
              <a:rPr lang="de-DE" dirty="0"/>
              <a:t>\</a:t>
            </a:r>
            <a:r>
              <a:rPr lang="de-DE" dirty="0" err="1"/>
              <a:t>mazerunner</a:t>
            </a:r>
            <a:r>
              <a:rPr lang="de-DE" dirty="0"/>
              <a:t>\API die .</a:t>
            </a:r>
            <a:r>
              <a:rPr lang="de-DE" dirty="0" err="1"/>
              <a:t>py</a:t>
            </a:r>
            <a:r>
              <a:rPr lang="de-DE" dirty="0"/>
              <a:t> - Dateien der Extension</a:t>
            </a:r>
          </a:p>
          <a:p>
            <a:pPr marL="342900" indent="-342900">
              <a:buFont typeface="+mj-lt"/>
              <a:buAutoNum type="arabicPeriod" startAt="6"/>
            </a:pPr>
            <a:r>
              <a:rPr lang="de-DE" dirty="0"/>
              <a:t>In diesem Ordner befindet sich ebenfalls die Datei „</a:t>
            </a:r>
            <a:r>
              <a:rPr lang="de-DE" dirty="0" err="1"/>
              <a:t>Nodes_DB.json</a:t>
            </a:r>
            <a:r>
              <a:rPr lang="de-DE" dirty="0"/>
              <a:t>“</a:t>
            </a:r>
            <a:br>
              <a:rPr lang="de-DE" dirty="0"/>
            </a:br>
            <a:r>
              <a:rPr lang="de-DE" dirty="0"/>
              <a:t>Hier werden die Nodes aus </a:t>
            </a:r>
            <a:r>
              <a:rPr lang="de-DE" dirty="0" err="1"/>
              <a:t>DigitalTwinApp</a:t>
            </a:r>
            <a:r>
              <a:rPr lang="de-DE" dirty="0"/>
              <a:t> mit der Omniverse</a:t>
            </a:r>
            <a:br>
              <a:rPr lang="de-DE" dirty="0"/>
            </a:br>
            <a:r>
              <a:rPr lang="de-DE" dirty="0"/>
              <a:t>Szene verknüpft dabei gilt folgendes:</a:t>
            </a:r>
          </a:p>
          <a:p>
            <a:pPr marL="612775" lvl="1" indent="-342900">
              <a:buFont typeface="+mj-lt"/>
              <a:buAutoNum type="arabicPeriod"/>
            </a:pPr>
            <a:r>
              <a:rPr lang="de-DE" dirty="0"/>
              <a:t>„</a:t>
            </a:r>
            <a:r>
              <a:rPr lang="de-DE" dirty="0" err="1"/>
              <a:t>display_name</a:t>
            </a:r>
            <a:r>
              <a:rPr lang="de-DE" dirty="0"/>
              <a:t> „wird später im UI angezeigt</a:t>
            </a:r>
          </a:p>
          <a:p>
            <a:pPr marL="612775" lvl="1" indent="-342900">
              <a:buFont typeface="+mj-lt"/>
              <a:buAutoNum type="arabicPeriod"/>
            </a:pPr>
            <a:r>
              <a:rPr lang="de-DE" dirty="0"/>
              <a:t>„</a:t>
            </a:r>
            <a:r>
              <a:rPr lang="de-DE" dirty="0" err="1"/>
              <a:t>node_id</a:t>
            </a:r>
            <a:r>
              <a:rPr lang="de-DE" dirty="0"/>
              <a:t>“ muss mit </a:t>
            </a:r>
            <a:r>
              <a:rPr lang="de-DE" dirty="0" err="1"/>
              <a:t>DigitalTwinApp</a:t>
            </a:r>
            <a:r>
              <a:rPr lang="de-DE" dirty="0"/>
              <a:t> </a:t>
            </a:r>
            <a:br>
              <a:rPr lang="de-DE" dirty="0"/>
            </a:br>
            <a:r>
              <a:rPr lang="de-DE" dirty="0" err="1"/>
              <a:t>überinstimmen</a:t>
            </a:r>
            <a:endParaRPr lang="de-DE" dirty="0"/>
          </a:p>
          <a:p>
            <a:pPr marL="612775" lvl="1" indent="-342900">
              <a:buFont typeface="+mj-lt"/>
              <a:buAutoNum type="arabicPeriod"/>
            </a:pPr>
            <a:r>
              <a:rPr lang="de-DE" dirty="0"/>
              <a:t>„</a:t>
            </a:r>
            <a:r>
              <a:rPr lang="de-DE" dirty="0" err="1"/>
              <a:t>prim_path</a:t>
            </a:r>
            <a:r>
              <a:rPr lang="de-DE" dirty="0"/>
              <a:t>“ ist der Pfad zum Gelenk </a:t>
            </a:r>
            <a:br>
              <a:rPr lang="de-DE" dirty="0"/>
            </a:br>
            <a:r>
              <a:rPr lang="de-DE" dirty="0"/>
              <a:t>in Omniverse</a:t>
            </a:r>
          </a:p>
          <a:p>
            <a:pPr marL="612775" lvl="1" indent="-342900">
              <a:buFont typeface="+mj-lt"/>
              <a:buAutoNum type="arabicPeriod"/>
            </a:pPr>
            <a:r>
              <a:rPr lang="de-DE" dirty="0"/>
              <a:t>„</a:t>
            </a:r>
            <a:r>
              <a:rPr lang="de-DE" dirty="0" err="1"/>
              <a:t>attribute</a:t>
            </a:r>
            <a:r>
              <a:rPr lang="de-DE" dirty="0"/>
              <a:t>“ beschreibt den Zielparameter der </a:t>
            </a:r>
            <a:br>
              <a:rPr lang="de-DE" dirty="0"/>
            </a:br>
            <a:r>
              <a:rPr lang="de-DE" dirty="0"/>
              <a:t>manipuliert werden soll</a:t>
            </a:r>
          </a:p>
          <a:p>
            <a:pPr marL="612775" lvl="1" indent="-342900">
              <a:buFont typeface="+mj-lt"/>
              <a:buAutoNum type="arabicPeriod"/>
            </a:pPr>
            <a:r>
              <a:rPr lang="de-DE" dirty="0"/>
              <a:t>„</a:t>
            </a:r>
            <a:r>
              <a:rPr lang="de-DE" dirty="0" err="1"/>
              <a:t>target_value</a:t>
            </a:r>
            <a:r>
              <a:rPr lang="de-DE" dirty="0"/>
              <a:t>“ ist der Zielwert </a:t>
            </a:r>
            <a:br>
              <a:rPr lang="de-DE" dirty="0"/>
            </a:br>
            <a:r>
              <a:rPr lang="de-DE" dirty="0"/>
              <a:t> </a:t>
            </a:r>
          </a:p>
          <a:p>
            <a:pPr marL="612775" lvl="1" indent="-342900">
              <a:buFont typeface="+mj-lt"/>
              <a:buAutoNum type="arabicPeriod"/>
            </a:pPr>
            <a:endParaRPr lang="de-DE" dirty="0"/>
          </a:p>
        </p:txBody>
      </p:sp>
      <p:sp>
        <p:nvSpPr>
          <p:cNvPr id="5" name="Rechteck 4">
            <a:extLst>
              <a:ext uri="{FF2B5EF4-FFF2-40B4-BE49-F238E27FC236}">
                <a16:creationId xmlns:a16="http://schemas.microsoft.com/office/drawing/2014/main" id="{EF0E75DD-705A-4B3D-8D0D-0393DEA87E41}"/>
              </a:ext>
            </a:extLst>
          </p:cNvPr>
          <p:cNvSpPr/>
          <p:nvPr/>
        </p:nvSpPr>
        <p:spPr bwMode="auto">
          <a:xfrm>
            <a:off x="5601483" y="4219822"/>
            <a:ext cx="4569629" cy="2697710"/>
          </a:xfrm>
          <a:prstGeom prst="rect">
            <a:avLst/>
          </a:prstGeom>
          <a:solidFill>
            <a:schemeClr val="tx1">
              <a:lumMod val="75000"/>
              <a:lumOff val="25000"/>
            </a:scheme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algn="l"/>
            <a:r>
              <a:rPr lang="de-DE" dirty="0"/>
              <a:t>{</a:t>
            </a:r>
          </a:p>
          <a:p>
            <a:pPr algn="l"/>
            <a:r>
              <a:rPr lang="de-DE" dirty="0"/>
              <a:t>    "</a:t>
            </a:r>
            <a:r>
              <a:rPr lang="de-DE" dirty="0" err="1"/>
              <a:t>nodes</a:t>
            </a:r>
            <a:r>
              <a:rPr lang="de-DE" dirty="0"/>
              <a:t>": [</a:t>
            </a:r>
          </a:p>
          <a:p>
            <a:pPr algn="l"/>
            <a:r>
              <a:rPr lang="de-DE" dirty="0"/>
              <a:t>        {</a:t>
            </a:r>
          </a:p>
          <a:p>
            <a:pPr algn="l"/>
            <a:r>
              <a:rPr lang="de-DE" dirty="0"/>
              <a:t>            "</a:t>
            </a:r>
            <a:r>
              <a:rPr lang="de-DE" dirty="0" err="1"/>
              <a:t>display_name</a:t>
            </a:r>
            <a:r>
              <a:rPr lang="de-DE" dirty="0"/>
              <a:t>": „</a:t>
            </a:r>
            <a:r>
              <a:rPr lang="de-DE" dirty="0" err="1"/>
              <a:t>BM_MoveFront_Set</a:t>
            </a:r>
            <a:r>
              <a:rPr lang="de-DE" dirty="0"/>
              <a:t>",</a:t>
            </a:r>
          </a:p>
          <a:p>
            <a:pPr algn="l"/>
            <a:r>
              <a:rPr lang="de-DE" dirty="0"/>
              <a:t>            "</a:t>
            </a:r>
            <a:r>
              <a:rPr lang="de-DE" dirty="0" err="1"/>
              <a:t>node_id</a:t>
            </a:r>
            <a:r>
              <a:rPr lang="de-DE" dirty="0"/>
              <a:t>": " </a:t>
            </a:r>
            <a:r>
              <a:rPr lang="de-DE" dirty="0" err="1"/>
              <a:t>BM_MoveFront_Set</a:t>
            </a:r>
            <a:r>
              <a:rPr lang="de-DE" dirty="0"/>
              <a:t> ",</a:t>
            </a:r>
          </a:p>
          <a:p>
            <a:pPr algn="l"/>
            <a:r>
              <a:rPr lang="de-DE" dirty="0"/>
              <a:t>            "</a:t>
            </a:r>
            <a:r>
              <a:rPr lang="de-DE" dirty="0" err="1"/>
              <a:t>prim_path</a:t>
            </a:r>
            <a:r>
              <a:rPr lang="de-DE" dirty="0"/>
              <a:t>": "/World/Robot/</a:t>
            </a:r>
            <a:r>
              <a:rPr lang="de-DE" dirty="0" err="1"/>
              <a:t>Base_Joint</a:t>
            </a:r>
            <a:r>
              <a:rPr lang="de-DE" dirty="0"/>
              <a:t>",</a:t>
            </a:r>
          </a:p>
          <a:p>
            <a:pPr algn="l"/>
            <a:r>
              <a:rPr lang="de-DE" dirty="0"/>
              <a:t>            "</a:t>
            </a:r>
            <a:r>
              <a:rPr lang="de-DE" dirty="0" err="1"/>
              <a:t>attribute</a:t>
            </a:r>
            <a:r>
              <a:rPr lang="de-DE" dirty="0"/>
              <a:t>": "</a:t>
            </a:r>
            <a:r>
              <a:rPr lang="de-DE" dirty="0" err="1"/>
              <a:t>drive:angular:physics:targetPosition</a:t>
            </a:r>
            <a:r>
              <a:rPr lang="de-DE" dirty="0"/>
              <a:t>",</a:t>
            </a:r>
          </a:p>
          <a:p>
            <a:pPr algn="l"/>
            <a:r>
              <a:rPr lang="de-DE" dirty="0"/>
              <a:t>            "</a:t>
            </a:r>
            <a:r>
              <a:rPr lang="de-DE" dirty="0" err="1"/>
              <a:t>target_value</a:t>
            </a:r>
            <a:r>
              <a:rPr lang="de-DE" dirty="0"/>
              <a:t>": 90.0</a:t>
            </a:r>
          </a:p>
          <a:p>
            <a:pPr algn="l"/>
            <a:r>
              <a:rPr lang="de-DE" dirty="0"/>
              <a:t>        }]}</a:t>
            </a:r>
          </a:p>
        </p:txBody>
      </p:sp>
      <p:pic>
        <p:nvPicPr>
          <p:cNvPr id="6" name="Grafik 5">
            <a:extLst>
              <a:ext uri="{FF2B5EF4-FFF2-40B4-BE49-F238E27FC236}">
                <a16:creationId xmlns:a16="http://schemas.microsoft.com/office/drawing/2014/main" id="{23D53413-955F-4592-9E21-E11FF05C4B62}"/>
              </a:ext>
            </a:extLst>
          </p:cNvPr>
          <p:cNvPicPr>
            <a:picLocks noChangeAspect="1"/>
          </p:cNvPicPr>
          <p:nvPr/>
        </p:nvPicPr>
        <p:blipFill>
          <a:blip r:embed="rId2"/>
          <a:stretch>
            <a:fillRect/>
          </a:stretch>
        </p:blipFill>
        <p:spPr>
          <a:xfrm>
            <a:off x="7605747" y="1146175"/>
            <a:ext cx="2565365" cy="3020717"/>
          </a:xfrm>
          <a:prstGeom prst="rect">
            <a:avLst/>
          </a:prstGeom>
        </p:spPr>
      </p:pic>
    </p:spTree>
    <p:extLst>
      <p:ext uri="{BB962C8B-B14F-4D97-AF65-F5344CB8AC3E}">
        <p14:creationId xmlns:p14="http://schemas.microsoft.com/office/powerpoint/2010/main" val="17974320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C3CF7328-618D-4161-8F29-2D2C10F801F1}"/>
              </a:ext>
            </a:extLst>
          </p:cNvPr>
          <p:cNvSpPr/>
          <p:nvPr/>
        </p:nvSpPr>
        <p:spPr bwMode="auto">
          <a:xfrm>
            <a:off x="8793271" y="5235879"/>
            <a:ext cx="1803748" cy="1791222"/>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2" name="Titel 1">
            <a:extLst>
              <a:ext uri="{FF2B5EF4-FFF2-40B4-BE49-F238E27FC236}">
                <a16:creationId xmlns:a16="http://schemas.microsoft.com/office/drawing/2014/main" id="{F55D281B-D082-40C3-9F2F-F38A9BC8A4C5}"/>
              </a:ext>
            </a:extLst>
          </p:cNvPr>
          <p:cNvSpPr>
            <a:spLocks noGrp="1"/>
          </p:cNvSpPr>
          <p:nvPr>
            <p:ph type="title"/>
          </p:nvPr>
        </p:nvSpPr>
        <p:spPr/>
        <p:txBody>
          <a:bodyPr/>
          <a:lstStyle/>
          <a:p>
            <a:r>
              <a:rPr lang="de-DE" dirty="0"/>
              <a:t>Skript Editor</a:t>
            </a:r>
          </a:p>
        </p:txBody>
      </p:sp>
      <p:sp>
        <p:nvSpPr>
          <p:cNvPr id="3" name="Foliennummernplatzhalter 2">
            <a:extLst>
              <a:ext uri="{FF2B5EF4-FFF2-40B4-BE49-F238E27FC236}">
                <a16:creationId xmlns:a16="http://schemas.microsoft.com/office/drawing/2014/main" id="{221FF2CD-8B21-4942-A773-67296558DF35}"/>
              </a:ext>
            </a:extLst>
          </p:cNvPr>
          <p:cNvSpPr>
            <a:spLocks noGrp="1"/>
          </p:cNvSpPr>
          <p:nvPr>
            <p:ph type="sldNum" sz="quarter" idx="10"/>
          </p:nvPr>
        </p:nvSpPr>
        <p:spPr/>
        <p:txBody>
          <a:bodyPr/>
          <a:lstStyle/>
          <a:p>
            <a:r>
              <a:rPr lang="de-DE"/>
              <a:t>Seite </a:t>
            </a:r>
            <a:fld id="{40192516-3A96-4AF1-ACCE-4FA25417AC18}" type="slidenum">
              <a:rPr lang="de-DE" smtClean="0"/>
              <a:pPr/>
              <a:t>35</a:t>
            </a:fld>
            <a:endParaRPr lang="de-DE"/>
          </a:p>
        </p:txBody>
      </p:sp>
      <p:sp>
        <p:nvSpPr>
          <p:cNvPr id="4" name="Textplatzhalter 3">
            <a:extLst>
              <a:ext uri="{FF2B5EF4-FFF2-40B4-BE49-F238E27FC236}">
                <a16:creationId xmlns:a16="http://schemas.microsoft.com/office/drawing/2014/main" id="{EB6222FA-7B88-48C9-B34F-700449824DA3}"/>
              </a:ext>
            </a:extLst>
          </p:cNvPr>
          <p:cNvSpPr>
            <a:spLocks noGrp="1"/>
          </p:cNvSpPr>
          <p:nvPr>
            <p:ph type="body" sz="quarter" idx="11"/>
          </p:nvPr>
        </p:nvSpPr>
        <p:spPr>
          <a:xfrm>
            <a:off x="568632" y="1702257"/>
            <a:ext cx="4609198" cy="4559300"/>
          </a:xfrm>
        </p:spPr>
        <p:txBody>
          <a:bodyPr/>
          <a:lstStyle/>
          <a:p>
            <a:pPr marL="342900" indent="-342900">
              <a:buFont typeface="+mj-lt"/>
              <a:buAutoNum type="arabicPeriod"/>
            </a:pPr>
            <a:r>
              <a:rPr lang="de-DE" dirty="0"/>
              <a:t>Der Skript Editor befindet sich unter </a:t>
            </a:r>
            <a:r>
              <a:rPr lang="de-DE" dirty="0" err="1"/>
              <a:t>Window</a:t>
            </a:r>
            <a:r>
              <a:rPr lang="de-DE" dirty="0"/>
              <a:t> </a:t>
            </a:r>
            <a:r>
              <a:rPr lang="de-DE" dirty="0">
                <a:sym typeface="Wingdings" panose="05000000000000000000" pitchFamily="2" charset="2"/>
              </a:rPr>
              <a:t> Skript Editor</a:t>
            </a:r>
          </a:p>
          <a:p>
            <a:pPr marL="342900" indent="-342900">
              <a:buFont typeface="+mj-lt"/>
              <a:buAutoNum type="arabicPeriod"/>
            </a:pPr>
            <a:r>
              <a:rPr lang="de-DE" dirty="0"/>
              <a:t>Der Code wird in das Schwarze Fenster geschrieben und mit Enter ausgeführt.</a:t>
            </a:r>
          </a:p>
          <a:p>
            <a:pPr marL="342900" indent="-342900">
              <a:buFont typeface="+mj-lt"/>
              <a:buAutoNum type="arabicPeriod"/>
            </a:pPr>
            <a:r>
              <a:rPr lang="de-DE" dirty="0"/>
              <a:t>Zur Demonstration wurde hier ein Würfel mit dem Namen „Hello World“ durch den Skript Editor erstellt</a:t>
            </a:r>
          </a:p>
          <a:p>
            <a:pPr marL="342900" indent="-342900">
              <a:buFont typeface="+mj-lt"/>
              <a:buAutoNum type="arabicPeriod"/>
            </a:pPr>
            <a:endParaRPr lang="de-DE" dirty="0"/>
          </a:p>
          <a:p>
            <a:endParaRPr lang="de-DE" dirty="0"/>
          </a:p>
        </p:txBody>
      </p:sp>
      <p:pic>
        <p:nvPicPr>
          <p:cNvPr id="5" name="Grafik 4">
            <a:extLst>
              <a:ext uri="{FF2B5EF4-FFF2-40B4-BE49-F238E27FC236}">
                <a16:creationId xmlns:a16="http://schemas.microsoft.com/office/drawing/2014/main" id="{6C33AA7A-54A6-493B-8117-D66AE68964B1}"/>
              </a:ext>
            </a:extLst>
          </p:cNvPr>
          <p:cNvPicPr>
            <a:picLocks noChangeAspect="1"/>
          </p:cNvPicPr>
          <p:nvPr/>
        </p:nvPicPr>
        <p:blipFill>
          <a:blip r:embed="rId2"/>
          <a:stretch>
            <a:fillRect/>
          </a:stretch>
        </p:blipFill>
        <p:spPr>
          <a:xfrm>
            <a:off x="5346700" y="1702257"/>
            <a:ext cx="5183930" cy="4032456"/>
          </a:xfrm>
          <a:prstGeom prst="rect">
            <a:avLst/>
          </a:prstGeom>
        </p:spPr>
      </p:pic>
      <p:sp>
        <p:nvSpPr>
          <p:cNvPr id="8" name="Rechteck 7">
            <a:extLst>
              <a:ext uri="{FF2B5EF4-FFF2-40B4-BE49-F238E27FC236}">
                <a16:creationId xmlns:a16="http://schemas.microsoft.com/office/drawing/2014/main" id="{84AE25DD-EE67-41EF-B21E-40C6EB0EB01D}"/>
              </a:ext>
            </a:extLst>
          </p:cNvPr>
          <p:cNvSpPr/>
          <p:nvPr/>
        </p:nvSpPr>
        <p:spPr bwMode="auto">
          <a:xfrm>
            <a:off x="5346701" y="1702257"/>
            <a:ext cx="315064" cy="12588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9" name="Rechteck 8">
            <a:extLst>
              <a:ext uri="{FF2B5EF4-FFF2-40B4-BE49-F238E27FC236}">
                <a16:creationId xmlns:a16="http://schemas.microsoft.com/office/drawing/2014/main" id="{EF9FDF41-8BBF-482A-91AD-89365143A134}"/>
              </a:ext>
            </a:extLst>
          </p:cNvPr>
          <p:cNvSpPr/>
          <p:nvPr/>
        </p:nvSpPr>
        <p:spPr bwMode="auto">
          <a:xfrm>
            <a:off x="5392628" y="3996608"/>
            <a:ext cx="576023" cy="12588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0" name="Rechteck 9">
            <a:extLst>
              <a:ext uri="{FF2B5EF4-FFF2-40B4-BE49-F238E27FC236}">
                <a16:creationId xmlns:a16="http://schemas.microsoft.com/office/drawing/2014/main" id="{B13BA8AC-64F5-4355-B61D-FE38DE385462}"/>
              </a:ext>
            </a:extLst>
          </p:cNvPr>
          <p:cNvSpPr/>
          <p:nvPr/>
        </p:nvSpPr>
        <p:spPr bwMode="auto">
          <a:xfrm>
            <a:off x="7907349" y="5499730"/>
            <a:ext cx="635401" cy="187085"/>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Tree>
    <p:extLst>
      <p:ext uri="{BB962C8B-B14F-4D97-AF65-F5344CB8AC3E}">
        <p14:creationId xmlns:p14="http://schemas.microsoft.com/office/powerpoint/2010/main" val="22233907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218B83-6780-A1A7-64DC-9C79D1C50AE4}"/>
              </a:ext>
            </a:extLst>
          </p:cNvPr>
          <p:cNvSpPr>
            <a:spLocks noGrp="1"/>
          </p:cNvSpPr>
          <p:nvPr>
            <p:ph type="title"/>
          </p:nvPr>
        </p:nvSpPr>
        <p:spPr/>
        <p:txBody>
          <a:bodyPr/>
          <a:lstStyle/>
          <a:p>
            <a:r>
              <a:rPr lang="de-DE" dirty="0"/>
              <a:t>Extension Vorbereiten</a:t>
            </a:r>
          </a:p>
        </p:txBody>
      </p:sp>
      <p:sp>
        <p:nvSpPr>
          <p:cNvPr id="3" name="Foliennummernplatzhalter 2">
            <a:extLst>
              <a:ext uri="{FF2B5EF4-FFF2-40B4-BE49-F238E27FC236}">
                <a16:creationId xmlns:a16="http://schemas.microsoft.com/office/drawing/2014/main" id="{CA56B7C4-EFA2-D8DB-5A44-E91810679E72}"/>
              </a:ext>
            </a:extLst>
          </p:cNvPr>
          <p:cNvSpPr>
            <a:spLocks noGrp="1"/>
          </p:cNvSpPr>
          <p:nvPr>
            <p:ph type="sldNum" sz="quarter" idx="10"/>
          </p:nvPr>
        </p:nvSpPr>
        <p:spPr/>
        <p:txBody>
          <a:bodyPr/>
          <a:lstStyle/>
          <a:p>
            <a:r>
              <a:rPr lang="de-DE"/>
              <a:t>Seite </a:t>
            </a:r>
            <a:fld id="{40192516-3A96-4AF1-ACCE-4FA25417AC18}" type="slidenum">
              <a:rPr lang="de-DE" smtClean="0"/>
              <a:pPr/>
              <a:t>36</a:t>
            </a:fld>
            <a:endParaRPr lang="de-DE"/>
          </a:p>
        </p:txBody>
      </p:sp>
      <p:sp>
        <p:nvSpPr>
          <p:cNvPr id="4" name="Textplatzhalter 3">
            <a:extLst>
              <a:ext uri="{FF2B5EF4-FFF2-40B4-BE49-F238E27FC236}">
                <a16:creationId xmlns:a16="http://schemas.microsoft.com/office/drawing/2014/main" id="{32A41052-DBC4-CED0-B6B4-06DD025BCA93}"/>
              </a:ext>
            </a:extLst>
          </p:cNvPr>
          <p:cNvSpPr>
            <a:spLocks noGrp="1"/>
          </p:cNvSpPr>
          <p:nvPr>
            <p:ph type="body" sz="quarter" idx="11"/>
          </p:nvPr>
        </p:nvSpPr>
        <p:spPr>
          <a:xfrm>
            <a:off x="522288" y="2109788"/>
            <a:ext cx="9830752" cy="4559300"/>
          </a:xfrm>
        </p:spPr>
        <p:txBody>
          <a:bodyPr/>
          <a:lstStyle/>
          <a:p>
            <a:pPr marL="342900" indent="-342900">
              <a:buFont typeface="+mj-lt"/>
              <a:buAutoNum type="arabicPeriod"/>
            </a:pPr>
            <a:r>
              <a:rPr lang="de-DE" dirty="0"/>
              <a:t>Ordner für alle Omniverse Extension an beliebigem Ort auf dem PC anlegen</a:t>
            </a:r>
          </a:p>
          <a:p>
            <a:pPr marL="342900" indent="-342900">
              <a:buFont typeface="+mj-lt"/>
              <a:buAutoNum type="arabicPeriod"/>
            </a:pPr>
            <a:r>
              <a:rPr lang="de-DE" dirty="0"/>
              <a:t>In diesem Ordner, einen weiteren Ordner für die </a:t>
            </a:r>
            <a:r>
              <a:rPr lang="de-DE" dirty="0" err="1"/>
              <a:t>Mazerunner</a:t>
            </a:r>
            <a:r>
              <a:rPr lang="de-DE" dirty="0"/>
              <a:t> Extension anlegen</a:t>
            </a:r>
          </a:p>
          <a:p>
            <a:pPr marL="342900" indent="-342900">
              <a:buFont typeface="+mj-lt"/>
              <a:buAutoNum type="arabicPeriod"/>
            </a:pPr>
            <a:r>
              <a:rPr lang="de-DE" dirty="0"/>
              <a:t>In diesem Ordner die ZIP-Datei des </a:t>
            </a:r>
            <a:r>
              <a:rPr lang="de-DE" dirty="0" err="1"/>
              <a:t>Github</a:t>
            </a:r>
            <a:r>
              <a:rPr lang="de-DE" dirty="0"/>
              <a:t>-Verzeichnisses ablegen und entpacken</a:t>
            </a:r>
          </a:p>
          <a:p>
            <a:pPr marL="342900" indent="-342900">
              <a:buFont typeface="+mj-lt"/>
              <a:buAutoNum type="arabicPeriod"/>
            </a:pPr>
            <a:r>
              <a:rPr lang="de-DE" dirty="0"/>
              <a:t>Die Datei </a:t>
            </a:r>
            <a:r>
              <a:rPr lang="de-DE" dirty="0" err="1"/>
              <a:t>extension.toml</a:t>
            </a:r>
            <a:r>
              <a:rPr lang="de-DE" dirty="0"/>
              <a:t> im </a:t>
            </a:r>
            <a:r>
              <a:rPr lang="de-DE" dirty="0" err="1"/>
              <a:t>Github</a:t>
            </a:r>
            <a:r>
              <a:rPr lang="de-DE" dirty="0"/>
              <a:t>-Verzeichnis Ordner suchen und neben diesem ablegen wie hier gezeigt:</a:t>
            </a:r>
          </a:p>
        </p:txBody>
      </p:sp>
      <p:pic>
        <p:nvPicPr>
          <p:cNvPr id="7" name="Grafik 6">
            <a:extLst>
              <a:ext uri="{FF2B5EF4-FFF2-40B4-BE49-F238E27FC236}">
                <a16:creationId xmlns:a16="http://schemas.microsoft.com/office/drawing/2014/main" id="{1986E1D9-8353-73AE-3711-EC6484F96EED}"/>
              </a:ext>
            </a:extLst>
          </p:cNvPr>
          <p:cNvPicPr>
            <a:picLocks noChangeAspect="1"/>
          </p:cNvPicPr>
          <p:nvPr/>
        </p:nvPicPr>
        <p:blipFill>
          <a:blip r:embed="rId2"/>
          <a:stretch>
            <a:fillRect/>
          </a:stretch>
        </p:blipFill>
        <p:spPr>
          <a:xfrm>
            <a:off x="1871799" y="4055421"/>
            <a:ext cx="6820491" cy="2149026"/>
          </a:xfrm>
          <a:prstGeom prst="rect">
            <a:avLst/>
          </a:prstGeom>
        </p:spPr>
      </p:pic>
    </p:spTree>
    <p:extLst>
      <p:ext uri="{BB962C8B-B14F-4D97-AF65-F5344CB8AC3E}">
        <p14:creationId xmlns:p14="http://schemas.microsoft.com/office/powerpoint/2010/main" val="666361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59E2E1-5005-457D-A918-9A1BB545D388}"/>
              </a:ext>
            </a:extLst>
          </p:cNvPr>
          <p:cNvSpPr>
            <a:spLocks noGrp="1"/>
          </p:cNvSpPr>
          <p:nvPr>
            <p:ph type="title"/>
          </p:nvPr>
        </p:nvSpPr>
        <p:spPr/>
        <p:txBody>
          <a:bodyPr/>
          <a:lstStyle/>
          <a:p>
            <a:r>
              <a:rPr lang="de-DE" dirty="0"/>
              <a:t>Extension aktivieren</a:t>
            </a:r>
          </a:p>
        </p:txBody>
      </p:sp>
      <p:sp>
        <p:nvSpPr>
          <p:cNvPr id="3" name="Foliennummernplatzhalter 2">
            <a:extLst>
              <a:ext uri="{FF2B5EF4-FFF2-40B4-BE49-F238E27FC236}">
                <a16:creationId xmlns:a16="http://schemas.microsoft.com/office/drawing/2014/main" id="{FD26E72F-C605-4BD0-AF12-DA79D241D395}"/>
              </a:ext>
            </a:extLst>
          </p:cNvPr>
          <p:cNvSpPr>
            <a:spLocks noGrp="1"/>
          </p:cNvSpPr>
          <p:nvPr>
            <p:ph type="sldNum" sz="quarter" idx="10"/>
          </p:nvPr>
        </p:nvSpPr>
        <p:spPr/>
        <p:txBody>
          <a:bodyPr/>
          <a:lstStyle/>
          <a:p>
            <a:r>
              <a:rPr lang="de-DE"/>
              <a:t>Seite </a:t>
            </a:r>
            <a:fld id="{40192516-3A96-4AF1-ACCE-4FA25417AC18}" type="slidenum">
              <a:rPr lang="de-DE" smtClean="0"/>
              <a:pPr/>
              <a:t>37</a:t>
            </a:fld>
            <a:endParaRPr lang="de-DE"/>
          </a:p>
        </p:txBody>
      </p:sp>
      <p:grpSp>
        <p:nvGrpSpPr>
          <p:cNvPr id="8" name="Gruppieren 7">
            <a:extLst>
              <a:ext uri="{FF2B5EF4-FFF2-40B4-BE49-F238E27FC236}">
                <a16:creationId xmlns:a16="http://schemas.microsoft.com/office/drawing/2014/main" id="{55D533FD-1FCE-49A4-8606-69829B8AF90F}"/>
              </a:ext>
            </a:extLst>
          </p:cNvPr>
          <p:cNvGrpSpPr/>
          <p:nvPr/>
        </p:nvGrpSpPr>
        <p:grpSpPr>
          <a:xfrm>
            <a:off x="108157" y="3597966"/>
            <a:ext cx="1525172" cy="3293371"/>
            <a:chOff x="8103772" y="1673294"/>
            <a:chExt cx="2067340" cy="5218043"/>
          </a:xfrm>
        </p:grpSpPr>
        <p:pic>
          <p:nvPicPr>
            <p:cNvPr id="5" name="Grafik 4">
              <a:extLst>
                <a:ext uri="{FF2B5EF4-FFF2-40B4-BE49-F238E27FC236}">
                  <a16:creationId xmlns:a16="http://schemas.microsoft.com/office/drawing/2014/main" id="{EF909922-5F4A-4B1C-B88D-529BCAA39028}"/>
                </a:ext>
              </a:extLst>
            </p:cNvPr>
            <p:cNvPicPr>
              <a:picLocks noChangeAspect="1"/>
            </p:cNvPicPr>
            <p:nvPr/>
          </p:nvPicPr>
          <p:blipFill rotWithShape="1">
            <a:blip r:embed="rId2"/>
            <a:srcRect l="9323" t="1861" r="8574" b="2256"/>
            <a:stretch/>
          </p:blipFill>
          <p:spPr>
            <a:xfrm>
              <a:off x="8103772" y="1673294"/>
              <a:ext cx="2067340" cy="5218043"/>
            </a:xfrm>
            <a:prstGeom prst="rect">
              <a:avLst/>
            </a:prstGeom>
          </p:spPr>
        </p:pic>
        <p:sp>
          <p:nvSpPr>
            <p:cNvPr id="6" name="Rechteck 5">
              <a:extLst>
                <a:ext uri="{FF2B5EF4-FFF2-40B4-BE49-F238E27FC236}">
                  <a16:creationId xmlns:a16="http://schemas.microsoft.com/office/drawing/2014/main" id="{3379F660-C0BA-44D5-A33A-739F84E2E57B}"/>
                </a:ext>
              </a:extLst>
            </p:cNvPr>
            <p:cNvSpPr/>
            <p:nvPr/>
          </p:nvSpPr>
          <p:spPr bwMode="auto">
            <a:xfrm>
              <a:off x="8103773" y="1715761"/>
              <a:ext cx="443880" cy="171778"/>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7" name="Rechteck 6">
              <a:extLst>
                <a:ext uri="{FF2B5EF4-FFF2-40B4-BE49-F238E27FC236}">
                  <a16:creationId xmlns:a16="http://schemas.microsoft.com/office/drawing/2014/main" id="{B39ED144-BB6A-4800-BDDB-B27E55EE8314}"/>
                </a:ext>
              </a:extLst>
            </p:cNvPr>
            <p:cNvSpPr/>
            <p:nvPr/>
          </p:nvSpPr>
          <p:spPr bwMode="auto">
            <a:xfrm>
              <a:off x="8202229" y="6685558"/>
              <a:ext cx="1312589" cy="149552"/>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grpSp>
      <p:grpSp>
        <p:nvGrpSpPr>
          <p:cNvPr id="12" name="Gruppieren 11">
            <a:extLst>
              <a:ext uri="{FF2B5EF4-FFF2-40B4-BE49-F238E27FC236}">
                <a16:creationId xmlns:a16="http://schemas.microsoft.com/office/drawing/2014/main" id="{1F126B2A-7BF6-406F-B418-7CE353E422EF}"/>
              </a:ext>
            </a:extLst>
          </p:cNvPr>
          <p:cNvGrpSpPr/>
          <p:nvPr/>
        </p:nvGrpSpPr>
        <p:grpSpPr>
          <a:xfrm>
            <a:off x="1694865" y="5194261"/>
            <a:ext cx="4454555" cy="1661588"/>
            <a:chOff x="2164906" y="4818725"/>
            <a:chExt cx="6363588" cy="2172003"/>
          </a:xfrm>
        </p:grpSpPr>
        <p:pic>
          <p:nvPicPr>
            <p:cNvPr id="9" name="Grafik 8">
              <a:extLst>
                <a:ext uri="{FF2B5EF4-FFF2-40B4-BE49-F238E27FC236}">
                  <a16:creationId xmlns:a16="http://schemas.microsoft.com/office/drawing/2014/main" id="{BBA18D94-7371-4822-BD9E-8F6798401721}"/>
                </a:ext>
              </a:extLst>
            </p:cNvPr>
            <p:cNvPicPr>
              <a:picLocks noChangeAspect="1"/>
            </p:cNvPicPr>
            <p:nvPr/>
          </p:nvPicPr>
          <p:blipFill>
            <a:blip r:embed="rId3"/>
            <a:stretch>
              <a:fillRect/>
            </a:stretch>
          </p:blipFill>
          <p:spPr>
            <a:xfrm>
              <a:off x="2164906" y="4818725"/>
              <a:ext cx="6363588" cy="2172003"/>
            </a:xfrm>
            <a:prstGeom prst="rect">
              <a:avLst/>
            </a:prstGeom>
          </p:spPr>
        </p:pic>
        <p:sp>
          <p:nvSpPr>
            <p:cNvPr id="10" name="Rechteck 9">
              <a:extLst>
                <a:ext uri="{FF2B5EF4-FFF2-40B4-BE49-F238E27FC236}">
                  <a16:creationId xmlns:a16="http://schemas.microsoft.com/office/drawing/2014/main" id="{93111B4C-E3FE-4F97-AFC3-C87BD834DC91}"/>
                </a:ext>
              </a:extLst>
            </p:cNvPr>
            <p:cNvSpPr/>
            <p:nvPr/>
          </p:nvSpPr>
          <p:spPr bwMode="auto">
            <a:xfrm>
              <a:off x="6578533" y="5089133"/>
              <a:ext cx="299345" cy="317753"/>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1" name="Rechteck 10">
              <a:extLst>
                <a:ext uri="{FF2B5EF4-FFF2-40B4-BE49-F238E27FC236}">
                  <a16:creationId xmlns:a16="http://schemas.microsoft.com/office/drawing/2014/main" id="{3DC996EB-C580-445B-9A98-57D8FCBA9534}"/>
                </a:ext>
              </a:extLst>
            </p:cNvPr>
            <p:cNvSpPr/>
            <p:nvPr/>
          </p:nvSpPr>
          <p:spPr bwMode="auto">
            <a:xfrm>
              <a:off x="6902691" y="5655364"/>
              <a:ext cx="670926" cy="23854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grpSp>
      <p:pic>
        <p:nvPicPr>
          <p:cNvPr id="13" name="Grafik 12">
            <a:extLst>
              <a:ext uri="{FF2B5EF4-FFF2-40B4-BE49-F238E27FC236}">
                <a16:creationId xmlns:a16="http://schemas.microsoft.com/office/drawing/2014/main" id="{F3979CB2-517C-4D6E-9067-D317986EBB1D}"/>
              </a:ext>
            </a:extLst>
          </p:cNvPr>
          <p:cNvPicPr>
            <a:picLocks noChangeAspect="1"/>
          </p:cNvPicPr>
          <p:nvPr/>
        </p:nvPicPr>
        <p:blipFill>
          <a:blip r:embed="rId4"/>
          <a:stretch>
            <a:fillRect/>
          </a:stretch>
        </p:blipFill>
        <p:spPr>
          <a:xfrm>
            <a:off x="6210956" y="4403035"/>
            <a:ext cx="4485511" cy="2480981"/>
          </a:xfrm>
          <a:prstGeom prst="rect">
            <a:avLst/>
          </a:prstGeom>
        </p:spPr>
      </p:pic>
      <p:sp>
        <p:nvSpPr>
          <p:cNvPr id="14" name="Rechteck 13">
            <a:extLst>
              <a:ext uri="{FF2B5EF4-FFF2-40B4-BE49-F238E27FC236}">
                <a16:creationId xmlns:a16="http://schemas.microsoft.com/office/drawing/2014/main" id="{B97C1803-B067-4324-844E-E8082E6174B8}"/>
              </a:ext>
            </a:extLst>
          </p:cNvPr>
          <p:cNvSpPr/>
          <p:nvPr/>
        </p:nvSpPr>
        <p:spPr bwMode="auto">
          <a:xfrm>
            <a:off x="10281241" y="6728366"/>
            <a:ext cx="323949" cy="238963"/>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5" name="Rechteck 14">
            <a:extLst>
              <a:ext uri="{FF2B5EF4-FFF2-40B4-BE49-F238E27FC236}">
                <a16:creationId xmlns:a16="http://schemas.microsoft.com/office/drawing/2014/main" id="{D3F7C01F-93D5-47C6-A3CF-09837FFB0079}"/>
              </a:ext>
            </a:extLst>
          </p:cNvPr>
          <p:cNvSpPr/>
          <p:nvPr/>
        </p:nvSpPr>
        <p:spPr bwMode="auto">
          <a:xfrm>
            <a:off x="6445894" y="6562735"/>
            <a:ext cx="3423663" cy="238963"/>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8" name="Textplatzhalter 3">
            <a:extLst>
              <a:ext uri="{FF2B5EF4-FFF2-40B4-BE49-F238E27FC236}">
                <a16:creationId xmlns:a16="http://schemas.microsoft.com/office/drawing/2014/main" id="{E7FD1FCD-3E81-014B-678D-3C2C7D7D4ED9}"/>
              </a:ext>
            </a:extLst>
          </p:cNvPr>
          <p:cNvSpPr txBox="1">
            <a:spLocks/>
          </p:cNvSpPr>
          <p:nvPr/>
        </p:nvSpPr>
        <p:spPr bwMode="auto">
          <a:xfrm>
            <a:off x="522288" y="1926047"/>
            <a:ext cx="10171112" cy="4559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1054100" rtl="0" fontAlgn="base">
              <a:lnSpc>
                <a:spcPct val="110000"/>
              </a:lnSpc>
              <a:spcBef>
                <a:spcPct val="0"/>
              </a:spcBef>
              <a:spcAft>
                <a:spcPct val="40000"/>
              </a:spcAft>
              <a:defRPr sz="1700">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a:lstStyle>
          <a:p>
            <a:pPr marL="342900" indent="-342900">
              <a:buFont typeface="+mj-lt"/>
              <a:buAutoNum type="arabicPeriod"/>
            </a:pPr>
            <a:r>
              <a:rPr lang="de-DE" kern="0"/>
              <a:t>In Isaac Sim unter Window </a:t>
            </a:r>
            <a:r>
              <a:rPr lang="de-DE" kern="0">
                <a:sym typeface="Wingdings" panose="05000000000000000000" pitchFamily="2" charset="2"/>
              </a:rPr>
              <a:t> Extensions auswählen.</a:t>
            </a:r>
          </a:p>
          <a:p>
            <a:pPr marL="342900" indent="-342900">
              <a:buFont typeface="+mj-lt"/>
              <a:buAutoNum type="arabicPeriod"/>
            </a:pPr>
            <a:r>
              <a:rPr lang="de-DE" kern="0">
                <a:sym typeface="Wingdings" panose="05000000000000000000" pitchFamily="2" charset="2"/>
              </a:rPr>
              <a:t>Im neuen Fenster die drei Striche  Settings auswählen.</a:t>
            </a:r>
          </a:p>
          <a:p>
            <a:pPr marL="342900" indent="-342900">
              <a:buFont typeface="+mj-lt"/>
              <a:buAutoNum type="arabicPeriod"/>
            </a:pPr>
            <a:r>
              <a:rPr lang="de-DE" kern="0">
                <a:sym typeface="Wingdings" panose="05000000000000000000" pitchFamily="2" charset="2"/>
              </a:rPr>
              <a:t>Hier auf das grüne Plus klicken und den Pfad zum Ordner „Omniverse Extensions“(siehe vorige Folie) angeben </a:t>
            </a:r>
            <a:endParaRPr lang="de-DE" kern="0"/>
          </a:p>
          <a:p>
            <a:pPr marL="342900" indent="-342900">
              <a:buFont typeface="+mj-lt"/>
              <a:buAutoNum type="arabicPeriod"/>
            </a:pPr>
            <a:endParaRPr lang="de-DE" kern="0" dirty="0"/>
          </a:p>
        </p:txBody>
      </p:sp>
    </p:spTree>
    <p:extLst>
      <p:ext uri="{BB962C8B-B14F-4D97-AF65-F5344CB8AC3E}">
        <p14:creationId xmlns:p14="http://schemas.microsoft.com/office/powerpoint/2010/main" val="20983066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93366C-60E3-4188-9781-F10C45EC11DB}"/>
              </a:ext>
            </a:extLst>
          </p:cNvPr>
          <p:cNvSpPr>
            <a:spLocks noGrp="1"/>
          </p:cNvSpPr>
          <p:nvPr>
            <p:ph type="title"/>
          </p:nvPr>
        </p:nvSpPr>
        <p:spPr/>
        <p:txBody>
          <a:bodyPr/>
          <a:lstStyle/>
          <a:p>
            <a:r>
              <a:rPr lang="de-DE" dirty="0"/>
              <a:t>Extension aktivieren</a:t>
            </a:r>
          </a:p>
        </p:txBody>
      </p:sp>
      <p:sp>
        <p:nvSpPr>
          <p:cNvPr id="3" name="Foliennummernplatzhalter 2">
            <a:extLst>
              <a:ext uri="{FF2B5EF4-FFF2-40B4-BE49-F238E27FC236}">
                <a16:creationId xmlns:a16="http://schemas.microsoft.com/office/drawing/2014/main" id="{6890588E-5372-445B-A5FD-A2A34F87C025}"/>
              </a:ext>
            </a:extLst>
          </p:cNvPr>
          <p:cNvSpPr>
            <a:spLocks noGrp="1"/>
          </p:cNvSpPr>
          <p:nvPr>
            <p:ph type="sldNum" sz="quarter" idx="10"/>
          </p:nvPr>
        </p:nvSpPr>
        <p:spPr/>
        <p:txBody>
          <a:bodyPr/>
          <a:lstStyle/>
          <a:p>
            <a:r>
              <a:rPr lang="de-DE"/>
              <a:t>Seite </a:t>
            </a:r>
            <a:fld id="{40192516-3A96-4AF1-ACCE-4FA25417AC18}" type="slidenum">
              <a:rPr lang="de-DE" smtClean="0"/>
              <a:pPr/>
              <a:t>38</a:t>
            </a:fld>
            <a:endParaRPr lang="de-DE"/>
          </a:p>
        </p:txBody>
      </p:sp>
      <p:sp>
        <p:nvSpPr>
          <p:cNvPr id="4" name="Textplatzhalter 3">
            <a:extLst>
              <a:ext uri="{FF2B5EF4-FFF2-40B4-BE49-F238E27FC236}">
                <a16:creationId xmlns:a16="http://schemas.microsoft.com/office/drawing/2014/main" id="{0AB9B790-DA89-445E-A544-48487F03FAFD}"/>
              </a:ext>
            </a:extLst>
          </p:cNvPr>
          <p:cNvSpPr>
            <a:spLocks noGrp="1"/>
          </p:cNvSpPr>
          <p:nvPr>
            <p:ph type="body" sz="quarter" idx="11"/>
          </p:nvPr>
        </p:nvSpPr>
        <p:spPr/>
        <p:txBody>
          <a:bodyPr/>
          <a:lstStyle/>
          <a:p>
            <a:pPr marL="342900" indent="-342900">
              <a:buFont typeface="+mj-lt"/>
              <a:buAutoNum type="arabicPeriod"/>
            </a:pPr>
            <a:r>
              <a:rPr lang="de-DE" dirty="0"/>
              <a:t>Jetzt sollte im Bereich „Third Party“ unter User die neue Extension erscheinen.</a:t>
            </a:r>
          </a:p>
          <a:p>
            <a:pPr marL="342900" indent="-342900">
              <a:buFont typeface="+mj-lt"/>
              <a:buAutoNum type="arabicPeriod"/>
            </a:pPr>
            <a:r>
              <a:rPr lang="de-DE" dirty="0"/>
              <a:t>Diese wird ausgewählt und im rechten Bereich auf „</a:t>
            </a:r>
            <a:r>
              <a:rPr lang="de-DE" dirty="0" err="1"/>
              <a:t>enabled</a:t>
            </a:r>
            <a:r>
              <a:rPr lang="de-DE" dirty="0"/>
              <a:t>“ und „</a:t>
            </a:r>
            <a:r>
              <a:rPr lang="de-DE" dirty="0" err="1"/>
              <a:t>autoload</a:t>
            </a:r>
            <a:r>
              <a:rPr lang="de-DE" dirty="0"/>
              <a:t>“ gestellt</a:t>
            </a:r>
          </a:p>
          <a:p>
            <a:pPr marL="342900" indent="-342900">
              <a:buFont typeface="+mj-lt"/>
              <a:buAutoNum type="arabicPeriod"/>
            </a:pPr>
            <a:r>
              <a:rPr lang="de-DE" dirty="0"/>
              <a:t>Sollte es hier Probleme geben, gilt es die </a:t>
            </a:r>
            <a:r>
              <a:rPr lang="de-DE" dirty="0" err="1"/>
              <a:t>extension.toml</a:t>
            </a:r>
            <a:r>
              <a:rPr lang="de-DE" dirty="0"/>
              <a:t> zu überprüfen, diese sollte folgendes beinhalten:</a:t>
            </a:r>
          </a:p>
        </p:txBody>
      </p:sp>
      <p:pic>
        <p:nvPicPr>
          <p:cNvPr id="5" name="Grafik 4">
            <a:extLst>
              <a:ext uri="{FF2B5EF4-FFF2-40B4-BE49-F238E27FC236}">
                <a16:creationId xmlns:a16="http://schemas.microsoft.com/office/drawing/2014/main" id="{543EA366-485A-4C98-9A43-1404E682CD8C}"/>
              </a:ext>
            </a:extLst>
          </p:cNvPr>
          <p:cNvPicPr>
            <a:picLocks noChangeAspect="1"/>
          </p:cNvPicPr>
          <p:nvPr/>
        </p:nvPicPr>
        <p:blipFill>
          <a:blip r:embed="rId2"/>
          <a:stretch>
            <a:fillRect/>
          </a:stretch>
        </p:blipFill>
        <p:spPr>
          <a:xfrm>
            <a:off x="522288" y="4547049"/>
            <a:ext cx="3006104" cy="2253047"/>
          </a:xfrm>
          <a:prstGeom prst="rect">
            <a:avLst/>
          </a:prstGeom>
        </p:spPr>
      </p:pic>
      <p:pic>
        <p:nvPicPr>
          <p:cNvPr id="6" name="Grafik 5">
            <a:extLst>
              <a:ext uri="{FF2B5EF4-FFF2-40B4-BE49-F238E27FC236}">
                <a16:creationId xmlns:a16="http://schemas.microsoft.com/office/drawing/2014/main" id="{D719D4A9-9110-47AB-9A63-4E57FDFC4B08}"/>
              </a:ext>
            </a:extLst>
          </p:cNvPr>
          <p:cNvPicPr>
            <a:picLocks noChangeAspect="1"/>
          </p:cNvPicPr>
          <p:nvPr/>
        </p:nvPicPr>
        <p:blipFill rotWithShape="1">
          <a:blip r:embed="rId3"/>
          <a:srcRect l="13583" r="5687"/>
          <a:stretch/>
        </p:blipFill>
        <p:spPr>
          <a:xfrm>
            <a:off x="3647660" y="4547049"/>
            <a:ext cx="4045227" cy="1810003"/>
          </a:xfrm>
          <a:prstGeom prst="rect">
            <a:avLst/>
          </a:prstGeom>
        </p:spPr>
      </p:pic>
      <p:sp>
        <p:nvSpPr>
          <p:cNvPr id="7" name="Rechteck 6">
            <a:extLst>
              <a:ext uri="{FF2B5EF4-FFF2-40B4-BE49-F238E27FC236}">
                <a16:creationId xmlns:a16="http://schemas.microsoft.com/office/drawing/2014/main" id="{1EF52F54-C962-44B3-9E05-9377B1CD3715}"/>
              </a:ext>
            </a:extLst>
          </p:cNvPr>
          <p:cNvSpPr/>
          <p:nvPr/>
        </p:nvSpPr>
        <p:spPr bwMode="auto">
          <a:xfrm>
            <a:off x="4681330" y="4952596"/>
            <a:ext cx="3011557" cy="434413"/>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8" name="Rechteck 7">
            <a:extLst>
              <a:ext uri="{FF2B5EF4-FFF2-40B4-BE49-F238E27FC236}">
                <a16:creationId xmlns:a16="http://schemas.microsoft.com/office/drawing/2014/main" id="{B4C5EDAC-24CD-46DC-9E47-994111DA78B7}"/>
              </a:ext>
            </a:extLst>
          </p:cNvPr>
          <p:cNvSpPr/>
          <p:nvPr/>
        </p:nvSpPr>
        <p:spPr bwMode="auto">
          <a:xfrm>
            <a:off x="522288" y="4547050"/>
            <a:ext cx="2904779" cy="49209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0" name="Rechteck 9">
            <a:extLst>
              <a:ext uri="{FF2B5EF4-FFF2-40B4-BE49-F238E27FC236}">
                <a16:creationId xmlns:a16="http://schemas.microsoft.com/office/drawing/2014/main" id="{FB73EFA6-C5E5-6908-25E5-6128EB7529D9}"/>
              </a:ext>
            </a:extLst>
          </p:cNvPr>
          <p:cNvSpPr/>
          <p:nvPr/>
        </p:nvSpPr>
        <p:spPr bwMode="auto">
          <a:xfrm>
            <a:off x="8229306" y="4547049"/>
            <a:ext cx="2284815" cy="2344288"/>
          </a:xfrm>
          <a:prstGeom prst="rect">
            <a:avLst/>
          </a:prstGeom>
          <a:solidFill>
            <a:schemeClr val="tx1">
              <a:lumMod val="75000"/>
              <a:lumOff val="25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algn="l"/>
            <a:r>
              <a:rPr lang="de-DE" sz="1100" dirty="0"/>
              <a:t>[</a:t>
            </a:r>
            <a:r>
              <a:rPr lang="de-DE" sz="1100" dirty="0" err="1"/>
              <a:t>package</a:t>
            </a:r>
            <a:r>
              <a:rPr lang="de-DE" sz="1100" dirty="0"/>
              <a:t>]</a:t>
            </a:r>
          </a:p>
          <a:p>
            <a:pPr algn="l"/>
            <a:r>
              <a:rPr lang="de-DE" sz="1100" dirty="0"/>
              <a:t>title = "Maze Runner UI"</a:t>
            </a:r>
          </a:p>
          <a:p>
            <a:pPr algn="l"/>
            <a:r>
              <a:rPr lang="de-DE" sz="1100" dirty="0" err="1"/>
              <a:t>version</a:t>
            </a:r>
            <a:r>
              <a:rPr lang="de-DE" sz="1100" dirty="0"/>
              <a:t> = "1.0.0"</a:t>
            </a:r>
          </a:p>
          <a:p>
            <a:pPr algn="l"/>
            <a:endParaRPr lang="de-DE" sz="1100" dirty="0"/>
          </a:p>
          <a:p>
            <a:pPr algn="l"/>
            <a:r>
              <a:rPr lang="de-DE" sz="1100" dirty="0"/>
              <a:t>[</a:t>
            </a:r>
            <a:r>
              <a:rPr lang="de-DE" sz="1100" dirty="0" err="1"/>
              <a:t>dependencies</a:t>
            </a:r>
            <a:r>
              <a:rPr lang="de-DE" sz="1100" dirty="0"/>
              <a:t>]</a:t>
            </a:r>
          </a:p>
          <a:p>
            <a:pPr algn="l"/>
            <a:r>
              <a:rPr lang="de-DE" sz="1100" dirty="0"/>
              <a:t>"</a:t>
            </a:r>
            <a:r>
              <a:rPr lang="de-DE" sz="1100" dirty="0" err="1"/>
              <a:t>omni.kit.uiapp</a:t>
            </a:r>
            <a:r>
              <a:rPr lang="de-DE" sz="1100" dirty="0"/>
              <a:t>" = {}</a:t>
            </a:r>
          </a:p>
          <a:p>
            <a:pPr algn="l"/>
            <a:r>
              <a:rPr lang="de-DE" sz="1100" dirty="0"/>
              <a:t>"</a:t>
            </a:r>
            <a:r>
              <a:rPr lang="de-DE" sz="1100" dirty="0" err="1"/>
              <a:t>omni.ui</a:t>
            </a:r>
            <a:r>
              <a:rPr lang="de-DE" sz="1100" dirty="0"/>
              <a:t>" = {}</a:t>
            </a:r>
          </a:p>
          <a:p>
            <a:pPr algn="l"/>
            <a:endParaRPr lang="de-DE" sz="1100" dirty="0"/>
          </a:p>
          <a:p>
            <a:pPr algn="l"/>
            <a:r>
              <a:rPr lang="de-DE" sz="1100" dirty="0"/>
              <a:t>[[</a:t>
            </a:r>
            <a:r>
              <a:rPr lang="de-DE" sz="1100" dirty="0" err="1"/>
              <a:t>python.module</a:t>
            </a:r>
            <a:r>
              <a:rPr lang="de-DE" sz="1100" dirty="0"/>
              <a:t>]]</a:t>
            </a:r>
          </a:p>
          <a:p>
            <a:pPr algn="l"/>
            <a:r>
              <a:rPr lang="de-DE" sz="1100" dirty="0" err="1"/>
              <a:t>name</a:t>
            </a:r>
            <a:r>
              <a:rPr lang="de-DE" sz="1100" dirty="0"/>
              <a:t> = "</a:t>
            </a:r>
            <a:r>
              <a:rPr lang="de-DE" sz="1100" dirty="0" err="1"/>
              <a:t>omni.mazerunner.API</a:t>
            </a:r>
            <a:r>
              <a:rPr lang="de-DE" sz="1100" dirty="0"/>
              <a:t>"</a:t>
            </a:r>
          </a:p>
          <a:p>
            <a:pPr algn="l"/>
            <a:r>
              <a:rPr lang="de-DE" sz="1100" dirty="0" err="1"/>
              <a:t>path</a:t>
            </a:r>
            <a:r>
              <a:rPr lang="de-DE" sz="1100" dirty="0"/>
              <a:t> = "."</a:t>
            </a:r>
            <a:endParaRPr kumimoji="0" lang="de-DE" sz="11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1052521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F6F6A3-1EE4-4707-A96C-A63DEF4687BD}"/>
              </a:ext>
            </a:extLst>
          </p:cNvPr>
          <p:cNvSpPr>
            <a:spLocks noGrp="1"/>
          </p:cNvSpPr>
          <p:nvPr>
            <p:ph type="title"/>
          </p:nvPr>
        </p:nvSpPr>
        <p:spPr/>
        <p:txBody>
          <a:bodyPr/>
          <a:lstStyle/>
          <a:p>
            <a:r>
              <a:rPr lang="de-DE" dirty="0"/>
              <a:t>Extension bearbeiten</a:t>
            </a:r>
          </a:p>
        </p:txBody>
      </p:sp>
      <p:sp>
        <p:nvSpPr>
          <p:cNvPr id="3" name="Foliennummernplatzhalter 2">
            <a:extLst>
              <a:ext uri="{FF2B5EF4-FFF2-40B4-BE49-F238E27FC236}">
                <a16:creationId xmlns:a16="http://schemas.microsoft.com/office/drawing/2014/main" id="{B7BFDBCD-5422-4957-ACD9-3C230A28A69E}"/>
              </a:ext>
            </a:extLst>
          </p:cNvPr>
          <p:cNvSpPr>
            <a:spLocks noGrp="1"/>
          </p:cNvSpPr>
          <p:nvPr>
            <p:ph type="sldNum" sz="quarter" idx="10"/>
          </p:nvPr>
        </p:nvSpPr>
        <p:spPr/>
        <p:txBody>
          <a:bodyPr/>
          <a:lstStyle/>
          <a:p>
            <a:r>
              <a:rPr lang="de-DE"/>
              <a:t>Seite </a:t>
            </a:r>
            <a:fld id="{40192516-3A96-4AF1-ACCE-4FA25417AC18}" type="slidenum">
              <a:rPr lang="de-DE" smtClean="0"/>
              <a:pPr/>
              <a:t>39</a:t>
            </a:fld>
            <a:endParaRPr lang="de-DE"/>
          </a:p>
        </p:txBody>
      </p:sp>
      <p:sp>
        <p:nvSpPr>
          <p:cNvPr id="4" name="Textplatzhalter 3">
            <a:extLst>
              <a:ext uri="{FF2B5EF4-FFF2-40B4-BE49-F238E27FC236}">
                <a16:creationId xmlns:a16="http://schemas.microsoft.com/office/drawing/2014/main" id="{A011F275-85FE-457F-B171-4274C40C02E4}"/>
              </a:ext>
            </a:extLst>
          </p:cNvPr>
          <p:cNvSpPr>
            <a:spLocks noGrp="1"/>
          </p:cNvSpPr>
          <p:nvPr>
            <p:ph type="body" sz="quarter" idx="11"/>
          </p:nvPr>
        </p:nvSpPr>
        <p:spPr>
          <a:xfrm>
            <a:off x="387132" y="1837054"/>
            <a:ext cx="8929588" cy="1675010"/>
          </a:xfrm>
        </p:spPr>
        <p:txBody>
          <a:bodyPr/>
          <a:lstStyle/>
          <a:p>
            <a:pPr marL="342900" indent="-342900">
              <a:buFont typeface="+mj-lt"/>
              <a:buAutoNum type="arabicPeriod"/>
            </a:pPr>
            <a:r>
              <a:rPr lang="de-DE" dirty="0"/>
              <a:t>In VS-Code „File“</a:t>
            </a:r>
            <a:r>
              <a:rPr lang="de-DE" dirty="0">
                <a:sym typeface="Wingdings" panose="05000000000000000000" pitchFamily="2" charset="2"/>
              </a:rPr>
              <a:t> „Open Folder…“ </a:t>
            </a:r>
            <a:r>
              <a:rPr lang="de-DE" dirty="0"/>
              <a:t> Ordner des </a:t>
            </a:r>
            <a:r>
              <a:rPr lang="de-DE" dirty="0" err="1"/>
              <a:t>Github</a:t>
            </a:r>
            <a:r>
              <a:rPr lang="de-DE" dirty="0"/>
              <a:t>-Verzeichnisses öffnen.</a:t>
            </a:r>
          </a:p>
          <a:p>
            <a:pPr marL="342900" indent="-342900">
              <a:buFont typeface="+mj-lt"/>
              <a:buAutoNum type="arabicPeriod"/>
            </a:pPr>
            <a:r>
              <a:rPr lang="de-DE" dirty="0"/>
              <a:t>Hier werden dann die folgenden Dateien vorgefunden, welche gemeinsam die  Extension implementieren oder als unabhängiges Hilfsskript dienen.</a:t>
            </a:r>
          </a:p>
          <a:p>
            <a:pPr marL="342900" indent="-342900">
              <a:buFont typeface="+mj-lt"/>
              <a:buAutoNum type="arabicPeriod"/>
            </a:pPr>
            <a:r>
              <a:rPr lang="de-DE" dirty="0"/>
              <a:t>Jede Datei enthält eine durchgängige Kommentierung und genauere Erläuterungen am Dateianfang.</a:t>
            </a:r>
          </a:p>
        </p:txBody>
      </p:sp>
      <p:pic>
        <p:nvPicPr>
          <p:cNvPr id="8" name="Grafik 7">
            <a:extLst>
              <a:ext uri="{FF2B5EF4-FFF2-40B4-BE49-F238E27FC236}">
                <a16:creationId xmlns:a16="http://schemas.microsoft.com/office/drawing/2014/main" id="{8CFC8807-C4B8-E6B0-CB09-7728D874DFFB}"/>
              </a:ext>
            </a:extLst>
          </p:cNvPr>
          <p:cNvPicPr>
            <a:picLocks noChangeAspect="1"/>
          </p:cNvPicPr>
          <p:nvPr/>
        </p:nvPicPr>
        <p:blipFill>
          <a:blip r:embed="rId2"/>
          <a:stretch>
            <a:fillRect/>
          </a:stretch>
        </p:blipFill>
        <p:spPr>
          <a:xfrm>
            <a:off x="3656446" y="4153045"/>
            <a:ext cx="3065287" cy="2150276"/>
          </a:xfrm>
          <a:prstGeom prst="rect">
            <a:avLst/>
          </a:prstGeom>
        </p:spPr>
      </p:pic>
    </p:spTree>
    <p:extLst>
      <p:ext uri="{BB962C8B-B14F-4D97-AF65-F5344CB8AC3E}">
        <p14:creationId xmlns:p14="http://schemas.microsoft.com/office/powerpoint/2010/main" val="1391382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24E47D-BC31-4582-B367-C860F507ED11}"/>
              </a:ext>
            </a:extLst>
          </p:cNvPr>
          <p:cNvSpPr>
            <a:spLocks noGrp="1"/>
          </p:cNvSpPr>
          <p:nvPr>
            <p:ph type="title"/>
          </p:nvPr>
        </p:nvSpPr>
        <p:spPr/>
        <p:txBody>
          <a:bodyPr/>
          <a:lstStyle/>
          <a:p>
            <a:r>
              <a:rPr lang="de-DE" dirty="0"/>
              <a:t>Extension Quellcode Imports</a:t>
            </a:r>
          </a:p>
        </p:txBody>
      </p:sp>
      <p:sp>
        <p:nvSpPr>
          <p:cNvPr id="3" name="Foliennummernplatzhalter 2">
            <a:extLst>
              <a:ext uri="{FF2B5EF4-FFF2-40B4-BE49-F238E27FC236}">
                <a16:creationId xmlns:a16="http://schemas.microsoft.com/office/drawing/2014/main" id="{BA098EAF-ABAC-4BCB-A94E-066A940B4574}"/>
              </a:ext>
            </a:extLst>
          </p:cNvPr>
          <p:cNvSpPr>
            <a:spLocks noGrp="1"/>
          </p:cNvSpPr>
          <p:nvPr>
            <p:ph type="sldNum" sz="quarter" idx="10"/>
          </p:nvPr>
        </p:nvSpPr>
        <p:spPr/>
        <p:txBody>
          <a:bodyPr/>
          <a:lstStyle/>
          <a:p>
            <a:r>
              <a:rPr lang="de-DE"/>
              <a:t>Seite </a:t>
            </a:r>
            <a:fld id="{40192516-3A96-4AF1-ACCE-4FA25417AC18}" type="slidenum">
              <a:rPr lang="de-DE" smtClean="0"/>
              <a:pPr/>
              <a:t>40</a:t>
            </a:fld>
            <a:endParaRPr lang="de-DE"/>
          </a:p>
        </p:txBody>
      </p:sp>
      <p:sp>
        <p:nvSpPr>
          <p:cNvPr id="4" name="Textplatzhalter 3">
            <a:extLst>
              <a:ext uri="{FF2B5EF4-FFF2-40B4-BE49-F238E27FC236}">
                <a16:creationId xmlns:a16="http://schemas.microsoft.com/office/drawing/2014/main" id="{0EC44F4B-A5DF-4F29-9A66-0752675411E3}"/>
              </a:ext>
            </a:extLst>
          </p:cNvPr>
          <p:cNvSpPr>
            <a:spLocks noGrp="1"/>
          </p:cNvSpPr>
          <p:nvPr>
            <p:ph type="body" sz="quarter" idx="11"/>
          </p:nvPr>
        </p:nvSpPr>
        <p:spPr/>
        <p:txBody>
          <a:bodyPr/>
          <a:lstStyle/>
          <a:p>
            <a:endParaRPr lang="de-DE" dirty="0"/>
          </a:p>
        </p:txBody>
      </p:sp>
      <p:graphicFrame>
        <p:nvGraphicFramePr>
          <p:cNvPr id="5" name="Tabelle 4">
            <a:extLst>
              <a:ext uri="{FF2B5EF4-FFF2-40B4-BE49-F238E27FC236}">
                <a16:creationId xmlns:a16="http://schemas.microsoft.com/office/drawing/2014/main" id="{3BB42AD3-423D-4131-9CAB-4B734BDAB83E}"/>
              </a:ext>
            </a:extLst>
          </p:cNvPr>
          <p:cNvGraphicFramePr>
            <a:graphicFrameLocks noGrp="1"/>
          </p:cNvGraphicFramePr>
          <p:nvPr>
            <p:extLst>
              <p:ext uri="{D42A27DB-BD31-4B8C-83A1-F6EECF244321}">
                <p14:modId xmlns:p14="http://schemas.microsoft.com/office/powerpoint/2010/main" val="1653139631"/>
              </p:ext>
            </p:extLst>
          </p:nvPr>
        </p:nvGraphicFramePr>
        <p:xfrm>
          <a:off x="522286" y="1638412"/>
          <a:ext cx="9648826" cy="5279120"/>
        </p:xfrm>
        <a:graphic>
          <a:graphicData uri="http://schemas.openxmlformats.org/drawingml/2006/table">
            <a:tbl>
              <a:tblPr firstRow="1" bandRow="1">
                <a:tableStyleId>{5C22544A-7EE6-4342-B048-85BDC9FD1C3A}</a:tableStyleId>
              </a:tblPr>
              <a:tblGrid>
                <a:gridCol w="4824413">
                  <a:extLst>
                    <a:ext uri="{9D8B030D-6E8A-4147-A177-3AD203B41FA5}">
                      <a16:colId xmlns:a16="http://schemas.microsoft.com/office/drawing/2014/main" val="2525134402"/>
                    </a:ext>
                  </a:extLst>
                </a:gridCol>
                <a:gridCol w="4824413">
                  <a:extLst>
                    <a:ext uri="{9D8B030D-6E8A-4147-A177-3AD203B41FA5}">
                      <a16:colId xmlns:a16="http://schemas.microsoft.com/office/drawing/2014/main" val="1084276775"/>
                    </a:ext>
                  </a:extLst>
                </a:gridCol>
              </a:tblGrid>
              <a:tr h="719320">
                <a:tc>
                  <a:txBody>
                    <a:bodyPr/>
                    <a:lstStyle/>
                    <a:p>
                      <a:r>
                        <a:rPr lang="de-DE" dirty="0"/>
                        <a:t>Bibliothek</a:t>
                      </a:r>
                    </a:p>
                  </a:txBody>
                  <a:tcPr anchor="ctr"/>
                </a:tc>
                <a:tc>
                  <a:txBody>
                    <a:bodyPr/>
                    <a:lstStyle/>
                    <a:p>
                      <a:r>
                        <a:rPr lang="de-DE" dirty="0"/>
                        <a:t>Beschreibung</a:t>
                      </a:r>
                    </a:p>
                  </a:txBody>
                  <a:tcPr anchor="ctr"/>
                </a:tc>
                <a:extLst>
                  <a:ext uri="{0D108BD9-81ED-4DB2-BD59-A6C34878D82A}">
                    <a16:rowId xmlns:a16="http://schemas.microsoft.com/office/drawing/2014/main" val="634638304"/>
                  </a:ext>
                </a:extLst>
              </a:tr>
              <a:tr h="719320">
                <a:tc>
                  <a:txBody>
                    <a:bodyPr/>
                    <a:lstStyle/>
                    <a:p>
                      <a:r>
                        <a:rPr lang="de-DE" b="1" dirty="0"/>
                        <a:t>omni.ext</a:t>
                      </a:r>
                      <a:endParaRPr lang="de-DE" dirty="0"/>
                    </a:p>
                  </a:txBody>
                  <a:tcPr anchor="ctr"/>
                </a:tc>
                <a:tc>
                  <a:txBody>
                    <a:bodyPr/>
                    <a:lstStyle/>
                    <a:p>
                      <a:r>
                        <a:rPr lang="de-DE"/>
                        <a:t>Basis-Klasse (IExt) für die Erstellung und Registrierung der Omniverse Extension.</a:t>
                      </a:r>
                    </a:p>
                  </a:txBody>
                  <a:tcPr anchor="ctr"/>
                </a:tc>
                <a:extLst>
                  <a:ext uri="{0D108BD9-81ED-4DB2-BD59-A6C34878D82A}">
                    <a16:rowId xmlns:a16="http://schemas.microsoft.com/office/drawing/2014/main" val="3493646156"/>
                  </a:ext>
                </a:extLst>
              </a:tr>
              <a:tr h="586864">
                <a:tc>
                  <a:txBody>
                    <a:bodyPr/>
                    <a:lstStyle/>
                    <a:p>
                      <a:r>
                        <a:rPr lang="de-DE" b="1" dirty="0" err="1"/>
                        <a:t>omni.ui</a:t>
                      </a:r>
                      <a:endParaRPr lang="de-DE" dirty="0"/>
                    </a:p>
                  </a:txBody>
                  <a:tcPr anchor="ctr"/>
                </a:tc>
                <a:tc>
                  <a:txBody>
                    <a:bodyPr/>
                    <a:lstStyle/>
                    <a:p>
                      <a:r>
                        <a:rPr lang="de-DE"/>
                        <a:t>Framework für das User Interface (Fenster, Buttons, Labels, ScrollingFrames).</a:t>
                      </a:r>
                    </a:p>
                  </a:txBody>
                  <a:tcPr anchor="ctr"/>
                </a:tc>
                <a:extLst>
                  <a:ext uri="{0D108BD9-81ED-4DB2-BD59-A6C34878D82A}">
                    <a16:rowId xmlns:a16="http://schemas.microsoft.com/office/drawing/2014/main" val="245345709"/>
                  </a:ext>
                </a:extLst>
              </a:tr>
              <a:tr h="586864">
                <a:tc>
                  <a:txBody>
                    <a:bodyPr/>
                    <a:lstStyle/>
                    <a:p>
                      <a:r>
                        <a:rPr lang="de-DE" b="1" dirty="0" err="1"/>
                        <a:t>omni.usd</a:t>
                      </a:r>
                      <a:endParaRPr lang="de-DE" dirty="0"/>
                    </a:p>
                  </a:txBody>
                  <a:tcPr anchor="ctr"/>
                </a:tc>
                <a:tc>
                  <a:txBody>
                    <a:bodyPr/>
                    <a:lstStyle/>
                    <a:p>
                      <a:r>
                        <a:rPr lang="de-DE"/>
                        <a:t>Schnittstelle zur 3D-Szene, um auf USD-Prims und deren Attribute zuzugreifen.</a:t>
                      </a:r>
                    </a:p>
                  </a:txBody>
                  <a:tcPr anchor="ctr"/>
                </a:tc>
                <a:extLst>
                  <a:ext uri="{0D108BD9-81ED-4DB2-BD59-A6C34878D82A}">
                    <a16:rowId xmlns:a16="http://schemas.microsoft.com/office/drawing/2014/main" val="3344477936"/>
                  </a:ext>
                </a:extLst>
              </a:tr>
              <a:tr h="638600">
                <a:tc>
                  <a:txBody>
                    <a:bodyPr/>
                    <a:lstStyle/>
                    <a:p>
                      <a:r>
                        <a:rPr lang="de-DE" b="1"/>
                        <a:t>os</a:t>
                      </a:r>
                      <a:endParaRPr lang="de-DE"/>
                    </a:p>
                  </a:txBody>
                  <a:tcPr anchor="ctr"/>
                </a:tc>
                <a:tc>
                  <a:txBody>
                    <a:bodyPr/>
                    <a:lstStyle/>
                    <a:p>
                      <a:r>
                        <a:rPr lang="de-DE"/>
                        <a:t>Handhabung von Dateipfaden (z. B. Lokalisierung der nodes_db.json).</a:t>
                      </a:r>
                    </a:p>
                  </a:txBody>
                  <a:tcPr anchor="ctr"/>
                </a:tc>
                <a:extLst>
                  <a:ext uri="{0D108BD9-81ED-4DB2-BD59-A6C34878D82A}">
                    <a16:rowId xmlns:a16="http://schemas.microsoft.com/office/drawing/2014/main" val="347109327"/>
                  </a:ext>
                </a:extLst>
              </a:tr>
              <a:tr h="638600">
                <a:tc>
                  <a:txBody>
                    <a:bodyPr/>
                    <a:lstStyle/>
                    <a:p>
                      <a:r>
                        <a:rPr lang="de-DE" b="1"/>
                        <a:t>json</a:t>
                      </a:r>
                      <a:endParaRPr lang="de-DE"/>
                    </a:p>
                  </a:txBody>
                  <a:tcPr anchor="ctr"/>
                </a:tc>
                <a:tc>
                  <a:txBody>
                    <a:bodyPr/>
                    <a:lstStyle/>
                    <a:p>
                      <a:r>
                        <a:rPr lang="de-DE"/>
                        <a:t>Parsen der Konfigurationsdatei und Verarbeiten der API-Antworten.</a:t>
                      </a:r>
                    </a:p>
                  </a:txBody>
                  <a:tcPr anchor="ctr"/>
                </a:tc>
                <a:extLst>
                  <a:ext uri="{0D108BD9-81ED-4DB2-BD59-A6C34878D82A}">
                    <a16:rowId xmlns:a16="http://schemas.microsoft.com/office/drawing/2014/main" val="308151346"/>
                  </a:ext>
                </a:extLst>
              </a:tr>
              <a:tr h="586864">
                <a:tc>
                  <a:txBody>
                    <a:bodyPr/>
                    <a:lstStyle/>
                    <a:p>
                      <a:r>
                        <a:rPr lang="de-DE" b="1"/>
                        <a:t>asyncio</a:t>
                      </a:r>
                      <a:endParaRPr lang="de-DE"/>
                    </a:p>
                  </a:txBody>
                  <a:tcPr anchor="ctr"/>
                </a:tc>
                <a:tc>
                  <a:txBody>
                    <a:bodyPr/>
                    <a:lstStyle/>
                    <a:p>
                      <a:r>
                        <a:rPr lang="de-DE"/>
                        <a:t>Verwaltung asynchroner Tasks, um die Simulation nicht zu blockieren.</a:t>
                      </a:r>
                    </a:p>
                  </a:txBody>
                  <a:tcPr anchor="ctr"/>
                </a:tc>
                <a:extLst>
                  <a:ext uri="{0D108BD9-81ED-4DB2-BD59-A6C34878D82A}">
                    <a16:rowId xmlns:a16="http://schemas.microsoft.com/office/drawing/2014/main" val="2008360081"/>
                  </a:ext>
                </a:extLst>
              </a:tr>
              <a:tr h="586864">
                <a:tc>
                  <a:txBody>
                    <a:bodyPr/>
                    <a:lstStyle/>
                    <a:p>
                      <a:r>
                        <a:rPr lang="de-DE" b="1" dirty="0" err="1"/>
                        <a:t>aiohttp</a:t>
                      </a:r>
                      <a:endParaRPr lang="de-DE" dirty="0"/>
                    </a:p>
                  </a:txBody>
                  <a:tcPr anchor="ctr"/>
                </a:tc>
                <a:tc>
                  <a:txBody>
                    <a:bodyPr/>
                    <a:lstStyle/>
                    <a:p>
                      <a:r>
                        <a:rPr lang="de-DE" dirty="0"/>
                        <a:t>Asynchroner HTTP-Client für die Kommunikation mit der Web-API.</a:t>
                      </a:r>
                    </a:p>
                  </a:txBody>
                  <a:tcPr anchor="ctr"/>
                </a:tc>
                <a:extLst>
                  <a:ext uri="{0D108BD9-81ED-4DB2-BD59-A6C34878D82A}">
                    <a16:rowId xmlns:a16="http://schemas.microsoft.com/office/drawing/2014/main" val="2926282904"/>
                  </a:ext>
                </a:extLst>
              </a:tr>
            </a:tbl>
          </a:graphicData>
        </a:graphic>
      </p:graphicFrame>
    </p:spTree>
    <p:extLst>
      <p:ext uri="{BB962C8B-B14F-4D97-AF65-F5344CB8AC3E}">
        <p14:creationId xmlns:p14="http://schemas.microsoft.com/office/powerpoint/2010/main" val="984085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4E6BF0-59DB-45D4-AE85-B4E4CA2FC3C1}"/>
              </a:ext>
            </a:extLst>
          </p:cNvPr>
          <p:cNvSpPr>
            <a:spLocks noGrp="1"/>
          </p:cNvSpPr>
          <p:nvPr>
            <p:ph type="title"/>
          </p:nvPr>
        </p:nvSpPr>
        <p:spPr/>
        <p:txBody>
          <a:bodyPr/>
          <a:lstStyle/>
          <a:p>
            <a:r>
              <a:rPr lang="de-DE" dirty="0"/>
              <a:t>Funktionale Emulation mittels OPC UA Mock-Server</a:t>
            </a:r>
          </a:p>
        </p:txBody>
      </p:sp>
      <p:sp>
        <p:nvSpPr>
          <p:cNvPr id="3" name="Foliennummernplatzhalter 2">
            <a:extLst>
              <a:ext uri="{FF2B5EF4-FFF2-40B4-BE49-F238E27FC236}">
                <a16:creationId xmlns:a16="http://schemas.microsoft.com/office/drawing/2014/main" id="{C75CF314-F1EF-42EB-830F-7F4015120D76}"/>
              </a:ext>
            </a:extLst>
          </p:cNvPr>
          <p:cNvSpPr>
            <a:spLocks noGrp="1"/>
          </p:cNvSpPr>
          <p:nvPr>
            <p:ph type="sldNum" sz="quarter" idx="10"/>
          </p:nvPr>
        </p:nvSpPr>
        <p:spPr/>
        <p:txBody>
          <a:bodyPr/>
          <a:lstStyle/>
          <a:p>
            <a:r>
              <a:rPr lang="de-DE"/>
              <a:t>Seite </a:t>
            </a:r>
            <a:fld id="{40192516-3A96-4AF1-ACCE-4FA25417AC18}" type="slidenum">
              <a:rPr lang="de-DE" smtClean="0"/>
              <a:pPr/>
              <a:t>41</a:t>
            </a:fld>
            <a:endParaRPr lang="de-DE"/>
          </a:p>
        </p:txBody>
      </p:sp>
      <p:sp>
        <p:nvSpPr>
          <p:cNvPr id="4" name="Textplatzhalter 3">
            <a:extLst>
              <a:ext uri="{FF2B5EF4-FFF2-40B4-BE49-F238E27FC236}">
                <a16:creationId xmlns:a16="http://schemas.microsoft.com/office/drawing/2014/main" id="{8AD7DC33-D25F-4A6B-A8C6-8B868D5CD1DF}"/>
              </a:ext>
            </a:extLst>
          </p:cNvPr>
          <p:cNvSpPr>
            <a:spLocks noGrp="1"/>
          </p:cNvSpPr>
          <p:nvPr>
            <p:ph type="body" sz="quarter" idx="11"/>
          </p:nvPr>
        </p:nvSpPr>
        <p:spPr>
          <a:xfrm>
            <a:off x="522287" y="2109788"/>
            <a:ext cx="8600691" cy="4559300"/>
          </a:xfrm>
        </p:spPr>
        <p:txBody>
          <a:bodyPr/>
          <a:lstStyle/>
          <a:p>
            <a:pPr marL="285750" indent="-285750">
              <a:buFont typeface="Arial" panose="020B0604020202020204" pitchFamily="34" charset="0"/>
              <a:buChar char="•"/>
            </a:pPr>
            <a:r>
              <a:rPr lang="de-DE" dirty="0"/>
              <a:t>Zweck: Bereitstellung einer virtuellen Gegenstelle (Server), die das Kommunikationsverhalten einer echten SPS simuliert.</a:t>
            </a:r>
          </a:p>
          <a:p>
            <a:pPr marL="285750" indent="-285750">
              <a:buFont typeface="Arial" panose="020B0604020202020204" pitchFamily="34" charset="0"/>
              <a:buChar char="•"/>
            </a:pPr>
            <a:r>
              <a:rPr lang="de-DE" dirty="0"/>
              <a:t>Vorteil: Entwicklung der Isaac Sim Extension unabhängig von physischer Hardware und Netzwerk-Infrastruktur.</a:t>
            </a:r>
          </a:p>
          <a:p>
            <a:pPr marL="285750" indent="-285750">
              <a:buFont typeface="Arial" panose="020B0604020202020204" pitchFamily="34" charset="0"/>
              <a:buChar char="•"/>
            </a:pPr>
            <a:r>
              <a:rPr lang="de-DE" dirty="0"/>
              <a:t>Test-Logik: Der Mock-Server liest die </a:t>
            </a:r>
            <a:r>
              <a:rPr lang="de-DE" dirty="0" err="1"/>
              <a:t>nodes_db.json</a:t>
            </a:r>
            <a:r>
              <a:rPr lang="de-DE" dirty="0"/>
              <a:t> aus und schaltet die hinterlegten Datenknoten (Nodes) zyklisch zwischen den Zielwerten (z. B. 0 und 1) um.</a:t>
            </a:r>
          </a:p>
          <a:p>
            <a:pPr marL="285750" indent="-285750">
              <a:buFont typeface="Arial" panose="020B0604020202020204" pitchFamily="34" charset="0"/>
              <a:buChar char="•"/>
            </a:pPr>
            <a:r>
              <a:rPr lang="de-DE" dirty="0"/>
              <a:t>Ziel: Validierung, ob die Extension die Werte korrekt empfängt und die digitalen Zwillinge in der Simulation entsprechend ansteuert.</a:t>
            </a:r>
          </a:p>
        </p:txBody>
      </p:sp>
      <p:pic>
        <p:nvPicPr>
          <p:cNvPr id="7" name="Grafik 6">
            <a:extLst>
              <a:ext uri="{FF2B5EF4-FFF2-40B4-BE49-F238E27FC236}">
                <a16:creationId xmlns:a16="http://schemas.microsoft.com/office/drawing/2014/main" id="{464EAEE7-8682-48B5-8628-7E0123E02A0B}"/>
              </a:ext>
            </a:extLst>
          </p:cNvPr>
          <p:cNvPicPr>
            <a:picLocks noChangeAspect="1"/>
          </p:cNvPicPr>
          <p:nvPr/>
        </p:nvPicPr>
        <p:blipFill>
          <a:blip r:embed="rId2"/>
          <a:stretch>
            <a:fillRect/>
          </a:stretch>
        </p:blipFill>
        <p:spPr>
          <a:xfrm>
            <a:off x="1321072" y="4861147"/>
            <a:ext cx="3626684" cy="2030189"/>
          </a:xfrm>
          <a:prstGeom prst="rect">
            <a:avLst/>
          </a:prstGeom>
        </p:spPr>
      </p:pic>
      <p:pic>
        <p:nvPicPr>
          <p:cNvPr id="8" name="Grafik 7">
            <a:extLst>
              <a:ext uri="{FF2B5EF4-FFF2-40B4-BE49-F238E27FC236}">
                <a16:creationId xmlns:a16="http://schemas.microsoft.com/office/drawing/2014/main" id="{DF825F3E-5CE1-4AC7-AF5F-CE42DF6C1858}"/>
              </a:ext>
            </a:extLst>
          </p:cNvPr>
          <p:cNvPicPr>
            <a:picLocks noChangeAspect="1"/>
          </p:cNvPicPr>
          <p:nvPr/>
        </p:nvPicPr>
        <p:blipFill>
          <a:blip r:embed="rId3"/>
          <a:stretch>
            <a:fillRect/>
          </a:stretch>
        </p:blipFill>
        <p:spPr>
          <a:xfrm>
            <a:off x="5493262" y="4861147"/>
            <a:ext cx="3084210" cy="2030189"/>
          </a:xfrm>
          <a:prstGeom prst="rect">
            <a:avLst/>
          </a:prstGeom>
        </p:spPr>
      </p:pic>
    </p:spTree>
    <p:extLst>
      <p:ext uri="{BB962C8B-B14F-4D97-AF65-F5344CB8AC3E}">
        <p14:creationId xmlns:p14="http://schemas.microsoft.com/office/powerpoint/2010/main" val="12660187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B5BDB9-7417-45D0-AA3E-27E182431A7B}"/>
              </a:ext>
            </a:extLst>
          </p:cNvPr>
          <p:cNvSpPr>
            <a:spLocks noGrp="1"/>
          </p:cNvSpPr>
          <p:nvPr>
            <p:ph type="title"/>
          </p:nvPr>
        </p:nvSpPr>
        <p:spPr/>
        <p:txBody>
          <a:bodyPr/>
          <a:lstStyle/>
          <a:p>
            <a:r>
              <a:rPr lang="de-DE" dirty="0"/>
              <a:t>Implementierung des OPC UA Mock-Server</a:t>
            </a:r>
          </a:p>
        </p:txBody>
      </p:sp>
      <p:sp>
        <p:nvSpPr>
          <p:cNvPr id="3" name="Foliennummernplatzhalter 2">
            <a:extLst>
              <a:ext uri="{FF2B5EF4-FFF2-40B4-BE49-F238E27FC236}">
                <a16:creationId xmlns:a16="http://schemas.microsoft.com/office/drawing/2014/main" id="{34A92FB4-5ADC-43FE-A9E8-9710E31D18E4}"/>
              </a:ext>
            </a:extLst>
          </p:cNvPr>
          <p:cNvSpPr>
            <a:spLocks noGrp="1"/>
          </p:cNvSpPr>
          <p:nvPr>
            <p:ph type="sldNum" sz="quarter" idx="10"/>
          </p:nvPr>
        </p:nvSpPr>
        <p:spPr/>
        <p:txBody>
          <a:bodyPr/>
          <a:lstStyle/>
          <a:p>
            <a:r>
              <a:rPr lang="de-DE"/>
              <a:t>Seite </a:t>
            </a:r>
            <a:fld id="{40192516-3A96-4AF1-ACCE-4FA25417AC18}" type="slidenum">
              <a:rPr lang="de-DE" smtClean="0"/>
              <a:pPr/>
              <a:t>42</a:t>
            </a:fld>
            <a:endParaRPr lang="de-DE"/>
          </a:p>
        </p:txBody>
      </p:sp>
      <p:sp>
        <p:nvSpPr>
          <p:cNvPr id="4" name="Textplatzhalter 3">
            <a:extLst>
              <a:ext uri="{FF2B5EF4-FFF2-40B4-BE49-F238E27FC236}">
                <a16:creationId xmlns:a16="http://schemas.microsoft.com/office/drawing/2014/main" id="{0821F951-5031-42E9-861B-E2F6FCD57628}"/>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a:t>IP-Adress-Zuweisung: Dem PC werden manuell die IP-Adressen der zukünftigen Hardware-Steuerungen zugewiesen (z. B. 192.168.60.11 und .12).</a:t>
            </a:r>
          </a:p>
          <a:p>
            <a:pPr marL="285750" indent="-285750">
              <a:buFont typeface="Arial" panose="020B0604020202020204" pitchFamily="34" charset="0"/>
              <a:buChar char="•"/>
            </a:pPr>
            <a:r>
              <a:rPr lang="de-DE" dirty="0"/>
              <a:t>Lokales Routing: Durch diese Zusatz-IPs "glaubt" das Betriebssystem, selbst die SPS-Gegenstelle zu sein.</a:t>
            </a:r>
          </a:p>
          <a:p>
            <a:pPr marL="285750" indent="-285750">
              <a:buFont typeface="Arial" panose="020B0604020202020204" pitchFamily="34" charset="0"/>
              <a:buChar char="•"/>
            </a:pPr>
            <a:r>
              <a:rPr lang="de-DE" dirty="0"/>
              <a:t>Kommunikationsfluss: Isaac Sim sendet Anfragen an die IP .11 oder .12. Der lokal laufende Mock-Server fängt diese Anfragen ab und antwortet mit den Test-Werten aus der Datenbank.</a:t>
            </a:r>
          </a:p>
          <a:p>
            <a:pPr marL="285750" indent="-285750">
              <a:buFont typeface="Arial" panose="020B0604020202020204" pitchFamily="34" charset="0"/>
              <a:buChar char="•"/>
            </a:pPr>
            <a:r>
              <a:rPr lang="de-DE" dirty="0"/>
              <a:t>Ergebnis: Die gesamte Kommunikationskette wird unter realen Netzwerkbedingungen (IP-basiert) getestet, ohne den Code später ändern zu müssen.</a:t>
            </a:r>
          </a:p>
        </p:txBody>
      </p:sp>
    </p:spTree>
    <p:extLst>
      <p:ext uri="{BB962C8B-B14F-4D97-AF65-F5344CB8AC3E}">
        <p14:creationId xmlns:p14="http://schemas.microsoft.com/office/powerpoint/2010/main" val="5059637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3F1E27-0137-42B4-9BFA-DDE91122C2A1}"/>
              </a:ext>
            </a:extLst>
          </p:cNvPr>
          <p:cNvSpPr>
            <a:spLocks noGrp="1"/>
          </p:cNvSpPr>
          <p:nvPr>
            <p:ph type="title"/>
          </p:nvPr>
        </p:nvSpPr>
        <p:spPr>
          <a:xfrm>
            <a:off x="261144" y="667895"/>
            <a:ext cx="10171112" cy="949325"/>
          </a:xfrm>
        </p:spPr>
        <p:txBody>
          <a:bodyPr/>
          <a:lstStyle/>
          <a:p>
            <a:r>
              <a:rPr lang="de-DE" dirty="0"/>
              <a:t>Leitfaden zu Inbetriebnahme des OPC UA Mock-Servers</a:t>
            </a:r>
          </a:p>
        </p:txBody>
      </p:sp>
      <p:sp>
        <p:nvSpPr>
          <p:cNvPr id="3" name="Foliennummernplatzhalter 2">
            <a:extLst>
              <a:ext uri="{FF2B5EF4-FFF2-40B4-BE49-F238E27FC236}">
                <a16:creationId xmlns:a16="http://schemas.microsoft.com/office/drawing/2014/main" id="{D082DC72-9170-41C5-882E-0F0F4AFBBCFE}"/>
              </a:ext>
            </a:extLst>
          </p:cNvPr>
          <p:cNvSpPr>
            <a:spLocks noGrp="1"/>
          </p:cNvSpPr>
          <p:nvPr>
            <p:ph type="sldNum" sz="quarter" idx="10"/>
          </p:nvPr>
        </p:nvSpPr>
        <p:spPr/>
        <p:txBody>
          <a:bodyPr/>
          <a:lstStyle/>
          <a:p>
            <a:r>
              <a:rPr lang="de-DE"/>
              <a:t>Seite </a:t>
            </a:r>
            <a:fld id="{40192516-3A96-4AF1-ACCE-4FA25417AC18}" type="slidenum">
              <a:rPr lang="de-DE" smtClean="0"/>
              <a:pPr/>
              <a:t>43</a:t>
            </a:fld>
            <a:endParaRPr lang="de-DE"/>
          </a:p>
        </p:txBody>
      </p:sp>
      <p:sp>
        <p:nvSpPr>
          <p:cNvPr id="4" name="Textplatzhalter 3">
            <a:extLst>
              <a:ext uri="{FF2B5EF4-FFF2-40B4-BE49-F238E27FC236}">
                <a16:creationId xmlns:a16="http://schemas.microsoft.com/office/drawing/2014/main" id="{791770BB-FFAB-4107-8EC2-C02BF91840CE}"/>
              </a:ext>
            </a:extLst>
          </p:cNvPr>
          <p:cNvSpPr>
            <a:spLocks noGrp="1"/>
          </p:cNvSpPr>
          <p:nvPr>
            <p:ph type="body" sz="quarter" idx="11"/>
          </p:nvPr>
        </p:nvSpPr>
        <p:spPr>
          <a:xfrm>
            <a:off x="522288" y="2109788"/>
            <a:ext cx="7455064" cy="4559300"/>
          </a:xfrm>
        </p:spPr>
        <p:txBody>
          <a:bodyPr/>
          <a:lstStyle/>
          <a:p>
            <a:pPr marL="342900" indent="-342900">
              <a:buFont typeface="+mj-lt"/>
              <a:buAutoNum type="arabicPeriod"/>
            </a:pPr>
            <a:r>
              <a:rPr lang="de-DE" dirty="0"/>
              <a:t>Dazu </a:t>
            </a:r>
            <a:r>
              <a:rPr lang="de-DE" dirty="0" err="1"/>
              <a:t>Win</a:t>
            </a:r>
            <a:r>
              <a:rPr lang="de-DE" dirty="0"/>
              <a:t>-Taste </a:t>
            </a:r>
            <a:r>
              <a:rPr lang="de-DE" dirty="0">
                <a:sym typeface="Wingdings" panose="05000000000000000000" pitchFamily="2" charset="2"/>
              </a:rPr>
              <a:t> „Netzwerkverbindungen Anzeigen“ </a:t>
            </a:r>
            <a:br>
              <a:rPr lang="de-DE" dirty="0">
                <a:sym typeface="Wingdings" panose="05000000000000000000" pitchFamily="2" charset="2"/>
              </a:rPr>
            </a:br>
            <a:r>
              <a:rPr lang="de-DE" dirty="0">
                <a:sym typeface="Wingdings" panose="05000000000000000000" pitchFamily="2" charset="2"/>
              </a:rPr>
              <a:t> Rechtsklick auf Aktive Verbindung  „Eigenschaften“</a:t>
            </a:r>
          </a:p>
          <a:p>
            <a:pPr marL="342900" indent="-342900">
              <a:buFont typeface="+mj-lt"/>
              <a:buAutoNum type="arabicPeriod"/>
            </a:pPr>
            <a:r>
              <a:rPr lang="de-DE" dirty="0">
                <a:sym typeface="Wingdings" panose="05000000000000000000" pitchFamily="2" charset="2"/>
              </a:rPr>
              <a:t>„Internetprotokoll, Version 4“  „Eigenschaften“</a:t>
            </a:r>
          </a:p>
          <a:p>
            <a:pPr marL="342900" indent="-342900">
              <a:buFont typeface="+mj-lt"/>
              <a:buAutoNum type="arabicPeriod"/>
            </a:pPr>
            <a:r>
              <a:rPr lang="de-DE" dirty="0">
                <a:sym typeface="Wingdings" panose="05000000000000000000" pitchFamily="2" charset="2"/>
              </a:rPr>
              <a:t>„Erweitert“ auswählen und die IP-Adressen der SPS-Anlagen einfügen</a:t>
            </a:r>
          </a:p>
          <a:p>
            <a:pPr marL="342900" indent="-342900">
              <a:buFont typeface="+mj-lt"/>
              <a:buAutoNum type="arabicPeriod"/>
            </a:pPr>
            <a:r>
              <a:rPr lang="de-DE" dirty="0">
                <a:sym typeface="Wingdings" panose="05000000000000000000" pitchFamily="2" charset="2"/>
              </a:rPr>
              <a:t>Eine Weitere IP-Adresse für den PC hinzufügen 192.168.60.13</a:t>
            </a:r>
          </a:p>
          <a:p>
            <a:pPr marL="342900" indent="-342900">
              <a:buFont typeface="+mj-lt"/>
              <a:buAutoNum type="arabicPeriod"/>
            </a:pPr>
            <a:r>
              <a:rPr lang="de-DE" dirty="0">
                <a:sym typeface="Wingdings" panose="05000000000000000000" pitchFamily="2" charset="2"/>
              </a:rPr>
              <a:t>Standardgateway freilassen</a:t>
            </a:r>
            <a:endParaRPr lang="de-DE" dirty="0"/>
          </a:p>
          <a:p>
            <a:endParaRPr lang="de-DE" dirty="0"/>
          </a:p>
        </p:txBody>
      </p:sp>
      <p:pic>
        <p:nvPicPr>
          <p:cNvPr id="5" name="Grafik 4">
            <a:extLst>
              <a:ext uri="{FF2B5EF4-FFF2-40B4-BE49-F238E27FC236}">
                <a16:creationId xmlns:a16="http://schemas.microsoft.com/office/drawing/2014/main" id="{A918FD5E-D1B8-4A1B-9883-F66559DB59A6}"/>
              </a:ext>
            </a:extLst>
          </p:cNvPr>
          <p:cNvPicPr>
            <a:picLocks noChangeAspect="1"/>
          </p:cNvPicPr>
          <p:nvPr/>
        </p:nvPicPr>
        <p:blipFill>
          <a:blip r:embed="rId2"/>
          <a:stretch>
            <a:fillRect/>
          </a:stretch>
        </p:blipFill>
        <p:spPr>
          <a:xfrm>
            <a:off x="7813839" y="1767028"/>
            <a:ext cx="2357273" cy="2014397"/>
          </a:xfrm>
          <a:prstGeom prst="rect">
            <a:avLst/>
          </a:prstGeom>
        </p:spPr>
      </p:pic>
      <p:pic>
        <p:nvPicPr>
          <p:cNvPr id="6" name="Grafik 5">
            <a:extLst>
              <a:ext uri="{FF2B5EF4-FFF2-40B4-BE49-F238E27FC236}">
                <a16:creationId xmlns:a16="http://schemas.microsoft.com/office/drawing/2014/main" id="{2B0BF569-7DA9-404B-A512-BF74D5E464BC}"/>
              </a:ext>
            </a:extLst>
          </p:cNvPr>
          <p:cNvPicPr>
            <a:picLocks noChangeAspect="1"/>
          </p:cNvPicPr>
          <p:nvPr/>
        </p:nvPicPr>
        <p:blipFill>
          <a:blip r:embed="rId3"/>
          <a:stretch>
            <a:fillRect/>
          </a:stretch>
        </p:blipFill>
        <p:spPr>
          <a:xfrm>
            <a:off x="522288" y="4389438"/>
            <a:ext cx="3022596" cy="2305144"/>
          </a:xfrm>
          <a:prstGeom prst="rect">
            <a:avLst/>
          </a:prstGeom>
        </p:spPr>
      </p:pic>
      <p:pic>
        <p:nvPicPr>
          <p:cNvPr id="10" name="Grafik 9">
            <a:extLst>
              <a:ext uri="{FF2B5EF4-FFF2-40B4-BE49-F238E27FC236}">
                <a16:creationId xmlns:a16="http://schemas.microsoft.com/office/drawing/2014/main" id="{AD6647D9-9113-4ABF-BF15-610FFD84D4BA}"/>
              </a:ext>
            </a:extLst>
          </p:cNvPr>
          <p:cNvPicPr>
            <a:picLocks noChangeAspect="1"/>
          </p:cNvPicPr>
          <p:nvPr/>
        </p:nvPicPr>
        <p:blipFill>
          <a:blip r:embed="rId4"/>
          <a:stretch>
            <a:fillRect/>
          </a:stretch>
        </p:blipFill>
        <p:spPr>
          <a:xfrm>
            <a:off x="6711309" y="4431612"/>
            <a:ext cx="3841077" cy="2408364"/>
          </a:xfrm>
          <a:prstGeom prst="rect">
            <a:avLst/>
          </a:prstGeom>
        </p:spPr>
      </p:pic>
      <p:pic>
        <p:nvPicPr>
          <p:cNvPr id="11" name="Grafik 10">
            <a:extLst>
              <a:ext uri="{FF2B5EF4-FFF2-40B4-BE49-F238E27FC236}">
                <a16:creationId xmlns:a16="http://schemas.microsoft.com/office/drawing/2014/main" id="{F456076F-FC09-47CF-8DBA-6298E977A9D0}"/>
              </a:ext>
            </a:extLst>
          </p:cNvPr>
          <p:cNvPicPr>
            <a:picLocks noChangeAspect="1"/>
          </p:cNvPicPr>
          <p:nvPr/>
        </p:nvPicPr>
        <p:blipFill>
          <a:blip r:embed="rId5"/>
          <a:stretch>
            <a:fillRect/>
          </a:stretch>
        </p:blipFill>
        <p:spPr>
          <a:xfrm>
            <a:off x="3544884" y="4395800"/>
            <a:ext cx="3264839" cy="2565745"/>
          </a:xfrm>
          <a:prstGeom prst="rect">
            <a:avLst/>
          </a:prstGeom>
        </p:spPr>
      </p:pic>
    </p:spTree>
    <p:extLst>
      <p:ext uri="{BB962C8B-B14F-4D97-AF65-F5344CB8AC3E}">
        <p14:creationId xmlns:p14="http://schemas.microsoft.com/office/powerpoint/2010/main" val="31004349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720240-D45F-4D5A-9D2F-201CCFA0E2A1}"/>
              </a:ext>
            </a:extLst>
          </p:cNvPr>
          <p:cNvSpPr>
            <a:spLocks noGrp="1"/>
          </p:cNvSpPr>
          <p:nvPr>
            <p:ph type="title"/>
          </p:nvPr>
        </p:nvSpPr>
        <p:spPr/>
        <p:txBody>
          <a:bodyPr/>
          <a:lstStyle/>
          <a:p>
            <a:r>
              <a:rPr lang="de-DE" dirty="0"/>
              <a:t>Transition zur realen Hardware</a:t>
            </a:r>
          </a:p>
        </p:txBody>
      </p:sp>
      <p:sp>
        <p:nvSpPr>
          <p:cNvPr id="3" name="Foliennummernplatzhalter 2">
            <a:extLst>
              <a:ext uri="{FF2B5EF4-FFF2-40B4-BE49-F238E27FC236}">
                <a16:creationId xmlns:a16="http://schemas.microsoft.com/office/drawing/2014/main" id="{FEC0E95A-B545-41B2-9D52-9FD6B4966247}"/>
              </a:ext>
            </a:extLst>
          </p:cNvPr>
          <p:cNvSpPr>
            <a:spLocks noGrp="1"/>
          </p:cNvSpPr>
          <p:nvPr>
            <p:ph type="sldNum" sz="quarter" idx="10"/>
          </p:nvPr>
        </p:nvSpPr>
        <p:spPr/>
        <p:txBody>
          <a:bodyPr/>
          <a:lstStyle/>
          <a:p>
            <a:r>
              <a:rPr lang="de-DE"/>
              <a:t>Seite </a:t>
            </a:r>
            <a:fld id="{40192516-3A96-4AF1-ACCE-4FA25417AC18}" type="slidenum">
              <a:rPr lang="de-DE" smtClean="0"/>
              <a:pPr/>
              <a:t>44</a:t>
            </a:fld>
            <a:endParaRPr lang="de-DE"/>
          </a:p>
        </p:txBody>
      </p:sp>
      <p:sp>
        <p:nvSpPr>
          <p:cNvPr id="4" name="Textplatzhalter 3">
            <a:extLst>
              <a:ext uri="{FF2B5EF4-FFF2-40B4-BE49-F238E27FC236}">
                <a16:creationId xmlns:a16="http://schemas.microsoft.com/office/drawing/2014/main" id="{08E9DB97-5D03-4AFD-8883-1C5F68DCF27E}"/>
              </a:ext>
            </a:extLst>
          </p:cNvPr>
          <p:cNvSpPr>
            <a:spLocks noGrp="1"/>
          </p:cNvSpPr>
          <p:nvPr>
            <p:ph type="body" sz="quarter" idx="11"/>
          </p:nvPr>
        </p:nvSpPr>
        <p:spPr>
          <a:xfrm>
            <a:off x="522287" y="2109788"/>
            <a:ext cx="8905491" cy="4559300"/>
          </a:xfrm>
        </p:spPr>
        <p:txBody>
          <a:bodyPr/>
          <a:lstStyle/>
          <a:p>
            <a:pPr marL="285750" indent="-285750">
              <a:buFont typeface="Arial" panose="020B0604020202020204" pitchFamily="34" charset="0"/>
              <a:buChar char="•"/>
            </a:pPr>
            <a:r>
              <a:rPr lang="de-DE" dirty="0"/>
              <a:t>IP-Adress-Bereinigung: Die zusätzlichen IP-Adressen (.11, .12) werden am PC in den Netzwerkeinstellungen gelöscht, um IP-Konflikte mit der echten Hardware zu vermeiden.</a:t>
            </a:r>
          </a:p>
          <a:p>
            <a:pPr marL="285750" indent="-285750">
              <a:buFont typeface="Arial" panose="020B0604020202020204" pitchFamily="34" charset="0"/>
              <a:buChar char="•"/>
            </a:pPr>
            <a:r>
              <a:rPr lang="de-DE" dirty="0"/>
              <a:t>Netzwerk-Kopplung: Physikalische Verbindung des PCs mit dem Automatisierungs-Netzwerk (via </a:t>
            </a:r>
            <a:r>
              <a:rPr lang="de-DE" dirty="0" err="1"/>
              <a:t>GL.iNet</a:t>
            </a:r>
            <a:r>
              <a:rPr lang="de-DE" dirty="0"/>
              <a:t> Router via Wifi). </a:t>
            </a:r>
            <a:br>
              <a:rPr lang="de-DE" dirty="0"/>
            </a:br>
            <a:r>
              <a:rPr lang="de-DE" dirty="0"/>
              <a:t>Der PC behält dabei eine eigene, eindeutige IP (z. B. .13).</a:t>
            </a:r>
          </a:p>
          <a:p>
            <a:pPr marL="285750" indent="-285750">
              <a:buFont typeface="Arial" panose="020B0604020202020204" pitchFamily="34" charset="0"/>
              <a:buChar char="•"/>
            </a:pPr>
            <a:r>
              <a:rPr lang="de-DE" dirty="0"/>
              <a:t>Hardware-Aktivierung: Start des OPC UA Servers auf der realen SPS.</a:t>
            </a:r>
          </a:p>
          <a:p>
            <a:pPr marL="285750" indent="-285750">
              <a:buFont typeface="Arial" panose="020B0604020202020204" pitchFamily="34" charset="0"/>
              <a:buChar char="•"/>
            </a:pPr>
            <a:r>
              <a:rPr lang="de-DE" dirty="0"/>
              <a:t>Funktionstest: Da die </a:t>
            </a:r>
            <a:r>
              <a:rPr lang="de-DE" dirty="0" err="1"/>
              <a:t>node_id</a:t>
            </a:r>
            <a:r>
              <a:rPr lang="de-DE" dirty="0"/>
              <a:t> und die IP-Adressen in der </a:t>
            </a:r>
            <a:r>
              <a:rPr lang="de-DE" dirty="0" err="1"/>
              <a:t>nodes_db.json</a:t>
            </a:r>
            <a:r>
              <a:rPr lang="de-DE" dirty="0"/>
              <a:t> bereits identisch mit der Hardware konfiguriert wurden, ist keine Änderung am Programmcode der Extension erforderlich.</a:t>
            </a:r>
          </a:p>
        </p:txBody>
      </p:sp>
    </p:spTree>
    <p:extLst>
      <p:ext uri="{BB962C8B-B14F-4D97-AF65-F5344CB8AC3E}">
        <p14:creationId xmlns:p14="http://schemas.microsoft.com/office/powerpoint/2010/main" val="2861220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8135F7-5E30-4B79-B113-9C6BBF4F0D45}"/>
              </a:ext>
            </a:extLst>
          </p:cNvPr>
          <p:cNvSpPr>
            <a:spLocks noGrp="1"/>
          </p:cNvSpPr>
          <p:nvPr>
            <p:ph type="title"/>
          </p:nvPr>
        </p:nvSpPr>
        <p:spPr/>
        <p:txBody>
          <a:bodyPr/>
          <a:lstStyle/>
          <a:p>
            <a:r>
              <a:rPr lang="de-DE" dirty="0"/>
              <a:t>Installation</a:t>
            </a:r>
          </a:p>
        </p:txBody>
      </p:sp>
      <p:sp>
        <p:nvSpPr>
          <p:cNvPr id="3" name="Foliennummernplatzhalter 2">
            <a:extLst>
              <a:ext uri="{FF2B5EF4-FFF2-40B4-BE49-F238E27FC236}">
                <a16:creationId xmlns:a16="http://schemas.microsoft.com/office/drawing/2014/main" id="{11E445B2-1BB1-4CF1-9E03-557C5AEB47BB}"/>
              </a:ext>
            </a:extLst>
          </p:cNvPr>
          <p:cNvSpPr>
            <a:spLocks noGrp="1"/>
          </p:cNvSpPr>
          <p:nvPr>
            <p:ph type="sldNum" sz="quarter" idx="10"/>
          </p:nvPr>
        </p:nvSpPr>
        <p:spPr/>
        <p:txBody>
          <a:bodyPr/>
          <a:lstStyle/>
          <a:p>
            <a:r>
              <a:rPr lang="de-DE"/>
              <a:t>Seite </a:t>
            </a:r>
            <a:fld id="{40192516-3A96-4AF1-ACCE-4FA25417AC18}" type="slidenum">
              <a:rPr lang="de-DE" smtClean="0"/>
              <a:pPr/>
              <a:t>45</a:t>
            </a:fld>
            <a:endParaRPr lang="de-DE"/>
          </a:p>
        </p:txBody>
      </p:sp>
      <p:sp>
        <p:nvSpPr>
          <p:cNvPr id="4" name="Textplatzhalter 3">
            <a:extLst>
              <a:ext uri="{FF2B5EF4-FFF2-40B4-BE49-F238E27FC236}">
                <a16:creationId xmlns:a16="http://schemas.microsoft.com/office/drawing/2014/main" id="{ACC9CB96-E97B-4EDC-ADF8-3DEE82AC07A7}"/>
              </a:ext>
            </a:extLst>
          </p:cNvPr>
          <p:cNvSpPr>
            <a:spLocks noGrp="1"/>
          </p:cNvSpPr>
          <p:nvPr>
            <p:ph type="body" sz="quarter" idx="11"/>
          </p:nvPr>
        </p:nvSpPr>
        <p:spPr/>
        <p:txBody>
          <a:bodyPr/>
          <a:lstStyle/>
          <a:p>
            <a:pPr marL="342900" indent="-342900">
              <a:buFont typeface="+mj-lt"/>
              <a:buAutoNum type="arabicPeriod"/>
            </a:pPr>
            <a:r>
              <a:rPr lang="de-DE" dirty="0">
                <a:hlinkClick r:id="rId2"/>
              </a:rPr>
              <a:t>TIA Portal Update 9 </a:t>
            </a:r>
            <a:r>
              <a:rPr lang="de-DE" dirty="0"/>
              <a:t>herunterladen</a:t>
            </a:r>
          </a:p>
          <a:p>
            <a:pPr marL="342900" indent="-342900">
              <a:buFont typeface="+mj-lt"/>
              <a:buAutoNum type="arabicPeriod"/>
            </a:pPr>
            <a:r>
              <a:rPr lang="de-DE" dirty="0"/>
              <a:t>Falls </a:t>
            </a:r>
            <a:r>
              <a:rPr lang="de-DE" dirty="0">
                <a:hlinkClick r:id="rId3"/>
              </a:rPr>
              <a:t>SIMATIC S7 Distributed </a:t>
            </a:r>
            <a:r>
              <a:rPr lang="de-DE" dirty="0" err="1">
                <a:hlinkClick r:id="rId3"/>
              </a:rPr>
              <a:t>Safety</a:t>
            </a:r>
            <a:r>
              <a:rPr lang="de-DE" dirty="0"/>
              <a:t> beim Öffnen von TIA Portal als fehlend angezeigt wird, muss der Zugriff für den Download bei Siemens angefragt werden.</a:t>
            </a:r>
          </a:p>
          <a:p>
            <a:pPr marL="342900" indent="-342900">
              <a:buFont typeface="+mj-lt"/>
              <a:buAutoNum type="arabicPeriod"/>
            </a:pPr>
            <a:endParaRPr lang="de-DE" dirty="0"/>
          </a:p>
        </p:txBody>
      </p:sp>
    </p:spTree>
    <p:extLst>
      <p:ext uri="{BB962C8B-B14F-4D97-AF65-F5344CB8AC3E}">
        <p14:creationId xmlns:p14="http://schemas.microsoft.com/office/powerpoint/2010/main" val="11919768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6C9EBC-5CC3-4746-9981-0273A87542EF}"/>
              </a:ext>
            </a:extLst>
          </p:cNvPr>
          <p:cNvSpPr>
            <a:spLocks noGrp="1"/>
          </p:cNvSpPr>
          <p:nvPr>
            <p:ph type="title"/>
          </p:nvPr>
        </p:nvSpPr>
        <p:spPr/>
        <p:txBody>
          <a:bodyPr/>
          <a:lstStyle/>
          <a:p>
            <a:r>
              <a:rPr lang="de-DE" dirty="0"/>
              <a:t>IP-Adresse der SPS Ändern</a:t>
            </a:r>
          </a:p>
        </p:txBody>
      </p:sp>
      <p:sp>
        <p:nvSpPr>
          <p:cNvPr id="3" name="Foliennummernplatzhalter 2">
            <a:extLst>
              <a:ext uri="{FF2B5EF4-FFF2-40B4-BE49-F238E27FC236}">
                <a16:creationId xmlns:a16="http://schemas.microsoft.com/office/drawing/2014/main" id="{FEC14E0F-FEDC-488C-9249-4D4AA39D91F7}"/>
              </a:ext>
            </a:extLst>
          </p:cNvPr>
          <p:cNvSpPr>
            <a:spLocks noGrp="1"/>
          </p:cNvSpPr>
          <p:nvPr>
            <p:ph type="sldNum" sz="quarter" idx="10"/>
          </p:nvPr>
        </p:nvSpPr>
        <p:spPr/>
        <p:txBody>
          <a:bodyPr/>
          <a:lstStyle/>
          <a:p>
            <a:r>
              <a:rPr lang="de-DE"/>
              <a:t>Seite </a:t>
            </a:r>
            <a:fld id="{40192516-3A96-4AF1-ACCE-4FA25417AC18}" type="slidenum">
              <a:rPr lang="de-DE" smtClean="0"/>
              <a:pPr/>
              <a:t>46</a:t>
            </a:fld>
            <a:endParaRPr lang="de-DE"/>
          </a:p>
        </p:txBody>
      </p:sp>
      <p:sp>
        <p:nvSpPr>
          <p:cNvPr id="4" name="Textplatzhalter 3">
            <a:extLst>
              <a:ext uri="{FF2B5EF4-FFF2-40B4-BE49-F238E27FC236}">
                <a16:creationId xmlns:a16="http://schemas.microsoft.com/office/drawing/2014/main" id="{9B2A6B5D-1208-457C-A75F-D5F926F5CF9A}"/>
              </a:ext>
            </a:extLst>
          </p:cNvPr>
          <p:cNvSpPr>
            <a:spLocks noGrp="1"/>
          </p:cNvSpPr>
          <p:nvPr>
            <p:ph type="body" sz="quarter" idx="11"/>
          </p:nvPr>
        </p:nvSpPr>
        <p:spPr/>
        <p:txBody>
          <a:bodyPr/>
          <a:lstStyle/>
          <a:p>
            <a:pPr marL="342900" indent="-342900">
              <a:buFont typeface="+mj-lt"/>
              <a:buAutoNum type="arabicPeriod"/>
            </a:pPr>
            <a:r>
              <a:rPr lang="de-DE" dirty="0"/>
              <a:t>Online Verbindung Trennen</a:t>
            </a:r>
          </a:p>
        </p:txBody>
      </p:sp>
      <p:pic>
        <p:nvPicPr>
          <p:cNvPr id="5" name="Grafik 4">
            <a:extLst>
              <a:ext uri="{FF2B5EF4-FFF2-40B4-BE49-F238E27FC236}">
                <a16:creationId xmlns:a16="http://schemas.microsoft.com/office/drawing/2014/main" id="{E4645737-005B-45C2-9841-D8B90F9B61F8}"/>
              </a:ext>
            </a:extLst>
          </p:cNvPr>
          <p:cNvPicPr>
            <a:picLocks noChangeAspect="1"/>
          </p:cNvPicPr>
          <p:nvPr/>
        </p:nvPicPr>
        <p:blipFill>
          <a:blip r:embed="rId2"/>
          <a:stretch>
            <a:fillRect/>
          </a:stretch>
        </p:blipFill>
        <p:spPr>
          <a:xfrm>
            <a:off x="4059252" y="1754107"/>
            <a:ext cx="6402921" cy="2343509"/>
          </a:xfrm>
          <a:prstGeom prst="rect">
            <a:avLst/>
          </a:prstGeom>
        </p:spPr>
      </p:pic>
      <p:pic>
        <p:nvPicPr>
          <p:cNvPr id="6" name="Grafik 5">
            <a:extLst>
              <a:ext uri="{FF2B5EF4-FFF2-40B4-BE49-F238E27FC236}">
                <a16:creationId xmlns:a16="http://schemas.microsoft.com/office/drawing/2014/main" id="{663D8B5C-5097-411A-AF22-0C7E81E95E21}"/>
              </a:ext>
            </a:extLst>
          </p:cNvPr>
          <p:cNvPicPr>
            <a:picLocks noChangeAspect="1"/>
          </p:cNvPicPr>
          <p:nvPr/>
        </p:nvPicPr>
        <p:blipFill>
          <a:blip r:embed="rId3"/>
          <a:stretch>
            <a:fillRect/>
          </a:stretch>
        </p:blipFill>
        <p:spPr>
          <a:xfrm>
            <a:off x="3117448" y="4319865"/>
            <a:ext cx="3634460" cy="2571472"/>
          </a:xfrm>
          <a:prstGeom prst="rect">
            <a:avLst/>
          </a:prstGeom>
        </p:spPr>
      </p:pic>
      <p:pic>
        <p:nvPicPr>
          <p:cNvPr id="7" name="Grafik 6">
            <a:extLst>
              <a:ext uri="{FF2B5EF4-FFF2-40B4-BE49-F238E27FC236}">
                <a16:creationId xmlns:a16="http://schemas.microsoft.com/office/drawing/2014/main" id="{4744FDCF-ABD0-45B1-9A8D-7635D0011B10}"/>
              </a:ext>
            </a:extLst>
          </p:cNvPr>
          <p:cNvPicPr>
            <a:picLocks noChangeAspect="1"/>
          </p:cNvPicPr>
          <p:nvPr/>
        </p:nvPicPr>
        <p:blipFill>
          <a:blip r:embed="rId4"/>
          <a:stretch>
            <a:fillRect/>
          </a:stretch>
        </p:blipFill>
        <p:spPr>
          <a:xfrm>
            <a:off x="6751908" y="4689196"/>
            <a:ext cx="3502176" cy="2205697"/>
          </a:xfrm>
          <a:prstGeom prst="rect">
            <a:avLst/>
          </a:prstGeom>
        </p:spPr>
      </p:pic>
    </p:spTree>
    <p:extLst>
      <p:ext uri="{BB962C8B-B14F-4D97-AF65-F5344CB8AC3E}">
        <p14:creationId xmlns:p14="http://schemas.microsoft.com/office/powerpoint/2010/main" val="20456565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380C94-1669-49E9-ACA0-D740CCEBA986}"/>
              </a:ext>
            </a:extLst>
          </p:cNvPr>
          <p:cNvSpPr>
            <a:spLocks noGrp="1"/>
          </p:cNvSpPr>
          <p:nvPr>
            <p:ph type="title"/>
          </p:nvPr>
        </p:nvSpPr>
        <p:spPr/>
        <p:txBody>
          <a:bodyPr/>
          <a:lstStyle/>
          <a:p>
            <a:r>
              <a:rPr lang="de-DE" dirty="0"/>
              <a:t>Verbindung zur SPS herstellen</a:t>
            </a:r>
          </a:p>
        </p:txBody>
      </p:sp>
      <p:sp>
        <p:nvSpPr>
          <p:cNvPr id="3" name="Foliennummernplatzhalter 2">
            <a:extLst>
              <a:ext uri="{FF2B5EF4-FFF2-40B4-BE49-F238E27FC236}">
                <a16:creationId xmlns:a16="http://schemas.microsoft.com/office/drawing/2014/main" id="{A6BCA109-736D-48C4-B4A6-22EC9216687F}"/>
              </a:ext>
            </a:extLst>
          </p:cNvPr>
          <p:cNvSpPr>
            <a:spLocks noGrp="1"/>
          </p:cNvSpPr>
          <p:nvPr>
            <p:ph type="sldNum" sz="quarter" idx="10"/>
          </p:nvPr>
        </p:nvSpPr>
        <p:spPr/>
        <p:txBody>
          <a:bodyPr/>
          <a:lstStyle/>
          <a:p>
            <a:r>
              <a:rPr lang="de-DE"/>
              <a:t>Seite </a:t>
            </a:r>
            <a:fld id="{40192516-3A96-4AF1-ACCE-4FA25417AC18}" type="slidenum">
              <a:rPr lang="de-DE" smtClean="0"/>
              <a:pPr/>
              <a:t>47</a:t>
            </a:fld>
            <a:endParaRPr lang="de-DE"/>
          </a:p>
        </p:txBody>
      </p:sp>
      <p:sp>
        <p:nvSpPr>
          <p:cNvPr id="4" name="Textplatzhalter 3">
            <a:extLst>
              <a:ext uri="{FF2B5EF4-FFF2-40B4-BE49-F238E27FC236}">
                <a16:creationId xmlns:a16="http://schemas.microsoft.com/office/drawing/2014/main" id="{892E0881-C926-4CAB-8B30-332CB31B1854}"/>
              </a:ext>
            </a:extLst>
          </p:cNvPr>
          <p:cNvSpPr>
            <a:spLocks noGrp="1"/>
          </p:cNvSpPr>
          <p:nvPr>
            <p:ph type="body" sz="quarter" idx="11"/>
          </p:nvPr>
        </p:nvSpPr>
        <p:spPr/>
        <p:txBody>
          <a:bodyPr/>
          <a:lstStyle/>
          <a:p>
            <a:endParaRPr lang="de-DE"/>
          </a:p>
        </p:txBody>
      </p:sp>
      <p:pic>
        <p:nvPicPr>
          <p:cNvPr id="5" name="Grafik 4">
            <a:extLst>
              <a:ext uri="{FF2B5EF4-FFF2-40B4-BE49-F238E27FC236}">
                <a16:creationId xmlns:a16="http://schemas.microsoft.com/office/drawing/2014/main" id="{CAB18ABF-4C6F-42BC-B9C4-520E82A17435}"/>
              </a:ext>
            </a:extLst>
          </p:cNvPr>
          <p:cNvPicPr>
            <a:picLocks noChangeAspect="1"/>
          </p:cNvPicPr>
          <p:nvPr/>
        </p:nvPicPr>
        <p:blipFill>
          <a:blip r:embed="rId2"/>
          <a:stretch>
            <a:fillRect/>
          </a:stretch>
        </p:blipFill>
        <p:spPr>
          <a:xfrm>
            <a:off x="4734719" y="2109788"/>
            <a:ext cx="5914502" cy="5037231"/>
          </a:xfrm>
          <a:prstGeom prst="rect">
            <a:avLst/>
          </a:prstGeom>
        </p:spPr>
      </p:pic>
      <p:pic>
        <p:nvPicPr>
          <p:cNvPr id="6" name="Grafik 5">
            <a:extLst>
              <a:ext uri="{FF2B5EF4-FFF2-40B4-BE49-F238E27FC236}">
                <a16:creationId xmlns:a16="http://schemas.microsoft.com/office/drawing/2014/main" id="{0F9AAC6B-9456-4A0B-806B-66C601BA0DE6}"/>
              </a:ext>
            </a:extLst>
          </p:cNvPr>
          <p:cNvPicPr>
            <a:picLocks noChangeAspect="1"/>
          </p:cNvPicPr>
          <p:nvPr/>
        </p:nvPicPr>
        <p:blipFill rotWithShape="1">
          <a:blip r:embed="rId3"/>
          <a:srcRect l="6442" t="11852" r="5470" b="14655"/>
          <a:stretch/>
        </p:blipFill>
        <p:spPr>
          <a:xfrm>
            <a:off x="4288221" y="5126123"/>
            <a:ext cx="3794235" cy="1421823"/>
          </a:xfrm>
          <a:prstGeom prst="rect">
            <a:avLst/>
          </a:prstGeom>
        </p:spPr>
      </p:pic>
    </p:spTree>
    <p:extLst>
      <p:ext uri="{BB962C8B-B14F-4D97-AF65-F5344CB8AC3E}">
        <p14:creationId xmlns:p14="http://schemas.microsoft.com/office/powerpoint/2010/main" val="28637607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2225F1-C970-4783-A072-F9B370F5FE79}"/>
              </a:ext>
            </a:extLst>
          </p:cNvPr>
          <p:cNvSpPr>
            <a:spLocks noGrp="1"/>
          </p:cNvSpPr>
          <p:nvPr>
            <p:ph type="title"/>
          </p:nvPr>
        </p:nvSpPr>
        <p:spPr/>
        <p:txBody>
          <a:bodyPr/>
          <a:lstStyle/>
          <a:p>
            <a:r>
              <a:rPr lang="de-DE" dirty="0"/>
              <a:t>Konfiguration Laden</a:t>
            </a:r>
          </a:p>
        </p:txBody>
      </p:sp>
      <p:sp>
        <p:nvSpPr>
          <p:cNvPr id="3" name="Foliennummernplatzhalter 2">
            <a:extLst>
              <a:ext uri="{FF2B5EF4-FFF2-40B4-BE49-F238E27FC236}">
                <a16:creationId xmlns:a16="http://schemas.microsoft.com/office/drawing/2014/main" id="{9880E9A4-81D3-4309-AF1A-737618FF371B}"/>
              </a:ext>
            </a:extLst>
          </p:cNvPr>
          <p:cNvSpPr>
            <a:spLocks noGrp="1"/>
          </p:cNvSpPr>
          <p:nvPr>
            <p:ph type="sldNum" sz="quarter" idx="10"/>
          </p:nvPr>
        </p:nvSpPr>
        <p:spPr/>
        <p:txBody>
          <a:bodyPr/>
          <a:lstStyle/>
          <a:p>
            <a:r>
              <a:rPr lang="de-DE"/>
              <a:t>Seite </a:t>
            </a:r>
            <a:fld id="{40192516-3A96-4AF1-ACCE-4FA25417AC18}" type="slidenum">
              <a:rPr lang="de-DE" smtClean="0"/>
              <a:pPr/>
              <a:t>48</a:t>
            </a:fld>
            <a:endParaRPr lang="de-DE"/>
          </a:p>
        </p:txBody>
      </p:sp>
      <p:sp>
        <p:nvSpPr>
          <p:cNvPr id="4" name="Textplatzhalter 3">
            <a:extLst>
              <a:ext uri="{FF2B5EF4-FFF2-40B4-BE49-F238E27FC236}">
                <a16:creationId xmlns:a16="http://schemas.microsoft.com/office/drawing/2014/main" id="{C17AA554-7D5F-404D-9EF0-9679F1862FFB}"/>
              </a:ext>
            </a:extLst>
          </p:cNvPr>
          <p:cNvSpPr>
            <a:spLocks noGrp="1"/>
          </p:cNvSpPr>
          <p:nvPr>
            <p:ph type="body" sz="quarter" idx="11"/>
          </p:nvPr>
        </p:nvSpPr>
        <p:spPr/>
        <p:txBody>
          <a:bodyPr/>
          <a:lstStyle/>
          <a:p>
            <a:endParaRPr lang="de-DE"/>
          </a:p>
        </p:txBody>
      </p:sp>
      <p:pic>
        <p:nvPicPr>
          <p:cNvPr id="5" name="Grafik 4">
            <a:extLst>
              <a:ext uri="{FF2B5EF4-FFF2-40B4-BE49-F238E27FC236}">
                <a16:creationId xmlns:a16="http://schemas.microsoft.com/office/drawing/2014/main" id="{95873C46-CE64-437A-AD55-2183424CD0C3}"/>
              </a:ext>
            </a:extLst>
          </p:cNvPr>
          <p:cNvPicPr>
            <a:picLocks noChangeAspect="1"/>
          </p:cNvPicPr>
          <p:nvPr/>
        </p:nvPicPr>
        <p:blipFill>
          <a:blip r:embed="rId2"/>
          <a:stretch>
            <a:fillRect/>
          </a:stretch>
        </p:blipFill>
        <p:spPr>
          <a:xfrm>
            <a:off x="3142592" y="2685890"/>
            <a:ext cx="7124099" cy="4205447"/>
          </a:xfrm>
          <a:prstGeom prst="rect">
            <a:avLst/>
          </a:prstGeom>
        </p:spPr>
      </p:pic>
    </p:spTree>
    <p:extLst>
      <p:ext uri="{BB962C8B-B14F-4D97-AF65-F5344CB8AC3E}">
        <p14:creationId xmlns:p14="http://schemas.microsoft.com/office/powerpoint/2010/main" val="21000329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BC9732-A08B-4367-B172-22F6331AA4DA}"/>
              </a:ext>
            </a:extLst>
          </p:cNvPr>
          <p:cNvSpPr>
            <a:spLocks noGrp="1"/>
          </p:cNvSpPr>
          <p:nvPr>
            <p:ph type="title"/>
          </p:nvPr>
        </p:nvSpPr>
        <p:spPr/>
        <p:txBody>
          <a:bodyPr/>
          <a:lstStyle/>
          <a:p>
            <a:r>
              <a:rPr lang="de-DE" dirty="0"/>
              <a:t>MQTTL für SPS nachrüsten</a:t>
            </a:r>
          </a:p>
        </p:txBody>
      </p:sp>
      <p:sp>
        <p:nvSpPr>
          <p:cNvPr id="3" name="Foliennummernplatzhalter 2">
            <a:extLst>
              <a:ext uri="{FF2B5EF4-FFF2-40B4-BE49-F238E27FC236}">
                <a16:creationId xmlns:a16="http://schemas.microsoft.com/office/drawing/2014/main" id="{B05F53F9-50DF-4E27-AC53-6A7E9DF3E4E0}"/>
              </a:ext>
            </a:extLst>
          </p:cNvPr>
          <p:cNvSpPr>
            <a:spLocks noGrp="1"/>
          </p:cNvSpPr>
          <p:nvPr>
            <p:ph type="sldNum" sz="quarter" idx="10"/>
          </p:nvPr>
        </p:nvSpPr>
        <p:spPr/>
        <p:txBody>
          <a:bodyPr/>
          <a:lstStyle/>
          <a:p>
            <a:r>
              <a:rPr lang="de-DE"/>
              <a:t>Seite </a:t>
            </a:r>
            <a:fld id="{40192516-3A96-4AF1-ACCE-4FA25417AC18}" type="slidenum">
              <a:rPr lang="de-DE" smtClean="0"/>
              <a:pPr/>
              <a:t>49</a:t>
            </a:fld>
            <a:endParaRPr lang="de-DE"/>
          </a:p>
        </p:txBody>
      </p:sp>
      <p:sp>
        <p:nvSpPr>
          <p:cNvPr id="4" name="Textplatzhalter 3">
            <a:extLst>
              <a:ext uri="{FF2B5EF4-FFF2-40B4-BE49-F238E27FC236}">
                <a16:creationId xmlns:a16="http://schemas.microsoft.com/office/drawing/2014/main" id="{A3FEBE8A-B60B-4882-83E9-D02DB331CDD1}"/>
              </a:ext>
            </a:extLst>
          </p:cNvPr>
          <p:cNvSpPr>
            <a:spLocks noGrp="1"/>
          </p:cNvSpPr>
          <p:nvPr>
            <p:ph type="body" sz="quarter" idx="11"/>
          </p:nvPr>
        </p:nvSpPr>
        <p:spPr/>
        <p:txBody>
          <a:bodyPr/>
          <a:lstStyle/>
          <a:p>
            <a:r>
              <a:rPr lang="de-DE" dirty="0"/>
              <a:t>https://support.industry.siemens.com/</a:t>
            </a:r>
            <a:r>
              <a:rPr lang="de-DE" dirty="0" err="1"/>
              <a:t>cs</a:t>
            </a:r>
            <a:r>
              <a:rPr lang="de-DE" dirty="0"/>
              <a:t>/</a:t>
            </a:r>
            <a:r>
              <a:rPr lang="de-DE" dirty="0" err="1"/>
              <a:t>document</a:t>
            </a:r>
            <a:r>
              <a:rPr lang="de-DE" dirty="0"/>
              <a:t>/109780503/simatic-s7-1500-s7-1200-bibliotheken-für-kommunikation-(</a:t>
            </a:r>
            <a:r>
              <a:rPr lang="de-DE" dirty="0" err="1"/>
              <a:t>lcommsuite</a:t>
            </a:r>
            <a:r>
              <a:rPr lang="de-DE" dirty="0"/>
              <a:t>)?</a:t>
            </a:r>
            <a:r>
              <a:rPr lang="de-DE" dirty="0" err="1"/>
              <a:t>dti</a:t>
            </a:r>
            <a:r>
              <a:rPr lang="de-DE" dirty="0"/>
              <a:t>=0&amp;lc=de-DE</a:t>
            </a:r>
          </a:p>
        </p:txBody>
      </p:sp>
    </p:spTree>
    <p:extLst>
      <p:ext uri="{BB962C8B-B14F-4D97-AF65-F5344CB8AC3E}">
        <p14:creationId xmlns:p14="http://schemas.microsoft.com/office/powerpoint/2010/main" val="4121011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2AFD17-7658-47F2-AFA9-3532D2FDDDE6}"/>
              </a:ext>
            </a:extLst>
          </p:cNvPr>
          <p:cNvSpPr>
            <a:spLocks noGrp="1"/>
          </p:cNvSpPr>
          <p:nvPr>
            <p:ph type="title"/>
          </p:nvPr>
        </p:nvSpPr>
        <p:spPr/>
        <p:txBody>
          <a:bodyPr/>
          <a:lstStyle/>
          <a:p>
            <a:r>
              <a:rPr lang="de-DE" dirty="0"/>
              <a:t>Problembehandlung</a:t>
            </a:r>
          </a:p>
        </p:txBody>
      </p:sp>
      <p:sp>
        <p:nvSpPr>
          <p:cNvPr id="3" name="Foliennummernplatzhalter 2">
            <a:extLst>
              <a:ext uri="{FF2B5EF4-FFF2-40B4-BE49-F238E27FC236}">
                <a16:creationId xmlns:a16="http://schemas.microsoft.com/office/drawing/2014/main" id="{88D0C0B9-66F2-4D69-96DE-88762FD2B14C}"/>
              </a:ext>
            </a:extLst>
          </p:cNvPr>
          <p:cNvSpPr>
            <a:spLocks noGrp="1"/>
          </p:cNvSpPr>
          <p:nvPr>
            <p:ph type="sldNum" sz="quarter" idx="10"/>
          </p:nvPr>
        </p:nvSpPr>
        <p:spPr/>
        <p:txBody>
          <a:bodyPr/>
          <a:lstStyle/>
          <a:p>
            <a:r>
              <a:rPr lang="de-DE"/>
              <a:t>Seite </a:t>
            </a:r>
            <a:fld id="{40192516-3A96-4AF1-ACCE-4FA25417AC18}" type="slidenum">
              <a:rPr lang="de-DE" smtClean="0"/>
              <a:pPr/>
              <a:t>50</a:t>
            </a:fld>
            <a:endParaRPr lang="de-DE"/>
          </a:p>
        </p:txBody>
      </p:sp>
      <p:sp>
        <p:nvSpPr>
          <p:cNvPr id="4" name="Textplatzhalter 3">
            <a:extLst>
              <a:ext uri="{FF2B5EF4-FFF2-40B4-BE49-F238E27FC236}">
                <a16:creationId xmlns:a16="http://schemas.microsoft.com/office/drawing/2014/main" id="{B39CB887-5C61-496A-80AE-5D89566476FB}"/>
              </a:ext>
            </a:extLst>
          </p:cNvPr>
          <p:cNvSpPr>
            <a:spLocks noGrp="1"/>
          </p:cNvSpPr>
          <p:nvPr>
            <p:ph type="body" sz="quarter" idx="11"/>
          </p:nvPr>
        </p:nvSpPr>
        <p:spPr/>
        <p:txBody>
          <a:bodyPr/>
          <a:lstStyle/>
          <a:p>
            <a:pPr marL="342900" indent="-342900">
              <a:buFont typeface="+mj-lt"/>
              <a:buAutoNum type="arabicPeriod"/>
            </a:pPr>
            <a:r>
              <a:rPr lang="de-DE" dirty="0"/>
              <a:t>Falls TIA </a:t>
            </a:r>
          </a:p>
          <a:p>
            <a:pPr marL="342900" indent="-342900">
              <a:buFont typeface="+mj-lt"/>
              <a:buAutoNum type="arabicPeriod"/>
            </a:pPr>
            <a:r>
              <a:rPr lang="de-DE" dirty="0"/>
              <a:t>Falls </a:t>
            </a:r>
            <a:r>
              <a:rPr lang="de-DE" dirty="0">
                <a:hlinkClick r:id="rId2"/>
              </a:rPr>
              <a:t>SIMATIC S7 Distributed </a:t>
            </a:r>
            <a:r>
              <a:rPr lang="de-DE" dirty="0" err="1">
                <a:hlinkClick r:id="rId2"/>
              </a:rPr>
              <a:t>Safety</a:t>
            </a:r>
            <a:r>
              <a:rPr lang="de-DE" dirty="0"/>
              <a:t> beim Öffnen von TIA Portal als fehlend </a:t>
            </a:r>
            <a:r>
              <a:rPr lang="de-DE" dirty="0" err="1"/>
              <a:t>agezeigt</a:t>
            </a:r>
            <a:r>
              <a:rPr lang="de-DE" dirty="0"/>
              <a:t> wird muss der Zugriff angefragt werden.</a:t>
            </a:r>
          </a:p>
          <a:p>
            <a:endParaRPr lang="de-DE" dirty="0"/>
          </a:p>
        </p:txBody>
      </p:sp>
    </p:spTree>
    <p:extLst>
      <p:ext uri="{BB962C8B-B14F-4D97-AF65-F5344CB8AC3E}">
        <p14:creationId xmlns:p14="http://schemas.microsoft.com/office/powerpoint/2010/main" val="19105914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7AD273-4D09-3912-47C4-6ED6B3EB5199}"/>
              </a:ext>
            </a:extLst>
          </p:cNvPr>
          <p:cNvSpPr>
            <a:spLocks noGrp="1"/>
          </p:cNvSpPr>
          <p:nvPr>
            <p:ph type="title"/>
          </p:nvPr>
        </p:nvSpPr>
        <p:spPr>
          <a:xfrm>
            <a:off x="522288" y="482669"/>
            <a:ext cx="9648825" cy="949325"/>
          </a:xfrm>
        </p:spPr>
        <p:txBody>
          <a:bodyPr/>
          <a:lstStyle/>
          <a:p>
            <a:r>
              <a:rPr lang="de-DE" dirty="0"/>
              <a:t>Zusammenfassung</a:t>
            </a:r>
          </a:p>
        </p:txBody>
      </p:sp>
      <p:sp>
        <p:nvSpPr>
          <p:cNvPr id="3" name="Inhaltsplatzhalter 2">
            <a:extLst>
              <a:ext uri="{FF2B5EF4-FFF2-40B4-BE49-F238E27FC236}">
                <a16:creationId xmlns:a16="http://schemas.microsoft.com/office/drawing/2014/main" id="{FBD7D6AB-AC69-30F6-58F4-6D51EB7A045E}"/>
              </a:ext>
            </a:extLst>
          </p:cNvPr>
          <p:cNvSpPr>
            <a:spLocks noGrp="1"/>
          </p:cNvSpPr>
          <p:nvPr>
            <p:ph idx="1"/>
          </p:nvPr>
        </p:nvSpPr>
        <p:spPr>
          <a:xfrm>
            <a:off x="522287" y="1004093"/>
            <a:ext cx="8631652" cy="6076088"/>
          </a:xfrm>
        </p:spPr>
        <p:txBody>
          <a:bodyPr/>
          <a:lstStyle/>
          <a:p>
            <a:pPr algn="just"/>
            <a:r>
              <a:rPr lang="de-DE" dirty="0">
                <a:cs typeface="Arial"/>
              </a:rPr>
              <a:t>Die Maze-Runner-Extension wurde in elf klar abgegrenzte Module zerlegt, sodass jede Datei genau eine Verantwortung trägt und gut wartbar ist. Die constants.py bündelt sämtliche Konfigurationswerte sowie Farben, USD-Pfade für den Sauggreifer, Endpunkte und Geometrie-Offsets an einer zentralen Stelle. Die UI wird vollständig vom </a:t>
            </a:r>
            <a:r>
              <a:rPr lang="de-DE" dirty="0" err="1">
                <a:cs typeface="Arial"/>
              </a:rPr>
              <a:t>UI_builder</a:t>
            </a:r>
            <a:r>
              <a:rPr lang="de-DE" dirty="0">
                <a:cs typeface="Arial"/>
              </a:rPr>
              <a:t> aufgebaut, welcher die Layout-Logik liefert und </a:t>
            </a:r>
            <a:r>
              <a:rPr lang="de-DE" dirty="0" err="1">
                <a:cs typeface="Arial"/>
              </a:rPr>
              <a:t>Callbacks</a:t>
            </a:r>
            <a:r>
              <a:rPr lang="de-DE" dirty="0">
                <a:cs typeface="Arial"/>
              </a:rPr>
              <a:t> über Parameter entgegennimmt, dadurch bleibt das Hauptmodul frei von UI-Code. Die Datenhaltung übernimmt der </a:t>
            </a:r>
            <a:r>
              <a:rPr lang="de-DE" dirty="0" err="1">
                <a:cs typeface="Arial"/>
              </a:rPr>
              <a:t>NodeManager</a:t>
            </a:r>
            <a:r>
              <a:rPr lang="de-DE" dirty="0">
                <a:cs typeface="Arial"/>
              </a:rPr>
              <a:t>, der die JSON-Konfiguration lädt, Statuslabels pflegt und auf USD-Attribute schreibt. Spezialisierte Module kümmern sich um den Sauggreifer (</a:t>
            </a:r>
            <a:r>
              <a:rPr lang="de-DE" dirty="0" err="1">
                <a:cs typeface="Arial"/>
              </a:rPr>
              <a:t>SuctionGripper</a:t>
            </a:r>
            <a:r>
              <a:rPr lang="de-DE" dirty="0">
                <a:cs typeface="Arial"/>
              </a:rPr>
              <a:t>), die REST-API (</a:t>
            </a:r>
            <a:r>
              <a:rPr lang="de-DE" dirty="0" err="1">
                <a:cs typeface="Arial"/>
              </a:rPr>
              <a:t>APIClient</a:t>
            </a:r>
            <a:r>
              <a:rPr lang="de-DE" dirty="0">
                <a:cs typeface="Arial"/>
              </a:rPr>
              <a:t>), die Live-Verbindung über </a:t>
            </a:r>
            <a:r>
              <a:rPr lang="de-DE" dirty="0" err="1">
                <a:cs typeface="Arial"/>
              </a:rPr>
              <a:t>WebSocket</a:t>
            </a:r>
            <a:r>
              <a:rPr lang="de-DE" dirty="0">
                <a:cs typeface="Arial"/>
              </a:rPr>
              <a:t>-MQTT (</a:t>
            </a:r>
            <a:r>
              <a:rPr lang="de-DE" dirty="0" err="1">
                <a:cs typeface="Arial"/>
              </a:rPr>
              <a:t>MQTTHandler</a:t>
            </a:r>
            <a:r>
              <a:rPr lang="de-DE" dirty="0">
                <a:cs typeface="Arial"/>
              </a:rPr>
              <a:t>) und die Reaktion auf Omniverse-Timeline-Events (</a:t>
            </a:r>
            <a:r>
              <a:rPr lang="de-DE" dirty="0" err="1">
                <a:cs typeface="Arial"/>
              </a:rPr>
              <a:t>TimelineHandler</a:t>
            </a:r>
            <a:r>
              <a:rPr lang="de-DE" dirty="0">
                <a:cs typeface="Arial"/>
              </a:rPr>
              <a:t>). Der Gesamtprozess und die </a:t>
            </a:r>
            <a:r>
              <a:rPr lang="de-DE" dirty="0" err="1">
                <a:cs typeface="Arial"/>
              </a:rPr>
              <a:t>BA_Start</a:t>
            </a:r>
            <a:r>
              <a:rPr lang="de-DE" dirty="0">
                <a:cs typeface="Arial"/>
              </a:rPr>
              <a:t>-Sequenz liegen gekapselt in routines.py, was sie unabhängig vom Hauptmodul testbar und erweiterbar macht. Der zentrale Controller ist extension.py, er instanziiert die Komponenten, verbindet die UI-</a:t>
            </a:r>
            <a:r>
              <a:rPr lang="de-DE" dirty="0" err="1">
                <a:cs typeface="Arial"/>
              </a:rPr>
              <a:t>Callbacks</a:t>
            </a:r>
            <a:r>
              <a:rPr lang="de-DE" dirty="0">
                <a:cs typeface="Arial"/>
              </a:rPr>
              <a:t> und vermittelt Klicks an die jeweils zuständigen Module. Das </a:t>
            </a:r>
            <a:r>
              <a:rPr lang="de-DE" dirty="0" err="1">
                <a:cs typeface="Arial"/>
              </a:rPr>
              <a:t>Logging</a:t>
            </a:r>
            <a:r>
              <a:rPr lang="de-DE" dirty="0">
                <a:cs typeface="Arial"/>
              </a:rPr>
              <a:t> läuft thread-sicher über die Logger-Klasse, die sowohl aus dem </a:t>
            </a:r>
            <a:r>
              <a:rPr lang="de-DE" dirty="0" err="1">
                <a:cs typeface="Arial"/>
              </a:rPr>
              <a:t>asyncio</a:t>
            </a:r>
            <a:r>
              <a:rPr lang="de-DE" dirty="0">
                <a:cs typeface="Arial"/>
              </a:rPr>
              <a:t>-Loop als auch aus MQTT-Threads sicher angesprochen werden kann. Dadurch entsteht eine klare Trennung zwischen Darstellung, Datenmodell, Simulationslogik, externer Kommunikation und Automatisierung. Ein gut wartbares, erweiterbares Gesamtkonzept wobei noch keine zuverlässige MQTT </a:t>
            </a:r>
            <a:r>
              <a:rPr lang="de-DE" dirty="0" err="1">
                <a:cs typeface="Arial"/>
              </a:rPr>
              <a:t>Komunikation</a:t>
            </a:r>
            <a:r>
              <a:rPr lang="de-DE" dirty="0">
                <a:cs typeface="Arial"/>
              </a:rPr>
              <a:t> dokumentiert werden kann, hier steht noch aus ob die SPS entsprechend konfiguriert werden muss, allerdings kommen vereinzelte, erwartete Nachrichten, stark verzögert in Isaac Sim an.</a:t>
            </a:r>
          </a:p>
        </p:txBody>
      </p:sp>
      <p:sp>
        <p:nvSpPr>
          <p:cNvPr id="4" name="Foliennummernplatzhalter 3">
            <a:extLst>
              <a:ext uri="{FF2B5EF4-FFF2-40B4-BE49-F238E27FC236}">
                <a16:creationId xmlns:a16="http://schemas.microsoft.com/office/drawing/2014/main" id="{54379EE7-2B97-3EE8-ACDC-7315DF129149}"/>
              </a:ext>
            </a:extLst>
          </p:cNvPr>
          <p:cNvSpPr>
            <a:spLocks noGrp="1"/>
          </p:cNvSpPr>
          <p:nvPr>
            <p:ph type="sldNum" sz="quarter" idx="10"/>
          </p:nvPr>
        </p:nvSpPr>
        <p:spPr/>
        <p:txBody>
          <a:bodyPr/>
          <a:lstStyle/>
          <a:p>
            <a:r>
              <a:rPr lang="de-DE"/>
              <a:t>Seite </a:t>
            </a:r>
            <a:fld id="{1B189BCE-72B6-4347-8C11-17284F861EDC}" type="slidenum">
              <a:rPr lang="de-DE" smtClean="0"/>
              <a:pPr/>
              <a:t>51</a:t>
            </a:fld>
            <a:endParaRPr lang="de-DE"/>
          </a:p>
        </p:txBody>
      </p:sp>
    </p:spTree>
    <p:extLst>
      <p:ext uri="{BB962C8B-B14F-4D97-AF65-F5344CB8AC3E}">
        <p14:creationId xmlns:p14="http://schemas.microsoft.com/office/powerpoint/2010/main" val="15040352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265EFE-5C7F-FC85-5BE3-84A8AE282761}"/>
              </a:ext>
            </a:extLst>
          </p:cNvPr>
          <p:cNvSpPr>
            <a:spLocks noGrp="1"/>
          </p:cNvSpPr>
          <p:nvPr>
            <p:ph type="title"/>
          </p:nvPr>
        </p:nvSpPr>
        <p:spPr/>
        <p:txBody>
          <a:bodyPr/>
          <a:lstStyle/>
          <a:p>
            <a:r>
              <a:rPr lang="de-DE" dirty="0"/>
              <a:t>Quellen</a:t>
            </a:r>
          </a:p>
        </p:txBody>
      </p:sp>
      <p:sp>
        <p:nvSpPr>
          <p:cNvPr id="3" name="Inhaltsplatzhalter 2">
            <a:extLst>
              <a:ext uri="{FF2B5EF4-FFF2-40B4-BE49-F238E27FC236}">
                <a16:creationId xmlns:a16="http://schemas.microsoft.com/office/drawing/2014/main" id="{CB8ADD7B-8204-D512-0C7A-421261B0DBBA}"/>
              </a:ext>
            </a:extLst>
          </p:cNvPr>
          <p:cNvSpPr>
            <a:spLocks noGrp="1"/>
          </p:cNvSpPr>
          <p:nvPr>
            <p:ph idx="1"/>
          </p:nvPr>
        </p:nvSpPr>
        <p:spPr>
          <a:xfrm>
            <a:off x="522288" y="2058160"/>
            <a:ext cx="8424862" cy="4522787"/>
          </a:xfrm>
        </p:spPr>
        <p:txBody>
          <a:bodyPr/>
          <a:lstStyle/>
          <a:p>
            <a:pPr marL="342900" indent="-342900">
              <a:buFont typeface="+mj-lt"/>
              <a:buAutoNum type="arabicPeriod"/>
            </a:pPr>
            <a:r>
              <a:rPr lang="de-DE" dirty="0"/>
              <a:t>Labor Mechatronik (Trainingslevel Konstruktion und Inbetriebnahme einer Maze Runner Produktionslinie unter Einsatz interoperabler Edge- und Cloud-Technologien) SS2024 (13.05.2026)</a:t>
            </a:r>
          </a:p>
          <a:p>
            <a:pPr marL="342900" indent="-342900">
              <a:buFont typeface="+mj-lt"/>
              <a:buAutoNum type="arabicPeriod"/>
            </a:pPr>
            <a:r>
              <a:rPr lang="de-DE" dirty="0">
                <a:hlinkClick r:id="rId2"/>
              </a:rPr>
              <a:t>Isaac Sim API Spezifikation</a:t>
            </a:r>
            <a:r>
              <a:rPr lang="de-DE" dirty="0"/>
              <a:t> (12.04.2026)</a:t>
            </a:r>
          </a:p>
          <a:p>
            <a:pPr marL="342900" indent="-342900">
              <a:buFont typeface="+mj-lt"/>
              <a:buAutoNum type="arabicPeriod"/>
            </a:pPr>
            <a:r>
              <a:rPr lang="de-DE" dirty="0">
                <a:hlinkClick r:id="rId3"/>
              </a:rPr>
              <a:t>Isaac Sim Core </a:t>
            </a:r>
            <a:r>
              <a:rPr lang="de-DE" dirty="0"/>
              <a:t>(01.05.2026)</a:t>
            </a:r>
          </a:p>
          <a:p>
            <a:pPr marL="342900" indent="-342900">
              <a:buFont typeface="+mj-lt"/>
              <a:buAutoNum type="arabicPeriod"/>
            </a:pPr>
            <a:r>
              <a:rPr lang="de-DE" dirty="0">
                <a:hlinkClick r:id="rId4"/>
              </a:rPr>
              <a:t>Isaac Sim Python API</a:t>
            </a:r>
            <a:r>
              <a:rPr lang="de-DE" dirty="0"/>
              <a:t> (06.05.2026)</a:t>
            </a:r>
          </a:p>
          <a:p>
            <a:pPr marL="342900" indent="-342900">
              <a:buFont typeface="+mj-lt"/>
              <a:buAutoNum type="arabicPeriod"/>
            </a:pPr>
            <a:r>
              <a:rPr lang="de-DE" dirty="0" err="1">
                <a:hlinkClick r:id="rId5"/>
              </a:rPr>
              <a:t>Eclipse</a:t>
            </a:r>
            <a:r>
              <a:rPr lang="de-DE" dirty="0">
                <a:hlinkClick r:id="rId5"/>
              </a:rPr>
              <a:t> </a:t>
            </a:r>
            <a:r>
              <a:rPr lang="de-DE" dirty="0" err="1">
                <a:hlinkClick r:id="rId5"/>
              </a:rPr>
              <a:t>Paho</a:t>
            </a:r>
            <a:r>
              <a:rPr lang="de-DE" dirty="0">
                <a:hlinkClick r:id="rId5"/>
              </a:rPr>
              <a:t> MQTT Python Client</a:t>
            </a:r>
            <a:r>
              <a:rPr lang="de-DE" dirty="0"/>
              <a:t> (13.05.2026)</a:t>
            </a:r>
          </a:p>
          <a:p>
            <a:pPr marL="342900" indent="-342900">
              <a:buFont typeface="+mj-lt"/>
              <a:buAutoNum type="arabicPeriod"/>
            </a:pPr>
            <a:r>
              <a:rPr lang="de-DE" dirty="0">
                <a:hlinkClick r:id="rId6"/>
              </a:rPr>
              <a:t>API – REST </a:t>
            </a:r>
            <a:r>
              <a:rPr lang="de-DE" dirty="0" err="1">
                <a:hlinkClick r:id="rId6"/>
              </a:rPr>
              <a:t>Requests</a:t>
            </a:r>
            <a:r>
              <a:rPr lang="de-DE" dirty="0"/>
              <a:t> (13.05.2026)</a:t>
            </a:r>
          </a:p>
          <a:p>
            <a:pPr marL="342900" indent="-342900">
              <a:buFont typeface="+mj-lt"/>
              <a:buAutoNum type="arabicPeriod"/>
            </a:pPr>
            <a:r>
              <a:rPr lang="de-DE" dirty="0" err="1">
                <a:hlinkClick r:id="rId7"/>
              </a:rPr>
              <a:t>WebSocket</a:t>
            </a:r>
            <a:r>
              <a:rPr lang="de-DE" dirty="0">
                <a:hlinkClick r:id="rId7"/>
              </a:rPr>
              <a:t> API </a:t>
            </a:r>
            <a:r>
              <a:rPr lang="de-DE" dirty="0"/>
              <a:t>(09.04.2026)</a:t>
            </a:r>
          </a:p>
          <a:p>
            <a:pPr marL="342900" indent="-342900">
              <a:buFont typeface="+mj-lt"/>
              <a:buAutoNum type="arabicPeriod"/>
            </a:pPr>
            <a:r>
              <a:rPr lang="de-DE" dirty="0">
                <a:hlinkClick r:id="rId8"/>
              </a:rPr>
              <a:t>OPC-UA Server Konfiguration</a:t>
            </a:r>
            <a:r>
              <a:rPr lang="de-DE" dirty="0"/>
              <a:t> (18.02.2026)</a:t>
            </a:r>
            <a:endParaRPr lang="de-DE" dirty="0">
              <a:hlinkClick r:id="rId9"/>
            </a:endParaRPr>
          </a:p>
          <a:p>
            <a:pPr marL="342900" indent="-342900">
              <a:buFont typeface="+mj-lt"/>
              <a:buAutoNum type="arabicPeriod"/>
            </a:pPr>
            <a:endParaRPr lang="de-DE" dirty="0"/>
          </a:p>
          <a:p>
            <a:endParaRPr lang="de-DE" dirty="0"/>
          </a:p>
        </p:txBody>
      </p:sp>
      <p:sp>
        <p:nvSpPr>
          <p:cNvPr id="4" name="Foliennummernplatzhalter 3">
            <a:extLst>
              <a:ext uri="{FF2B5EF4-FFF2-40B4-BE49-F238E27FC236}">
                <a16:creationId xmlns:a16="http://schemas.microsoft.com/office/drawing/2014/main" id="{A4B413E4-B523-0E42-EA10-F84F5C161BD1}"/>
              </a:ext>
            </a:extLst>
          </p:cNvPr>
          <p:cNvSpPr>
            <a:spLocks noGrp="1"/>
          </p:cNvSpPr>
          <p:nvPr>
            <p:ph type="sldNum" sz="quarter" idx="10"/>
          </p:nvPr>
        </p:nvSpPr>
        <p:spPr/>
        <p:txBody>
          <a:bodyPr/>
          <a:lstStyle/>
          <a:p>
            <a:r>
              <a:rPr lang="de-DE"/>
              <a:t>Seite </a:t>
            </a:r>
            <a:fld id="{1B189BCE-72B6-4347-8C11-17284F861EDC}" type="slidenum">
              <a:rPr lang="de-DE" smtClean="0"/>
              <a:pPr/>
              <a:t>52</a:t>
            </a:fld>
            <a:endParaRPr lang="de-DE"/>
          </a:p>
        </p:txBody>
      </p:sp>
    </p:spTree>
    <p:extLst>
      <p:ext uri="{BB962C8B-B14F-4D97-AF65-F5344CB8AC3E}">
        <p14:creationId xmlns:p14="http://schemas.microsoft.com/office/powerpoint/2010/main" val="42268613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LORPALETTEDESIGNATOR" val="HsH"/>
</p:tagLst>
</file>

<file path=ppt/theme/theme1.xml><?xml version="1.0" encoding="utf-8"?>
<a:theme xmlns:a="http://schemas.openxmlformats.org/drawingml/2006/main" name="Standarddesign">
  <a:themeElements>
    <a:clrScheme name="Benutzerdefiniert 4">
      <a:dk1>
        <a:srgbClr val="000000"/>
      </a:dk1>
      <a:lt1>
        <a:srgbClr val="FFFFFF"/>
      </a:lt1>
      <a:dk2>
        <a:srgbClr val="000000"/>
      </a:dk2>
      <a:lt2>
        <a:srgbClr val="D23C96"/>
      </a:lt2>
      <a:accent1>
        <a:srgbClr val="96BE00"/>
      </a:accent1>
      <a:accent2>
        <a:srgbClr val="1EBEEB"/>
      </a:accent2>
      <a:accent3>
        <a:srgbClr val="FFFFFF"/>
      </a:accent3>
      <a:accent4>
        <a:srgbClr val="000000"/>
      </a:accent4>
      <a:accent5>
        <a:srgbClr val="FFCAAA"/>
      </a:accent5>
      <a:accent6>
        <a:srgbClr val="1AACD5"/>
      </a:accent6>
      <a:hlink>
        <a:srgbClr val="46B48C"/>
      </a:hlink>
      <a:folHlink>
        <a:srgbClr val="FFD200"/>
      </a:folHlink>
    </a:clrScheme>
    <a:fontScheme name="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A500"/>
        </a:solidFill>
        <a:ln w="9525"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182880" tIns="137160" rIns="182880" bIns="13716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de-DE" sz="1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rgbClr val="FFA500"/>
        </a:solidFill>
        <a:ln w="9525"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182880" tIns="137160" rIns="182880" bIns="13716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de-DE" sz="1400" b="0" i="0" u="none" strike="noStrike" cap="none" normalizeH="0" baseline="0" smtClean="0">
            <a:ln>
              <a:noFill/>
            </a:ln>
            <a:solidFill>
              <a:schemeClr val="bg1"/>
            </a:solidFill>
            <a:effectLst/>
            <a:latin typeface="Arial" charset="0"/>
          </a:defRPr>
        </a:defPPr>
      </a:lstStyle>
    </a:lnDef>
  </a:objectDefaults>
  <a:extraClrSchemeLst>
    <a:extraClrScheme>
      <a:clrScheme name="Standarddesign 1">
        <a:dk1>
          <a:srgbClr val="000000"/>
        </a:dk1>
        <a:lt1>
          <a:srgbClr val="FFFFFF"/>
        </a:lt1>
        <a:dk2>
          <a:srgbClr val="000000"/>
        </a:dk2>
        <a:lt2>
          <a:srgbClr val="D23C96"/>
        </a:lt2>
        <a:accent1>
          <a:srgbClr val="FF9900"/>
        </a:accent1>
        <a:accent2>
          <a:srgbClr val="1EBEEB"/>
        </a:accent2>
        <a:accent3>
          <a:srgbClr val="FFFFFF"/>
        </a:accent3>
        <a:accent4>
          <a:srgbClr val="000000"/>
        </a:accent4>
        <a:accent5>
          <a:srgbClr val="FFCAAA"/>
        </a:accent5>
        <a:accent6>
          <a:srgbClr val="1AACD5"/>
        </a:accent6>
        <a:hlink>
          <a:srgbClr val="46B48C"/>
        </a:hlink>
        <a:folHlink>
          <a:srgbClr val="FFD2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4230098-9f92-4524-8b52-45ce718ecf0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575E2F327714544BAC7401314F53F361" ma:contentTypeVersion="15" ma:contentTypeDescription="Ein neues Dokument erstellen." ma:contentTypeScope="" ma:versionID="3e850900e66319bf296dd11bdc8105cf">
  <xsd:schema xmlns:xsd="http://www.w3.org/2001/XMLSchema" xmlns:xs="http://www.w3.org/2001/XMLSchema" xmlns:p="http://schemas.microsoft.com/office/2006/metadata/properties" xmlns:ns3="c4230098-9f92-4524-8b52-45ce718ecf02" xmlns:ns4="6cbbd4bc-c712-4ec1-b5d9-117f0d46a2a1" targetNamespace="http://schemas.microsoft.com/office/2006/metadata/properties" ma:root="true" ma:fieldsID="cfacbf4dca0aafb5a27b1c1c3c440925" ns3:_="" ns4:_="">
    <xsd:import namespace="c4230098-9f92-4524-8b52-45ce718ecf02"/>
    <xsd:import namespace="6cbbd4bc-c712-4ec1-b5d9-117f0d46a2a1"/>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4:SharedWithUsers" minOccurs="0"/>
                <xsd:element ref="ns4:SharedWithDetails" minOccurs="0"/>
                <xsd:element ref="ns4:SharingHintHash" minOccurs="0"/>
                <xsd:element ref="ns3:MediaServiceObjectDetectorVersion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ServiceBillingMetadata"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230098-9f92-4524-8b52-45ce718ecf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bbd4bc-c712-4ec1-b5d9-117f0d46a2a1" elementFormDefault="qualified">
    <xsd:import namespace="http://schemas.microsoft.com/office/2006/documentManagement/types"/>
    <xsd:import namespace="http://schemas.microsoft.com/office/infopath/2007/PartnerControls"/>
    <xsd:element name="SharedWithUsers" ma:index="1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Freigegeben für - Details" ma:internalName="SharedWithDetails" ma:readOnly="true">
      <xsd:simpleType>
        <xsd:restriction base="dms:Note">
          <xsd:maxLength value="255"/>
        </xsd:restriction>
      </xsd:simpleType>
    </xsd:element>
    <xsd:element name="SharingHintHash" ma:index="14"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87DC10-F4E8-4D94-AB99-4C37C8C56826}">
  <ds:schemaRefs>
    <ds:schemaRef ds:uri="http://schemas.microsoft.com/sharepoint/v3/contenttype/forms"/>
  </ds:schemaRefs>
</ds:datastoreItem>
</file>

<file path=customXml/itemProps2.xml><?xml version="1.0" encoding="utf-8"?>
<ds:datastoreItem xmlns:ds="http://schemas.openxmlformats.org/officeDocument/2006/customXml" ds:itemID="{72041E5F-D227-4F3D-A8EF-D3BCC9B1C2C0}">
  <ds:schemaRefs>
    <ds:schemaRef ds:uri="http://purl.org/dc/terms/"/>
    <ds:schemaRef ds:uri="http://schemas.microsoft.com/office/2006/metadata/properties"/>
    <ds:schemaRef ds:uri="http://purl.org/dc/dcmitype/"/>
    <ds:schemaRef ds:uri="http://www.w3.org/XML/1998/namespace"/>
    <ds:schemaRef ds:uri="http://schemas.microsoft.com/office/2006/documentManagement/types"/>
    <ds:schemaRef ds:uri="c4230098-9f92-4524-8b52-45ce718ecf02"/>
    <ds:schemaRef ds:uri="http://schemas.microsoft.com/office/infopath/2007/PartnerControls"/>
    <ds:schemaRef ds:uri="http://purl.org/dc/elements/1.1/"/>
    <ds:schemaRef ds:uri="http://schemas.openxmlformats.org/package/2006/metadata/core-properties"/>
    <ds:schemaRef ds:uri="6cbbd4bc-c712-4ec1-b5d9-117f0d46a2a1"/>
  </ds:schemaRefs>
</ds:datastoreItem>
</file>

<file path=customXml/itemProps3.xml><?xml version="1.0" encoding="utf-8"?>
<ds:datastoreItem xmlns:ds="http://schemas.openxmlformats.org/officeDocument/2006/customXml" ds:itemID="{06B4D36A-0716-4E52-8C9A-76509607B5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230098-9f92-4524-8b52-45ce718ecf02"/>
    <ds:schemaRef ds:uri="6cbbd4bc-c712-4ec1-b5d9-117f0d46a2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3977</Words>
  <Application>Microsoft Office PowerPoint</Application>
  <PresentationFormat>Benutzerdefiniert</PresentationFormat>
  <Paragraphs>451</Paragraphs>
  <Slides>52</Slides>
  <Notes>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52</vt:i4>
      </vt:variant>
    </vt:vector>
  </HeadingPairs>
  <TitlesOfParts>
    <vt:vector size="56" baseType="lpstr">
      <vt:lpstr>Arial</vt:lpstr>
      <vt:lpstr>Calibri</vt:lpstr>
      <vt:lpstr>Wingdings</vt:lpstr>
      <vt:lpstr>Standarddesign</vt:lpstr>
      <vt:lpstr>Anleitung zur Erstellung eines  Digitalen Zwillings der Mazerunner Anlage</vt:lpstr>
      <vt:lpstr>Inhaltsverzeichnis</vt:lpstr>
      <vt:lpstr>Einleitung</vt:lpstr>
      <vt:lpstr>Use Case Matrix Variable setzen </vt:lpstr>
      <vt:lpstr>Use Case Matrix Variable setzen </vt:lpstr>
      <vt:lpstr>Internal Block Diagramm</vt:lpstr>
      <vt:lpstr>Sequenzdiagramm Variable Setzen</vt:lpstr>
      <vt:lpstr>Isaac Sim Herunterladen</vt:lpstr>
      <vt:lpstr>Abhängigkeiten installieren</vt:lpstr>
      <vt:lpstr>Extension von GitHub herunterladen</vt:lpstr>
      <vt:lpstr>Problembehandlung</vt:lpstr>
      <vt:lpstr>Erste Schritte in Isaac Sim</vt:lpstr>
      <vt:lpstr>STP-Datei in Isaac Sim öffnen</vt:lpstr>
      <vt:lpstr>Starre Gelenkteile am Bsp. Magazin Glasplatte</vt:lpstr>
      <vt:lpstr>Bewegliche Gelenkteile am Bsp. Magazin Glasplatte</vt:lpstr>
      <vt:lpstr>Physikalische Eigenschaften starrer Gelenkteile</vt:lpstr>
      <vt:lpstr>Physikalische Eigenschaften beweglicher Körper</vt:lpstr>
      <vt:lpstr>Gelenk (Joint) hinzufügen</vt:lpstr>
      <vt:lpstr>Antrieb einfügen</vt:lpstr>
      <vt:lpstr>Verschachtelte Gelenke</vt:lpstr>
      <vt:lpstr>Verschachtelte Gelenke</vt:lpstr>
      <vt:lpstr>Verschachtelte Gelenke</vt:lpstr>
      <vt:lpstr>Extension Einleitung</vt:lpstr>
      <vt:lpstr>constants.py</vt:lpstr>
      <vt:lpstr>logger.py</vt:lpstr>
      <vt:lpstr>suction_gripper.py</vt:lpstr>
      <vt:lpstr>node_manager.py</vt:lpstr>
      <vt:lpstr>api_client.py</vt:lpstr>
      <vt:lpstr>mqtt_handler.py</vt:lpstr>
      <vt:lpstr>timeline_handler.py</vt:lpstr>
      <vt:lpstr>routines.py</vt:lpstr>
      <vt:lpstr>ui_builder.py</vt:lpstr>
      <vt:lpstr>extension.py</vt:lpstr>
      <vt:lpstr>Nodes_db.json </vt:lpstr>
      <vt:lpstr>Skript Editor</vt:lpstr>
      <vt:lpstr>Extension Vorbereiten</vt:lpstr>
      <vt:lpstr>Extension aktivieren</vt:lpstr>
      <vt:lpstr>Extension aktivieren</vt:lpstr>
      <vt:lpstr>Extension bearbeiten</vt:lpstr>
      <vt:lpstr>Extension Quellcode Imports</vt:lpstr>
      <vt:lpstr>Funktionale Emulation mittels OPC UA Mock-Server</vt:lpstr>
      <vt:lpstr>Implementierung des OPC UA Mock-Server</vt:lpstr>
      <vt:lpstr>Leitfaden zu Inbetriebnahme des OPC UA Mock-Servers</vt:lpstr>
      <vt:lpstr>Transition zur realen Hardware</vt:lpstr>
      <vt:lpstr>Installation</vt:lpstr>
      <vt:lpstr>IP-Adresse der SPS Ändern</vt:lpstr>
      <vt:lpstr>Verbindung zur SPS herstellen</vt:lpstr>
      <vt:lpstr>Konfiguration Laden</vt:lpstr>
      <vt:lpstr>MQTTL für SPS nachrüsten</vt:lpstr>
      <vt:lpstr>Problembehandlung</vt:lpstr>
      <vt:lpstr>Zusammenfassung</vt:lpstr>
      <vt:lpstr>Quellen</vt:lpstr>
    </vt:vector>
  </TitlesOfParts>
  <Company>in.form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p.wania</dc:creator>
  <cp:lastModifiedBy>Tobias Küster</cp:lastModifiedBy>
  <cp:revision>105</cp:revision>
  <dcterms:created xsi:type="dcterms:W3CDTF">2012-10-15T09:49:53Z</dcterms:created>
  <dcterms:modified xsi:type="dcterms:W3CDTF">2026-08-10T07:40:24Z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0x010100575E2F327714544BAC7401314F53F361</vt:lpwstr>
  </property>
</Properties>
</file>